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10" r:id="rId51"/>
    <p:sldId id="311" r:id="rId52"/>
    <p:sldId id="306" r:id="rId53"/>
    <p:sldId id="305" r:id="rId54"/>
    <p:sldId id="307" r:id="rId55"/>
    <p:sldId id="308" r:id="rId56"/>
    <p:sldId id="309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7" r:id="rId99"/>
    <p:sldId id="353" r:id="rId100"/>
    <p:sldId id="354" r:id="rId101"/>
    <p:sldId id="355" r:id="rId102"/>
    <p:sldId id="356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8990B-F707-4549-8CE2-5E7A5E09D9C0}" type="datetimeFigureOut">
              <a:rPr lang="en-US" smtClean="0"/>
              <a:pPr/>
              <a:t>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05F4B-F78B-4F10-8CDB-D25DDFEED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Employee relationship table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emp</a:t>
            </a:r>
            <a:r>
              <a:rPr lang="en-US" dirty="0" smtClean="0"/>
              <a:t>          </a:t>
            </a:r>
            <a:r>
              <a:rPr lang="en-US" dirty="0" err="1" smtClean="0"/>
              <a:t>emp</a:t>
            </a:r>
            <a:r>
              <a:rPr lang="en-US" dirty="0" smtClean="0"/>
              <a:t> no.</a:t>
            </a:r>
          </a:p>
          <a:p>
            <a:pPr>
              <a:buNone/>
            </a:pPr>
            <a:r>
              <a:rPr lang="en-US" dirty="0" smtClean="0"/>
              <a:t>                     </a:t>
            </a:r>
            <a:r>
              <a:rPr lang="en-US" dirty="0" err="1" smtClean="0"/>
              <a:t>ename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   </a:t>
            </a:r>
            <a:r>
              <a:rPr lang="en-US" dirty="0" err="1" smtClean="0"/>
              <a:t>sal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   job</a:t>
            </a:r>
          </a:p>
          <a:p>
            <a:pPr>
              <a:buNone/>
            </a:pPr>
            <a:r>
              <a:rPr lang="en-US" dirty="0" smtClean="0"/>
              <a:t>                     dept no.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rot="5400000">
            <a:off x="610394" y="3657600"/>
            <a:ext cx="2437606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828800" y="24384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828800" y="31242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828800" y="37338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828800" y="42672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828800" y="48768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operator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Q.1 write a query to find the name of employees who work either in dept no. 10 or 20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</a:t>
            </a:r>
            <a:r>
              <a:rPr lang="en-US" dirty="0" smtClean="0"/>
              <a:t> where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Select column name from table name where condition;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Sol. </a:t>
            </a:r>
            <a:r>
              <a:rPr lang="en-US" dirty="0"/>
              <a:t> </a:t>
            </a: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=10 or </a:t>
            </a:r>
            <a:r>
              <a:rPr lang="en-US" dirty="0" err="1" smtClean="0"/>
              <a:t>deptno</a:t>
            </a:r>
            <a:r>
              <a:rPr lang="en-US" dirty="0" smtClean="0"/>
              <a:t> = 20</a:t>
            </a:r>
          </a:p>
          <a:p>
            <a:pPr>
              <a:buNone/>
            </a:pPr>
            <a:r>
              <a:rPr lang="en-US" dirty="0" smtClean="0"/>
              <a:t>                                   OR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in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(10, 20)         set</a:t>
            </a:r>
          </a:p>
          <a:p>
            <a:pPr>
              <a:buNone/>
            </a:pPr>
            <a:r>
              <a:rPr lang="en-US" dirty="0" smtClean="0"/>
              <a:t>Select Age from students where </a:t>
            </a:r>
            <a:r>
              <a:rPr lang="en-US" dirty="0" err="1" smtClean="0"/>
              <a:t>students_name</a:t>
            </a:r>
            <a:r>
              <a:rPr lang="en-US" dirty="0" smtClean="0"/>
              <a:t> in (</a:t>
            </a:r>
            <a:r>
              <a:rPr lang="en-US" dirty="0" err="1" smtClean="0"/>
              <a:t>Amit</a:t>
            </a:r>
            <a:r>
              <a:rPr lang="en-US" dirty="0" smtClean="0"/>
              <a:t>, </a:t>
            </a:r>
            <a:r>
              <a:rPr lang="en-US" dirty="0" err="1" smtClean="0"/>
              <a:t>Raghav</a:t>
            </a:r>
            <a:r>
              <a:rPr lang="en-US" dirty="0" smtClean="0"/>
              <a:t>, Rajeev)</a:t>
            </a:r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2209800" y="4114800"/>
            <a:ext cx="533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 Operation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WAQ to find the name of employee whose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between 1000 &amp; 2000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Select column name 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where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column_name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between value1 and value2;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Sol 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sal</a:t>
            </a:r>
            <a:r>
              <a:rPr lang="en-US" dirty="0" smtClean="0"/>
              <a:t> </a:t>
            </a:r>
            <a:r>
              <a:rPr lang="en-US" dirty="0" smtClean="0">
                <a:latin typeface="Cambria"/>
              </a:rPr>
              <a:t>&gt;= 1000 AND </a:t>
            </a:r>
            <a:r>
              <a:rPr lang="en-US" dirty="0" err="1" smtClean="0">
                <a:latin typeface="Cambria"/>
              </a:rPr>
              <a:t>sal</a:t>
            </a:r>
            <a:r>
              <a:rPr lang="en-US" dirty="0" smtClean="0">
                <a:latin typeface="Cambria"/>
              </a:rPr>
              <a:t> &lt;=2000;</a:t>
            </a:r>
          </a:p>
          <a:p>
            <a:pPr>
              <a:buNone/>
            </a:pPr>
            <a:r>
              <a:rPr lang="en-US" dirty="0">
                <a:latin typeface="Cambria"/>
              </a:rPr>
              <a:t> </a:t>
            </a:r>
            <a:endParaRPr lang="en-US" dirty="0" smtClean="0">
              <a:latin typeface="Cambria"/>
            </a:endParaRPr>
          </a:p>
          <a:p>
            <a:pPr>
              <a:buNone/>
            </a:pPr>
            <a:r>
              <a:rPr lang="en-US" dirty="0" smtClean="0">
                <a:latin typeface="Cambria"/>
              </a:rPr>
              <a:t>                                       OR</a:t>
            </a:r>
          </a:p>
          <a:p>
            <a:pPr>
              <a:buNone/>
            </a:pPr>
            <a:r>
              <a:rPr lang="en-US" dirty="0" smtClean="0">
                <a:latin typeface="Cambria"/>
              </a:rPr>
              <a:t>FOR CHECKING RANGE WE CAN USE BETWEEN</a:t>
            </a:r>
            <a:endParaRPr lang="en-US" dirty="0">
              <a:latin typeface="Cambria"/>
            </a:endParaRPr>
          </a:p>
          <a:p>
            <a:pPr>
              <a:buNone/>
            </a:pPr>
            <a:r>
              <a:rPr lang="en-US" dirty="0" smtClean="0">
                <a:latin typeface="Cambria"/>
              </a:rPr>
              <a:t> select </a:t>
            </a:r>
            <a:r>
              <a:rPr lang="en-US" dirty="0" err="1" smtClean="0">
                <a:latin typeface="Cambria"/>
              </a:rPr>
              <a:t>ename</a:t>
            </a:r>
            <a:r>
              <a:rPr lang="en-US" dirty="0" smtClean="0">
                <a:latin typeface="Cambria"/>
              </a:rPr>
              <a:t> from </a:t>
            </a:r>
            <a:r>
              <a:rPr lang="en-US" dirty="0" err="1" smtClean="0">
                <a:latin typeface="Cambria"/>
              </a:rPr>
              <a:t>emp</a:t>
            </a:r>
            <a:r>
              <a:rPr lang="en-US" dirty="0" smtClean="0">
                <a:latin typeface="Cambria"/>
              </a:rPr>
              <a:t> where </a:t>
            </a:r>
            <a:r>
              <a:rPr lang="en-US" dirty="0" err="1" smtClean="0">
                <a:latin typeface="Cambria"/>
              </a:rPr>
              <a:t>sal</a:t>
            </a:r>
            <a:r>
              <a:rPr lang="en-US" dirty="0" smtClean="0">
                <a:latin typeface="Cambria"/>
              </a:rPr>
              <a:t> </a:t>
            </a:r>
            <a:r>
              <a:rPr lang="en-US" u="sng" dirty="0" smtClean="0">
                <a:latin typeface="Cambria"/>
              </a:rPr>
              <a:t>between</a:t>
            </a:r>
            <a:r>
              <a:rPr lang="en-US" dirty="0" smtClean="0">
                <a:latin typeface="Cambria"/>
              </a:rPr>
              <a:t> 1000 and 2000;</a:t>
            </a:r>
          </a:p>
          <a:p>
            <a:pPr>
              <a:buNone/>
            </a:pPr>
            <a:r>
              <a:rPr lang="en-US" dirty="0" smtClean="0">
                <a:latin typeface="Cambria"/>
              </a:rPr>
              <a:t>                                 Includes boundary also i.e. will print 1000 &amp; 2000 entries also.</a:t>
            </a:r>
            <a:endParaRPr lang="en-US" dirty="0"/>
          </a:p>
        </p:txBody>
      </p:sp>
      <p:cxnSp>
        <p:nvCxnSpPr>
          <p:cNvPr id="5" name="Curved Connector 4"/>
          <p:cNvCxnSpPr/>
          <p:nvPr/>
        </p:nvCxnSpPr>
        <p:spPr>
          <a:xfrm>
            <a:off x="2743200" y="4724400"/>
            <a:ext cx="457200" cy="381000"/>
          </a:xfrm>
          <a:prstGeom prst="curvedConnector3">
            <a:avLst>
              <a:gd name="adj1" fmla="val -230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Q. if the query is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where </a:t>
            </a:r>
            <a:r>
              <a:rPr lang="en-US" dirty="0" err="1" smtClean="0"/>
              <a:t>ename</a:t>
            </a:r>
            <a:r>
              <a:rPr lang="en-US" dirty="0" smtClean="0"/>
              <a:t> between ‘A’  and ‘j’ </a:t>
            </a:r>
          </a:p>
          <a:p>
            <a:pPr>
              <a:buNone/>
            </a:pPr>
            <a:r>
              <a:rPr lang="en-US" dirty="0" smtClean="0"/>
              <a:t>--- criteria  of string comparison is ASCII value of characters.</a:t>
            </a:r>
          </a:p>
          <a:p>
            <a:pPr>
              <a:buNone/>
            </a:pPr>
            <a:r>
              <a:rPr lang="en-US" dirty="0" err="1" smtClean="0"/>
              <a:t>Eg</a:t>
            </a:r>
            <a:r>
              <a:rPr lang="en-US" dirty="0" smtClean="0"/>
              <a:t>. ‘ABC’  ‘x’ </a:t>
            </a:r>
            <a:r>
              <a:rPr lang="en-US" dirty="0" err="1" smtClean="0"/>
              <a:t>ascii</a:t>
            </a:r>
            <a:r>
              <a:rPr lang="en-US" dirty="0" smtClean="0"/>
              <a:t> value of ‘a’ and ‘x’ compared then x is greater </a:t>
            </a:r>
          </a:p>
          <a:p>
            <a:pPr>
              <a:buNone/>
            </a:pPr>
            <a:r>
              <a:rPr lang="en-US" dirty="0" smtClean="0"/>
              <a:t>Q. ‘ABC’ &amp; ‘AX’ which is greater?</a:t>
            </a:r>
          </a:p>
          <a:p>
            <a:pPr>
              <a:buNone/>
            </a:pPr>
            <a:r>
              <a:rPr lang="en-US" dirty="0" smtClean="0"/>
              <a:t>Q. ASCII value of null is 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employee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642999"/>
              </p:ext>
            </p:extLst>
          </p:nvPr>
        </p:nvGraphicFramePr>
        <p:xfrm>
          <a:off x="533400" y="1219198"/>
          <a:ext cx="7924800" cy="4787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959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ename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city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59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Anil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Nagpur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59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Shankar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Bombay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59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Jaya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Madras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59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Sunil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Bombay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959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Vijay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Delhi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959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Prakash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Calcutta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39474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Ajay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Madras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emp_company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727626"/>
              </p:ext>
            </p:extLst>
          </p:nvPr>
        </p:nvGraphicFramePr>
        <p:xfrm>
          <a:off x="685800" y="1143003"/>
          <a:ext cx="7772400" cy="4704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301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ename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cname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salary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jdate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7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Anil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ACC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1500.00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1-MAY-89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47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Shankar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2000.00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10-JUL-90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7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Jaya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CMC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1800.00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7-JUN-91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47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Sunil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CMC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1700.00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1-JAN-88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47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Vijay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5000.00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3-JAN-88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472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Prakash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3000.00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27-MAY-89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47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Ajay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ACC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8000.00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30-APR-95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472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Amol</a:t>
                      </a:r>
                      <a:r>
                        <a:rPr lang="en-US" sz="2400" baseline="0" dirty="0" smtClean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ACC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1000.00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17-MAR-95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company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980728"/>
              </p:ext>
            </p:extLst>
          </p:nvPr>
        </p:nvGraphicFramePr>
        <p:xfrm>
          <a:off x="685800" y="1600199"/>
          <a:ext cx="76962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cname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city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ACC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MADRAS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BOMBAY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ACC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NAGPUR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CMC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BOMBAY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CMC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MADRAS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DELHI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268875"/>
              </p:ext>
            </p:extLst>
          </p:nvPr>
        </p:nvGraphicFramePr>
        <p:xfrm>
          <a:off x="685800" y="1600202"/>
          <a:ext cx="7848600" cy="452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745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ename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mname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Anil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Ajay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Shankar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Vijay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Jaya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Sunil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Jaya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Vijay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Prakash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shankar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Ajay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emp_shift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206613"/>
              </p:ext>
            </p:extLst>
          </p:nvPr>
        </p:nvGraphicFramePr>
        <p:xfrm>
          <a:off x="914400" y="1905000"/>
          <a:ext cx="74676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ename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shift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Anil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Sunil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Vijay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prakash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The three basic set operations are:</a:t>
            </a:r>
          </a:p>
          <a:p>
            <a:r>
              <a:rPr lang="en-US" sz="2400" dirty="0" smtClean="0"/>
              <a:t>Union	</a:t>
            </a:r>
          </a:p>
          <a:p>
            <a:r>
              <a:rPr lang="en-US" sz="2400" dirty="0" smtClean="0"/>
              <a:t>Intersect</a:t>
            </a:r>
          </a:p>
          <a:p>
            <a:r>
              <a:rPr lang="en-US" sz="2400" dirty="0" smtClean="0"/>
              <a:t>Minus</a:t>
            </a:r>
          </a:p>
          <a:p>
            <a:pPr algn="ctr">
              <a:buNone/>
            </a:pPr>
            <a:r>
              <a:rPr lang="en-US" sz="2400" dirty="0" smtClean="0"/>
              <a:t> suppose there are two sets, S and R:</a:t>
            </a:r>
          </a:p>
          <a:p>
            <a:pPr algn="ctr">
              <a:buNone/>
            </a:pPr>
            <a:r>
              <a:rPr lang="en-US" sz="2400" dirty="0" smtClean="0"/>
              <a:t>S = {a, b, c}</a:t>
            </a:r>
          </a:p>
          <a:p>
            <a:pPr algn="ctr">
              <a:buNone/>
            </a:pPr>
            <a:r>
              <a:rPr lang="en-US" sz="2400" dirty="0" smtClean="0"/>
              <a:t>R = {x, y, z}</a:t>
            </a:r>
          </a:p>
          <a:p>
            <a:pPr algn="ctr">
              <a:buNone/>
            </a:pPr>
            <a:r>
              <a:rPr lang="en-US" sz="2400" dirty="0" smtClean="0"/>
              <a:t>Then R union S will be:</a:t>
            </a:r>
          </a:p>
          <a:p>
            <a:pPr algn="ctr">
              <a:buNone/>
            </a:pPr>
            <a:r>
              <a:rPr lang="en-US" sz="2400" dirty="0" smtClean="0"/>
              <a:t>R U S = {a, b, c, x, y, z}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Q-1</a:t>
            </a:r>
          </a:p>
          <a:p>
            <a:pPr>
              <a:buNone/>
            </a:pPr>
            <a:r>
              <a:rPr lang="en-US" sz="2800" dirty="0" smtClean="0"/>
              <a:t>Select city from company where </a:t>
            </a:r>
            <a:r>
              <a:rPr lang="en-US" sz="2800" dirty="0" err="1" smtClean="0"/>
              <a:t>cname</a:t>
            </a:r>
            <a:r>
              <a:rPr lang="en-US" sz="2800" dirty="0" smtClean="0"/>
              <a:t> = ‘ACC’</a:t>
            </a:r>
          </a:p>
          <a:p>
            <a:pPr>
              <a:buNone/>
            </a:pPr>
            <a:r>
              <a:rPr lang="en-US" sz="2800" dirty="0" smtClean="0"/>
              <a:t> union</a:t>
            </a:r>
          </a:p>
          <a:p>
            <a:pPr>
              <a:buNone/>
            </a:pPr>
            <a:r>
              <a:rPr lang="en-US" sz="2800" dirty="0" smtClean="0"/>
              <a:t>Select city from company where </a:t>
            </a:r>
            <a:r>
              <a:rPr lang="en-US" sz="2800" dirty="0" err="1" smtClean="0"/>
              <a:t>cname</a:t>
            </a:r>
            <a:r>
              <a:rPr lang="en-US" sz="2800" dirty="0" smtClean="0"/>
              <a:t> = ‘TATA’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Result </a:t>
            </a:r>
          </a:p>
          <a:p>
            <a:pPr>
              <a:buNone/>
            </a:pPr>
            <a:r>
              <a:rPr lang="en-US" dirty="0" smtClean="0"/>
              <a:t>City</a:t>
            </a:r>
          </a:p>
          <a:p>
            <a:pPr>
              <a:buNone/>
            </a:pPr>
            <a:r>
              <a:rPr lang="en-US" dirty="0" smtClean="0"/>
              <a:t>--------</a:t>
            </a:r>
          </a:p>
          <a:p>
            <a:pPr>
              <a:buNone/>
            </a:pPr>
            <a:r>
              <a:rPr lang="en-US" dirty="0" smtClean="0"/>
              <a:t>Bombay</a:t>
            </a:r>
          </a:p>
          <a:p>
            <a:pPr>
              <a:buNone/>
            </a:pPr>
            <a:r>
              <a:rPr lang="en-US" dirty="0" smtClean="0"/>
              <a:t>Delhi</a:t>
            </a:r>
          </a:p>
          <a:p>
            <a:pPr>
              <a:buNone/>
            </a:pPr>
            <a:r>
              <a:rPr lang="en-US" dirty="0" smtClean="0"/>
              <a:t>Madras</a:t>
            </a:r>
          </a:p>
          <a:p>
            <a:pPr>
              <a:buNone/>
            </a:pPr>
            <a:r>
              <a:rPr lang="en-US" dirty="0" smtClean="0"/>
              <a:t>Nagpur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INTERSECT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Intersect is used for finding out the common</a:t>
            </a:r>
          </a:p>
          <a:p>
            <a:pPr>
              <a:buNone/>
            </a:pPr>
            <a:r>
              <a:rPr lang="en-US" dirty="0" smtClean="0"/>
              <a:t>elements of sets</a:t>
            </a:r>
          </a:p>
          <a:p>
            <a:pPr algn="ctr">
              <a:buNone/>
            </a:pPr>
            <a:r>
              <a:rPr lang="en-US" dirty="0" smtClean="0"/>
              <a:t>suppose there are two sets, S and R:</a:t>
            </a:r>
          </a:p>
          <a:p>
            <a:pPr algn="ctr">
              <a:buNone/>
            </a:pPr>
            <a:r>
              <a:rPr lang="en-US" dirty="0" smtClean="0"/>
              <a:t>S = {a, b, c}</a:t>
            </a:r>
          </a:p>
          <a:p>
            <a:pPr algn="ctr">
              <a:buNone/>
            </a:pPr>
            <a:r>
              <a:rPr lang="en-US" dirty="0" smtClean="0"/>
              <a:t>R = {a, x, y}</a:t>
            </a:r>
          </a:p>
          <a:p>
            <a:pPr algn="ctr">
              <a:buNone/>
            </a:pPr>
            <a:r>
              <a:rPr lang="en-US" dirty="0" smtClean="0"/>
              <a:t>Then the intersect operation produce following result :</a:t>
            </a:r>
          </a:p>
          <a:p>
            <a:pPr algn="ctr">
              <a:buNone/>
            </a:pPr>
            <a:r>
              <a:rPr lang="en-US" dirty="0" smtClean="0"/>
              <a:t>R intersect S = {a}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Q-2</a:t>
            </a:r>
          </a:p>
          <a:p>
            <a:pPr>
              <a:buNone/>
            </a:pPr>
            <a:r>
              <a:rPr lang="en-US" dirty="0" smtClean="0"/>
              <a:t>Select city from company where </a:t>
            </a:r>
            <a:r>
              <a:rPr lang="en-US" dirty="0" err="1" smtClean="0"/>
              <a:t>cname</a:t>
            </a:r>
            <a:r>
              <a:rPr lang="en-US" dirty="0" smtClean="0"/>
              <a:t> = ‘ACC’</a:t>
            </a:r>
          </a:p>
          <a:p>
            <a:pPr>
              <a:buNone/>
            </a:pPr>
            <a:r>
              <a:rPr lang="en-US" dirty="0" smtClean="0"/>
              <a:t>intersect</a:t>
            </a:r>
          </a:p>
          <a:p>
            <a:pPr>
              <a:buNone/>
            </a:pPr>
            <a:r>
              <a:rPr lang="en-US" dirty="0" smtClean="0"/>
              <a:t>Select city from company where </a:t>
            </a:r>
            <a:r>
              <a:rPr lang="en-US" dirty="0" err="1" smtClean="0"/>
              <a:t>cname</a:t>
            </a:r>
            <a:r>
              <a:rPr lang="en-US" dirty="0" smtClean="0"/>
              <a:t> = ‘TATA’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smtClean="0"/>
              <a:t>No rows selected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 3</a:t>
            </a:r>
          </a:p>
          <a:p>
            <a:pPr>
              <a:buNone/>
            </a:pPr>
            <a:r>
              <a:rPr lang="en-US" dirty="0" smtClean="0"/>
              <a:t>Display the names of employee living in Nagpur, and working with company ACC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employee where city  = ‘Nagpur’</a:t>
            </a:r>
          </a:p>
          <a:p>
            <a:pPr>
              <a:buNone/>
            </a:pPr>
            <a:r>
              <a:rPr lang="en-US" dirty="0" smtClean="0"/>
              <a:t>Intersect</a:t>
            </a:r>
          </a:p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where </a:t>
            </a:r>
            <a:r>
              <a:rPr lang="en-US" dirty="0" err="1" smtClean="0"/>
              <a:t>cname</a:t>
            </a:r>
            <a:r>
              <a:rPr lang="en-US" dirty="0" smtClean="0"/>
              <a:t>  = ‘ACC’;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Ename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---------</a:t>
            </a:r>
          </a:p>
          <a:p>
            <a:pPr>
              <a:buNone/>
            </a:pPr>
            <a:r>
              <a:rPr lang="en-US" dirty="0" err="1" smtClean="0"/>
              <a:t>anil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MINUS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Minus is used for finding out elements that are present in one set but not in other.</a:t>
            </a:r>
          </a:p>
          <a:p>
            <a:pPr algn="ctr">
              <a:buNone/>
            </a:pPr>
            <a:r>
              <a:rPr lang="en-US" sz="2400" dirty="0" smtClean="0"/>
              <a:t>suppose there are two sets, S and R:</a:t>
            </a:r>
          </a:p>
          <a:p>
            <a:pPr algn="ctr">
              <a:buNone/>
            </a:pPr>
            <a:r>
              <a:rPr lang="en-US" sz="2400" dirty="0" smtClean="0"/>
              <a:t>S = {a, b, c}</a:t>
            </a:r>
          </a:p>
          <a:p>
            <a:pPr algn="ctr">
              <a:buNone/>
            </a:pPr>
            <a:r>
              <a:rPr lang="en-US" sz="2400" dirty="0" smtClean="0"/>
              <a:t>R = {a, x, y}</a:t>
            </a:r>
          </a:p>
          <a:p>
            <a:pPr algn="ctr">
              <a:buNone/>
            </a:pPr>
            <a:r>
              <a:rPr lang="en-US" sz="2400" dirty="0" smtClean="0"/>
              <a:t>Then the minus operation produce following result :</a:t>
            </a:r>
          </a:p>
          <a:p>
            <a:pPr algn="ctr">
              <a:buNone/>
            </a:pPr>
            <a:r>
              <a:rPr lang="en-US" sz="2400" dirty="0" smtClean="0"/>
              <a:t>R minus  S = {x, y}</a:t>
            </a:r>
          </a:p>
          <a:p>
            <a:pPr algn="ctr">
              <a:buNone/>
            </a:pPr>
            <a:r>
              <a:rPr lang="en-US" sz="2400" dirty="0" smtClean="0"/>
              <a:t>S minus R = {b, c}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 </a:t>
            </a:r>
          </a:p>
          <a:p>
            <a:pPr>
              <a:buNone/>
            </a:pPr>
            <a:r>
              <a:rPr lang="en-US" dirty="0" smtClean="0"/>
              <a:t>Select city from company where </a:t>
            </a:r>
            <a:r>
              <a:rPr lang="en-US" dirty="0" err="1" smtClean="0"/>
              <a:t>cname</a:t>
            </a:r>
            <a:r>
              <a:rPr lang="en-US" dirty="0" smtClean="0"/>
              <a:t> = ‘ACC’</a:t>
            </a:r>
          </a:p>
          <a:p>
            <a:pPr>
              <a:buNone/>
            </a:pPr>
            <a:r>
              <a:rPr lang="en-US" dirty="0" smtClean="0"/>
              <a:t>minus</a:t>
            </a:r>
          </a:p>
          <a:p>
            <a:pPr>
              <a:buNone/>
            </a:pPr>
            <a:r>
              <a:rPr lang="en-US" dirty="0" smtClean="0"/>
              <a:t>Select city from company where </a:t>
            </a:r>
            <a:r>
              <a:rPr lang="en-US" dirty="0" err="1" smtClean="0"/>
              <a:t>cname</a:t>
            </a:r>
            <a:r>
              <a:rPr lang="en-US" dirty="0" smtClean="0"/>
              <a:t> = ‘TATA’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smtClean="0"/>
              <a:t>City</a:t>
            </a:r>
          </a:p>
          <a:p>
            <a:pPr>
              <a:buNone/>
            </a:pPr>
            <a:r>
              <a:rPr lang="en-US" dirty="0" smtClean="0"/>
              <a:t>-------</a:t>
            </a:r>
          </a:p>
          <a:p>
            <a:pPr>
              <a:buNone/>
            </a:pPr>
            <a:r>
              <a:rPr lang="en-US" dirty="0" smtClean="0"/>
              <a:t>Madras</a:t>
            </a:r>
          </a:p>
          <a:p>
            <a:pPr>
              <a:buNone/>
            </a:pPr>
            <a:r>
              <a:rPr lang="en-US" dirty="0" smtClean="0"/>
              <a:t>Nagpur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 </a:t>
            </a:r>
          </a:p>
          <a:p>
            <a:pPr>
              <a:buNone/>
            </a:pPr>
            <a:r>
              <a:rPr lang="en-US" dirty="0" smtClean="0"/>
              <a:t>Display the names of employee living in Nagpur, and not working with company ACC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employee where city  = ‘Nagpur’</a:t>
            </a:r>
          </a:p>
          <a:p>
            <a:pPr>
              <a:buNone/>
            </a:pPr>
            <a:r>
              <a:rPr lang="en-US" dirty="0" smtClean="0"/>
              <a:t>Minus</a:t>
            </a:r>
          </a:p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where </a:t>
            </a:r>
            <a:r>
              <a:rPr lang="en-US" dirty="0" err="1" smtClean="0"/>
              <a:t>cname</a:t>
            </a:r>
            <a:r>
              <a:rPr lang="en-US" dirty="0" smtClean="0"/>
              <a:t>  = ‘ACC’;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smtClean="0"/>
              <a:t>No rows selected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</a:t>
            </a:r>
          </a:p>
          <a:p>
            <a:pPr>
              <a:buNone/>
            </a:pPr>
            <a:r>
              <a:rPr lang="en-US" dirty="0" smtClean="0"/>
              <a:t>Display the names of employee living in Nagpur, and working in ACC, and having shift A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employee where city  = ‘Nagpur’</a:t>
            </a:r>
          </a:p>
          <a:p>
            <a:pPr>
              <a:buNone/>
            </a:pPr>
            <a:r>
              <a:rPr lang="en-US" dirty="0" smtClean="0"/>
              <a:t>intersect</a:t>
            </a:r>
          </a:p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where </a:t>
            </a:r>
            <a:r>
              <a:rPr lang="en-US" dirty="0" err="1" smtClean="0"/>
              <a:t>cname</a:t>
            </a:r>
            <a:r>
              <a:rPr lang="en-US" dirty="0" smtClean="0"/>
              <a:t>  = ‘ACC’;</a:t>
            </a:r>
          </a:p>
          <a:p>
            <a:pPr>
              <a:buNone/>
            </a:pPr>
            <a:r>
              <a:rPr lang="en-US" dirty="0" smtClean="0"/>
              <a:t>Intersect</a:t>
            </a:r>
          </a:p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emp_shift</a:t>
            </a:r>
            <a:r>
              <a:rPr lang="en-US" dirty="0" smtClean="0"/>
              <a:t> where shift  = ‘A’;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err="1" smtClean="0"/>
              <a:t>anil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It is used where membership of the element has to be tested against the set.</a:t>
            </a:r>
          </a:p>
          <a:p>
            <a:pPr algn="ctr">
              <a:buNone/>
            </a:pPr>
            <a:r>
              <a:rPr lang="en-US" dirty="0" smtClean="0"/>
              <a:t>a in {a, b, c} is true</a:t>
            </a:r>
          </a:p>
          <a:p>
            <a:pPr>
              <a:buNone/>
            </a:pPr>
            <a:r>
              <a:rPr lang="en-US" dirty="0" smtClean="0"/>
              <a:t>It can be used only in  </a:t>
            </a:r>
            <a:r>
              <a:rPr lang="en-US" u="sng" dirty="0" smtClean="0"/>
              <a:t>where</a:t>
            </a:r>
            <a:r>
              <a:rPr lang="en-US" dirty="0" smtClean="0"/>
              <a:t>  condition and it returns </a:t>
            </a:r>
            <a:r>
              <a:rPr lang="en-US" u="sng" dirty="0" smtClean="0"/>
              <a:t>True</a:t>
            </a:r>
            <a:r>
              <a:rPr lang="en-US" dirty="0" smtClean="0"/>
              <a:t> or </a:t>
            </a:r>
            <a:r>
              <a:rPr lang="en-US" u="sng" dirty="0" smtClean="0"/>
              <a:t>False</a:t>
            </a:r>
            <a:endParaRPr 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Finding employee names, the cities they live in, and working company ACC using 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, city from employee</a:t>
            </a:r>
          </a:p>
          <a:p>
            <a:pPr>
              <a:buNone/>
            </a:pPr>
            <a:r>
              <a:rPr lang="en-US" dirty="0" smtClean="0"/>
              <a:t>Where </a:t>
            </a:r>
            <a:r>
              <a:rPr lang="en-US" dirty="0" err="1" smtClean="0"/>
              <a:t>ename</a:t>
            </a:r>
            <a:r>
              <a:rPr lang="en-US" dirty="0" smtClean="0"/>
              <a:t> IN{select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where </a:t>
            </a:r>
            <a:r>
              <a:rPr lang="en-US" dirty="0" err="1" smtClean="0"/>
              <a:t>cname</a:t>
            </a:r>
            <a:r>
              <a:rPr lang="en-US" dirty="0" smtClean="0"/>
              <a:t> = ‘ACC’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Anil </a:t>
            </a:r>
            <a:r>
              <a:rPr lang="en-US" dirty="0" err="1" smtClean="0"/>
              <a:t>ajay</a:t>
            </a:r>
            <a:r>
              <a:rPr lang="en-US" dirty="0" smtClean="0"/>
              <a:t> </a:t>
            </a:r>
            <a:r>
              <a:rPr lang="en-US" dirty="0" err="1" smtClean="0"/>
              <a:t>amol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err="1" smtClean="0"/>
              <a:t>Ename</a:t>
            </a:r>
            <a:r>
              <a:rPr lang="en-US" dirty="0" smtClean="0"/>
              <a:t>	city</a:t>
            </a:r>
          </a:p>
          <a:p>
            <a:pPr>
              <a:buNone/>
            </a:pPr>
            <a:r>
              <a:rPr lang="en-US" dirty="0" smtClean="0"/>
              <a:t>Anil		</a:t>
            </a:r>
            <a:r>
              <a:rPr lang="en-US" dirty="0" err="1" smtClean="0"/>
              <a:t>nagpur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Ajay		madras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err="1" smtClean="0"/>
              <a:t>Subquery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where </a:t>
            </a:r>
            <a:r>
              <a:rPr lang="en-US" dirty="0" err="1" smtClean="0"/>
              <a:t>cname</a:t>
            </a:r>
            <a:r>
              <a:rPr lang="en-US" dirty="0" smtClean="0"/>
              <a:t> = ‘ACC’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It will produce a set of employee names working for company ACC.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For every row of the table employee, it is checked whether </a:t>
            </a:r>
            <a:r>
              <a:rPr lang="en-US" dirty="0" err="1" smtClean="0"/>
              <a:t>ename</a:t>
            </a:r>
            <a:r>
              <a:rPr lang="en-US" dirty="0" smtClean="0"/>
              <a:t> is a member of that set.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Display the employees living in the city </a:t>
            </a:r>
            <a:r>
              <a:rPr lang="en-US" dirty="0" err="1" smtClean="0"/>
              <a:t>bombay</a:t>
            </a:r>
            <a:r>
              <a:rPr lang="en-US" dirty="0" smtClean="0"/>
              <a:t> and having their company located in the city </a:t>
            </a:r>
            <a:r>
              <a:rPr lang="en-US" dirty="0" err="1" smtClean="0"/>
              <a:t>delhi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Select </a:t>
            </a:r>
            <a:r>
              <a:rPr lang="en-US" sz="2800" dirty="0" err="1" smtClean="0"/>
              <a:t>ename</a:t>
            </a:r>
            <a:r>
              <a:rPr lang="en-US" sz="2800" dirty="0" smtClean="0"/>
              <a:t> from </a:t>
            </a:r>
            <a:r>
              <a:rPr lang="en-US" sz="2800" dirty="0" err="1" smtClean="0"/>
              <a:t>emp_company</a:t>
            </a:r>
            <a:r>
              <a:rPr lang="en-US" sz="2800" dirty="0" smtClean="0"/>
              <a:t> where </a:t>
            </a:r>
          </a:p>
          <a:p>
            <a:pPr>
              <a:buNone/>
            </a:pPr>
            <a:r>
              <a:rPr lang="en-US" sz="2000" dirty="0" smtClean="0"/>
              <a:t>// the </a:t>
            </a:r>
            <a:r>
              <a:rPr lang="en-US" sz="2000" dirty="0" err="1" smtClean="0"/>
              <a:t>ename</a:t>
            </a:r>
            <a:r>
              <a:rPr lang="en-US" sz="2000" dirty="0" smtClean="0"/>
              <a:t> of row of table </a:t>
            </a:r>
            <a:r>
              <a:rPr lang="en-US" sz="2000" dirty="0" err="1" smtClean="0"/>
              <a:t>emp_company</a:t>
            </a:r>
            <a:r>
              <a:rPr lang="en-US" sz="2000" dirty="0" smtClean="0"/>
              <a:t> is tested for </a:t>
            </a:r>
            <a:r>
              <a:rPr lang="en-US" sz="2000" dirty="0" err="1" smtClean="0"/>
              <a:t>mambership</a:t>
            </a:r>
            <a:r>
              <a:rPr lang="en-US" sz="2000" dirty="0" smtClean="0"/>
              <a:t> in the set</a:t>
            </a:r>
          </a:p>
          <a:p>
            <a:pPr>
              <a:buNone/>
            </a:pPr>
            <a:r>
              <a:rPr lang="en-US" sz="2800" dirty="0" err="1" smtClean="0"/>
              <a:t>ename</a:t>
            </a:r>
            <a:r>
              <a:rPr lang="en-US" sz="2800" dirty="0" smtClean="0"/>
              <a:t> IN (select </a:t>
            </a:r>
            <a:r>
              <a:rPr lang="en-US" sz="2800" dirty="0" err="1" smtClean="0"/>
              <a:t>ename</a:t>
            </a:r>
            <a:r>
              <a:rPr lang="en-US" sz="2800" dirty="0" smtClean="0"/>
              <a:t> from employee where city =‘</a:t>
            </a:r>
            <a:r>
              <a:rPr lang="en-US" sz="2800" dirty="0" err="1" smtClean="0"/>
              <a:t>bombay</a:t>
            </a:r>
            <a:r>
              <a:rPr lang="en-US" sz="2800" dirty="0" smtClean="0"/>
              <a:t>’)</a:t>
            </a:r>
          </a:p>
          <a:p>
            <a:pPr>
              <a:buNone/>
            </a:pPr>
            <a:r>
              <a:rPr lang="en-US" sz="2000" dirty="0" smtClean="0"/>
              <a:t>//the first </a:t>
            </a:r>
            <a:r>
              <a:rPr lang="en-US" sz="2000" dirty="0" err="1" smtClean="0"/>
              <a:t>subquery</a:t>
            </a:r>
            <a:r>
              <a:rPr lang="en-US" sz="2000" dirty="0" smtClean="0"/>
              <a:t> returns the set of names of employee who residing in the city </a:t>
            </a:r>
            <a:r>
              <a:rPr lang="en-US" sz="2000" dirty="0" err="1" smtClean="0"/>
              <a:t>bombay</a:t>
            </a:r>
            <a:endParaRPr lang="en-US" sz="2000" dirty="0" smtClean="0"/>
          </a:p>
          <a:p>
            <a:pPr>
              <a:buNone/>
            </a:pPr>
            <a:r>
              <a:rPr lang="en-US" sz="2800" dirty="0" smtClean="0"/>
              <a:t>and </a:t>
            </a:r>
            <a:r>
              <a:rPr lang="en-US" sz="2800" dirty="0" err="1" smtClean="0"/>
              <a:t>cname</a:t>
            </a:r>
            <a:r>
              <a:rPr lang="en-US" sz="2800" dirty="0" smtClean="0"/>
              <a:t> IN (select </a:t>
            </a:r>
            <a:r>
              <a:rPr lang="en-US" sz="2800" dirty="0" err="1" smtClean="0"/>
              <a:t>cname</a:t>
            </a:r>
            <a:r>
              <a:rPr lang="en-US" sz="2800" dirty="0" smtClean="0"/>
              <a:t> from company where city = ‘</a:t>
            </a:r>
            <a:r>
              <a:rPr lang="en-US" sz="2800" dirty="0" err="1" smtClean="0"/>
              <a:t>delhi</a:t>
            </a:r>
            <a:r>
              <a:rPr lang="en-US" sz="2800" dirty="0" smtClean="0"/>
              <a:t>’)</a:t>
            </a:r>
          </a:p>
          <a:p>
            <a:pPr>
              <a:buNone/>
            </a:pPr>
            <a:r>
              <a:rPr lang="en-US" sz="2000" dirty="0" smtClean="0"/>
              <a:t>//the second </a:t>
            </a:r>
            <a:r>
              <a:rPr lang="en-US" sz="2000" dirty="0" err="1" smtClean="0"/>
              <a:t>subquery</a:t>
            </a:r>
            <a:r>
              <a:rPr lang="en-US" sz="2000" dirty="0" smtClean="0"/>
              <a:t> returns a list of </a:t>
            </a:r>
            <a:r>
              <a:rPr lang="en-US" sz="2000" dirty="0" err="1" smtClean="0"/>
              <a:t>companylocated</a:t>
            </a:r>
            <a:r>
              <a:rPr lang="en-US" sz="2000" dirty="0" smtClean="0"/>
              <a:t> at </a:t>
            </a:r>
            <a:r>
              <a:rPr lang="en-US" sz="2000" dirty="0" err="1" smtClean="0"/>
              <a:t>delhi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err="1" smtClean="0"/>
              <a:t>Ename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----------</a:t>
            </a:r>
          </a:p>
          <a:p>
            <a:pPr>
              <a:buNone/>
            </a:pPr>
            <a:r>
              <a:rPr lang="en-US" dirty="0" err="1" smtClean="0"/>
              <a:t>shanker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Display the names of employees living in the same city where </a:t>
            </a:r>
            <a:r>
              <a:rPr lang="en-US" dirty="0" err="1" smtClean="0"/>
              <a:t>sunil</a:t>
            </a:r>
            <a:r>
              <a:rPr lang="en-US" dirty="0" smtClean="0"/>
              <a:t> is residing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employee where city in (select city from employee where </a:t>
            </a:r>
            <a:r>
              <a:rPr lang="en-US" dirty="0" err="1" smtClean="0"/>
              <a:t>ename</a:t>
            </a:r>
            <a:r>
              <a:rPr lang="en-US" dirty="0" smtClean="0"/>
              <a:t> =</a:t>
            </a:r>
            <a:r>
              <a:rPr lang="en-US" dirty="0" err="1" smtClean="0"/>
              <a:t>sunil</a:t>
            </a:r>
            <a:r>
              <a:rPr lang="en-US" dirty="0" smtClean="0"/>
              <a:t>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err="1" smtClean="0"/>
              <a:t>Ename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---------</a:t>
            </a:r>
          </a:p>
          <a:p>
            <a:pPr>
              <a:buNone/>
            </a:pPr>
            <a:r>
              <a:rPr lang="en-US" dirty="0" smtClean="0"/>
              <a:t>Sunil</a:t>
            </a:r>
          </a:p>
          <a:p>
            <a:pPr>
              <a:buNone/>
            </a:pPr>
            <a:r>
              <a:rPr lang="en-US" dirty="0" err="1" smtClean="0"/>
              <a:t>Shanker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EXISTS 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u="sng" dirty="0" smtClean="0"/>
              <a:t>exists clause </a:t>
            </a:r>
            <a:r>
              <a:rPr lang="en-US" sz="2000" dirty="0" smtClean="0"/>
              <a:t> is used for testing whether a given set is empty or not.</a:t>
            </a:r>
          </a:p>
          <a:p>
            <a:r>
              <a:rPr lang="en-US" sz="2000" dirty="0" smtClean="0"/>
              <a:t>It is used in </a:t>
            </a:r>
            <a:r>
              <a:rPr lang="en-US" sz="2000" u="sng" dirty="0" smtClean="0"/>
              <a:t>where</a:t>
            </a:r>
            <a:r>
              <a:rPr lang="en-US" sz="2000" dirty="0" smtClean="0"/>
              <a:t> condition.</a:t>
            </a:r>
          </a:p>
          <a:p>
            <a:r>
              <a:rPr lang="en-US" sz="2000" dirty="0" smtClean="0"/>
              <a:t>An </a:t>
            </a:r>
            <a:r>
              <a:rPr lang="en-US" sz="2000" u="sng" dirty="0" smtClean="0"/>
              <a:t>exists</a:t>
            </a:r>
            <a:r>
              <a:rPr lang="en-US" sz="2000" dirty="0" smtClean="0"/>
              <a:t> clause on an empty set returns </a:t>
            </a:r>
            <a:r>
              <a:rPr lang="en-US" sz="2000" u="sng" dirty="0" smtClean="0"/>
              <a:t>False</a:t>
            </a:r>
            <a:r>
              <a:rPr lang="en-US" sz="2000" dirty="0" smtClean="0"/>
              <a:t>, while on a nonempty set it returns </a:t>
            </a:r>
            <a:r>
              <a:rPr lang="en-US" sz="2000" u="sng" dirty="0" smtClean="0"/>
              <a:t>True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 smtClean="0"/>
              <a:t>The meaning of exist is as follows:</a:t>
            </a:r>
          </a:p>
          <a:p>
            <a:pPr algn="ctr">
              <a:buNone/>
            </a:pPr>
            <a:r>
              <a:rPr lang="en-US" sz="2800" dirty="0" smtClean="0"/>
              <a:t>Exists {a, b, c} = True</a:t>
            </a:r>
          </a:p>
          <a:p>
            <a:pPr algn="ctr">
              <a:buNone/>
            </a:pPr>
            <a:r>
              <a:rPr lang="en-US" sz="2800" dirty="0" smtClean="0"/>
              <a:t>And</a:t>
            </a:r>
          </a:p>
          <a:p>
            <a:pPr algn="ctr">
              <a:buNone/>
            </a:pPr>
            <a:r>
              <a:rPr lang="en-US" sz="2800" dirty="0" smtClean="0"/>
              <a:t>Exists {  } = False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</a:t>
            </a:r>
          </a:p>
          <a:p>
            <a:pPr>
              <a:buNone/>
            </a:pPr>
            <a:r>
              <a:rPr lang="en-US" dirty="0" smtClean="0"/>
              <a:t>Displaying the name of employees, using </a:t>
            </a:r>
            <a:r>
              <a:rPr lang="en-US" u="sng" dirty="0" smtClean="0"/>
              <a:t>exists</a:t>
            </a:r>
            <a:r>
              <a:rPr lang="en-US" dirty="0" smtClean="0"/>
              <a:t>, living in the same city where </a:t>
            </a:r>
            <a:r>
              <a:rPr lang="en-US" u="sng" dirty="0" err="1" smtClean="0"/>
              <a:t>sunil</a:t>
            </a:r>
            <a:r>
              <a:rPr lang="en-US" dirty="0" smtClean="0"/>
              <a:t> is living.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Select emp1.ename from employee emp1 where exists(select emp2.city from employee emp2 where emp2.ename = ‘</a:t>
            </a:r>
            <a:r>
              <a:rPr lang="en-US" dirty="0" err="1" smtClean="0"/>
              <a:t>sunil</a:t>
            </a:r>
            <a:r>
              <a:rPr lang="en-US" dirty="0" smtClean="0"/>
              <a:t>’ and emp1.city = emp2.city);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err="1" smtClean="0"/>
              <a:t>Ename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------</a:t>
            </a:r>
          </a:p>
          <a:p>
            <a:pPr>
              <a:buNone/>
            </a:pPr>
            <a:r>
              <a:rPr lang="en-US" dirty="0" err="1" smtClean="0"/>
              <a:t>Shanker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Sunil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query is executed as follows: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for each row of the data source which is given after the from clause, the where condition is evaluated.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If the first row is of </a:t>
            </a:r>
            <a:r>
              <a:rPr lang="en-US" dirty="0" err="1" smtClean="0"/>
              <a:t>shanker</a:t>
            </a:r>
            <a:r>
              <a:rPr lang="en-US" dirty="0" smtClean="0"/>
              <a:t>, then emp1.city gives the city of </a:t>
            </a:r>
            <a:r>
              <a:rPr lang="en-US" dirty="0" err="1" smtClean="0"/>
              <a:t>shanker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 err="1" smtClean="0"/>
              <a:t>subquery</a:t>
            </a:r>
            <a:r>
              <a:rPr lang="en-US" dirty="0" smtClean="0"/>
              <a:t> returns something when city of </a:t>
            </a:r>
            <a:r>
              <a:rPr lang="en-US" dirty="0" err="1" smtClean="0"/>
              <a:t>shanker</a:t>
            </a:r>
            <a:r>
              <a:rPr lang="en-US" dirty="0" smtClean="0"/>
              <a:t> is same as city of </a:t>
            </a:r>
            <a:r>
              <a:rPr lang="en-US" dirty="0" err="1" smtClean="0"/>
              <a:t>sunil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VALUE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( )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US" dirty="0" smtClean="0"/>
              <a:t>It is used for normal precedence rule.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(salary + 10)/ (salary - 10)from </a:t>
            </a:r>
            <a:r>
              <a:rPr lang="en-US" dirty="0" err="1" smtClean="0"/>
              <a:t>emp_company</a:t>
            </a:r>
            <a:r>
              <a:rPr lang="en-US" dirty="0" smtClean="0"/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Result</a:t>
            </a:r>
          </a:p>
          <a:p>
            <a:pPr>
              <a:buNone/>
            </a:pPr>
            <a:r>
              <a:rPr lang="en-US" sz="2400" dirty="0" smtClean="0"/>
              <a:t>(salary + 10)/(salary - 10)</a:t>
            </a:r>
          </a:p>
          <a:p>
            <a:pPr>
              <a:buNone/>
            </a:pPr>
            <a:r>
              <a:rPr lang="en-US" sz="2400" dirty="0" smtClean="0"/>
              <a:t>------------------------------------</a:t>
            </a:r>
          </a:p>
          <a:p>
            <a:pPr>
              <a:buNone/>
            </a:pPr>
            <a:r>
              <a:rPr lang="en-US" sz="2400" dirty="0" smtClean="0"/>
              <a:t>1.013</a:t>
            </a:r>
          </a:p>
          <a:p>
            <a:pPr>
              <a:buNone/>
            </a:pPr>
            <a:r>
              <a:rPr lang="en-US" sz="2400" dirty="0" smtClean="0"/>
              <a:t>1.010</a:t>
            </a:r>
          </a:p>
          <a:p>
            <a:pPr>
              <a:buNone/>
            </a:pPr>
            <a:r>
              <a:rPr lang="en-US" sz="2400" dirty="0" smtClean="0"/>
              <a:t>1.011</a:t>
            </a:r>
          </a:p>
          <a:p>
            <a:pPr>
              <a:buNone/>
            </a:pPr>
            <a:r>
              <a:rPr lang="en-US" sz="2400" dirty="0" smtClean="0"/>
              <a:t>1.011</a:t>
            </a:r>
          </a:p>
          <a:p>
            <a:pPr>
              <a:buNone/>
            </a:pPr>
            <a:r>
              <a:rPr lang="en-US" sz="2400" dirty="0" smtClean="0"/>
              <a:t>1.004</a:t>
            </a:r>
          </a:p>
          <a:p>
            <a:pPr>
              <a:buNone/>
            </a:pPr>
            <a:r>
              <a:rPr lang="en-US" sz="2400" dirty="0" smtClean="0"/>
              <a:t>1.006</a:t>
            </a:r>
          </a:p>
          <a:p>
            <a:pPr>
              <a:buNone/>
            </a:pPr>
            <a:r>
              <a:rPr lang="en-US" sz="2400" dirty="0" smtClean="0"/>
              <a:t>1.002</a:t>
            </a:r>
          </a:p>
          <a:p>
            <a:pPr>
              <a:buNone/>
            </a:pPr>
            <a:r>
              <a:rPr lang="en-US" sz="2400" dirty="0" smtClean="0"/>
              <a:t>1.020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+, - 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These operator are used to give sign for a number expression.</a:t>
            </a:r>
          </a:p>
          <a:p>
            <a:r>
              <a:rPr lang="en-US" dirty="0" smtClean="0"/>
              <a:t>It is used for addition and subtraction also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Example</a:t>
            </a:r>
          </a:p>
          <a:p>
            <a:pPr>
              <a:buNone/>
            </a:pPr>
            <a:r>
              <a:rPr lang="en-US" dirty="0" smtClean="0"/>
              <a:t>Select – (salary) from </a:t>
            </a:r>
            <a:r>
              <a:rPr lang="en-US" dirty="0" err="1" smtClean="0"/>
              <a:t>emp_company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smtClean="0"/>
              <a:t>-(salary)</a:t>
            </a:r>
          </a:p>
          <a:p>
            <a:pPr>
              <a:buNone/>
            </a:pPr>
            <a:r>
              <a:rPr lang="en-US" dirty="0" smtClean="0"/>
              <a:t>----------------</a:t>
            </a:r>
          </a:p>
          <a:p>
            <a:pPr>
              <a:buNone/>
            </a:pPr>
            <a:r>
              <a:rPr lang="en-US" dirty="0" smtClean="0"/>
              <a:t>-1500</a:t>
            </a:r>
          </a:p>
          <a:p>
            <a:pPr>
              <a:buNone/>
            </a:pPr>
            <a:r>
              <a:rPr lang="en-US" dirty="0" smtClean="0"/>
              <a:t>-2000</a:t>
            </a:r>
          </a:p>
          <a:p>
            <a:pPr>
              <a:buNone/>
            </a:pPr>
            <a:r>
              <a:rPr lang="en-US" dirty="0" smtClean="0"/>
              <a:t>-1800</a:t>
            </a:r>
          </a:p>
          <a:p>
            <a:pPr>
              <a:buNone/>
            </a:pPr>
            <a:r>
              <a:rPr lang="en-US" dirty="0" smtClean="0"/>
              <a:t>-1700</a:t>
            </a:r>
          </a:p>
          <a:p>
            <a:pPr>
              <a:buNone/>
            </a:pPr>
            <a:r>
              <a:rPr lang="en-US" dirty="0" smtClean="0"/>
              <a:t>-5000</a:t>
            </a:r>
          </a:p>
          <a:p>
            <a:pPr>
              <a:buNone/>
            </a:pPr>
            <a:r>
              <a:rPr lang="en-US" dirty="0" smtClean="0"/>
              <a:t>-3000</a:t>
            </a:r>
          </a:p>
          <a:p>
            <a:pPr>
              <a:buNone/>
            </a:pPr>
            <a:r>
              <a:rPr lang="en-US" dirty="0" smtClean="0"/>
              <a:t>-8000</a:t>
            </a:r>
          </a:p>
          <a:p>
            <a:pPr>
              <a:buNone/>
            </a:pPr>
            <a:r>
              <a:rPr lang="en-US" dirty="0" smtClean="0"/>
              <a:t>-1200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where not(</a:t>
            </a:r>
            <a:r>
              <a:rPr lang="en-US" dirty="0" err="1" smtClean="0"/>
              <a:t>cname</a:t>
            </a:r>
            <a:r>
              <a:rPr lang="en-US" dirty="0" smtClean="0"/>
              <a:t> = ‘TELCO’ or </a:t>
            </a:r>
            <a:r>
              <a:rPr lang="en-US" dirty="0" err="1" smtClean="0"/>
              <a:t>cname</a:t>
            </a:r>
            <a:r>
              <a:rPr lang="en-US" dirty="0" smtClean="0"/>
              <a:t> = ‘TATA’);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Result</a:t>
            </a:r>
          </a:p>
          <a:p>
            <a:pPr>
              <a:buNone/>
            </a:pPr>
            <a:r>
              <a:rPr lang="en-US" dirty="0" smtClean="0"/>
              <a:t>ENAME</a:t>
            </a:r>
          </a:p>
          <a:p>
            <a:pPr>
              <a:buNone/>
            </a:pPr>
            <a:r>
              <a:rPr lang="en-US" dirty="0" smtClean="0"/>
              <a:t>---------------</a:t>
            </a:r>
          </a:p>
          <a:p>
            <a:pPr>
              <a:buNone/>
            </a:pPr>
            <a:r>
              <a:rPr lang="en-US" dirty="0" smtClean="0"/>
              <a:t>Anil</a:t>
            </a:r>
          </a:p>
          <a:p>
            <a:pPr>
              <a:buNone/>
            </a:pPr>
            <a:r>
              <a:rPr lang="en-US" dirty="0" smtClean="0"/>
              <a:t>Jaya</a:t>
            </a:r>
          </a:p>
          <a:p>
            <a:pPr>
              <a:buNone/>
            </a:pPr>
            <a:r>
              <a:rPr lang="en-US" dirty="0" smtClean="0"/>
              <a:t>Sunil</a:t>
            </a:r>
          </a:p>
          <a:p>
            <a:pPr>
              <a:buNone/>
            </a:pPr>
            <a:r>
              <a:rPr lang="en-US" dirty="0" smtClean="0"/>
              <a:t>Ajay</a:t>
            </a:r>
          </a:p>
          <a:p>
            <a:pPr>
              <a:buNone/>
            </a:pPr>
            <a:r>
              <a:rPr lang="en-US" dirty="0" err="1" smtClean="0"/>
              <a:t>Amol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Example</a:t>
            </a:r>
          </a:p>
          <a:p>
            <a:pPr>
              <a:buNone/>
            </a:pPr>
            <a:r>
              <a:rPr lang="en-US" dirty="0" smtClean="0"/>
              <a:t>Select (salary + 1000) from </a:t>
            </a:r>
            <a:r>
              <a:rPr lang="en-US" dirty="0" err="1" smtClean="0"/>
              <a:t>emp_company</a:t>
            </a:r>
            <a:r>
              <a:rPr lang="en-US" dirty="0" smtClean="0"/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*,   / 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used for multiplication and division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Example</a:t>
            </a:r>
          </a:p>
          <a:p>
            <a:pPr>
              <a:buNone/>
            </a:pPr>
            <a:r>
              <a:rPr lang="en-US" dirty="0" smtClean="0"/>
              <a:t>Select (salary * 1.5) from </a:t>
            </a:r>
            <a:r>
              <a:rPr lang="en-US" dirty="0" err="1" smtClean="0"/>
              <a:t>emp_company</a:t>
            </a:r>
            <a:r>
              <a:rPr lang="en-US" dirty="0" smtClean="0"/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 concatenation character expression.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Example</a:t>
            </a:r>
          </a:p>
          <a:p>
            <a:pPr>
              <a:buNone/>
            </a:pPr>
            <a:r>
              <a:rPr lang="en-US" dirty="0" smtClean="0"/>
              <a:t>Select ‘ THE CITY OF ’ II </a:t>
            </a:r>
            <a:r>
              <a:rPr lang="en-US" dirty="0" err="1" smtClean="0"/>
              <a:t>ename</a:t>
            </a:r>
            <a:r>
              <a:rPr lang="en-US" dirty="0" smtClean="0"/>
              <a:t> II ‘IS’ II city from employee;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Result </a:t>
            </a:r>
          </a:p>
          <a:p>
            <a:pPr>
              <a:buNone/>
            </a:pPr>
            <a:r>
              <a:rPr lang="en-US" dirty="0" smtClean="0"/>
              <a:t>‘ THE CITY OF ’ II </a:t>
            </a:r>
            <a:r>
              <a:rPr lang="en-US" dirty="0" err="1" smtClean="0"/>
              <a:t>ename</a:t>
            </a:r>
            <a:r>
              <a:rPr lang="en-US" dirty="0" smtClean="0"/>
              <a:t> II ‘IS’ II city</a:t>
            </a:r>
          </a:p>
          <a:p>
            <a:pPr>
              <a:buNone/>
            </a:pPr>
            <a:r>
              <a:rPr lang="en-US" dirty="0" smtClean="0"/>
              <a:t>------------------------------------------------</a:t>
            </a:r>
          </a:p>
          <a:p>
            <a:pPr>
              <a:buNone/>
            </a:pPr>
            <a:r>
              <a:rPr lang="en-US" dirty="0" smtClean="0"/>
              <a:t>THE CITY OF ANIL IS NAGPUR</a:t>
            </a:r>
          </a:p>
          <a:p>
            <a:pPr>
              <a:buNone/>
            </a:pPr>
            <a:r>
              <a:rPr lang="en-US" dirty="0" smtClean="0"/>
              <a:t>THE CITY OF SHANKER IS BOMBAY …………………</a:t>
            </a:r>
          </a:p>
          <a:p>
            <a:pPr>
              <a:buNone/>
            </a:pPr>
            <a:r>
              <a:rPr lang="en-US" dirty="0" smtClean="0"/>
              <a:t>……………………………………….</a:t>
            </a:r>
          </a:p>
          <a:p>
            <a:pPr>
              <a:buNone/>
            </a:pPr>
            <a:r>
              <a:rPr lang="en-US" dirty="0" smtClean="0"/>
              <a:t>7 ROWS SELECTED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=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It tests for equality.</a:t>
            </a:r>
          </a:p>
          <a:p>
            <a:r>
              <a:rPr lang="en-US" dirty="0" smtClean="0"/>
              <a:t>Example</a:t>
            </a:r>
          </a:p>
          <a:p>
            <a:pPr algn="ctr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employee where city = ‘</a:t>
            </a:r>
            <a:r>
              <a:rPr lang="en-US" dirty="0" err="1" smtClean="0"/>
              <a:t>bombay</a:t>
            </a:r>
            <a:r>
              <a:rPr lang="en-US" dirty="0" smtClean="0"/>
              <a:t>’;</a:t>
            </a:r>
          </a:p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err="1" smtClean="0"/>
              <a:t>Ename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----------------</a:t>
            </a:r>
          </a:p>
          <a:p>
            <a:pPr>
              <a:buNone/>
            </a:pPr>
            <a:r>
              <a:rPr lang="en-US" dirty="0" err="1" smtClean="0"/>
              <a:t>Shanker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Sunil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!=  or  &lt;&gt;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It tests for inequality</a:t>
            </a:r>
          </a:p>
          <a:p>
            <a:r>
              <a:rPr lang="en-US" dirty="0" smtClean="0"/>
              <a:t>Example</a:t>
            </a:r>
          </a:p>
          <a:p>
            <a:pPr algn="ctr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employee </a:t>
            </a:r>
            <a:r>
              <a:rPr lang="en-US" dirty="0" err="1" smtClean="0"/>
              <a:t>whre</a:t>
            </a:r>
            <a:r>
              <a:rPr lang="en-US" dirty="0" smtClean="0"/>
              <a:t> city != ‘</a:t>
            </a:r>
            <a:r>
              <a:rPr lang="en-US" dirty="0" err="1" smtClean="0"/>
              <a:t>nagpur</a:t>
            </a:r>
            <a:r>
              <a:rPr lang="en-US" dirty="0" smtClean="0"/>
              <a:t>’;</a:t>
            </a:r>
          </a:p>
          <a:p>
            <a:pPr>
              <a:buNone/>
            </a:pPr>
            <a:r>
              <a:rPr lang="en-US" sz="1700" dirty="0" smtClean="0"/>
              <a:t>Result:</a:t>
            </a:r>
          </a:p>
          <a:p>
            <a:pPr>
              <a:buNone/>
            </a:pPr>
            <a:r>
              <a:rPr lang="en-US" sz="1700" dirty="0" err="1" smtClean="0"/>
              <a:t>Ename</a:t>
            </a:r>
            <a:endParaRPr lang="en-US" sz="1700" dirty="0" smtClean="0"/>
          </a:p>
          <a:p>
            <a:pPr>
              <a:buNone/>
            </a:pPr>
            <a:r>
              <a:rPr lang="en-US" sz="1700" dirty="0" smtClean="0"/>
              <a:t>---------------</a:t>
            </a:r>
          </a:p>
          <a:p>
            <a:pPr>
              <a:buNone/>
            </a:pPr>
            <a:r>
              <a:rPr lang="en-US" sz="1700" dirty="0" err="1" smtClean="0"/>
              <a:t>Shanker</a:t>
            </a:r>
            <a:endParaRPr lang="en-US" sz="1700" dirty="0" smtClean="0"/>
          </a:p>
          <a:p>
            <a:pPr>
              <a:buNone/>
            </a:pPr>
            <a:r>
              <a:rPr lang="en-US" sz="1700" dirty="0" smtClean="0"/>
              <a:t>Jaya</a:t>
            </a:r>
          </a:p>
          <a:p>
            <a:pPr>
              <a:buNone/>
            </a:pPr>
            <a:r>
              <a:rPr lang="en-US" sz="1700" dirty="0" smtClean="0"/>
              <a:t>Sunil</a:t>
            </a:r>
          </a:p>
          <a:p>
            <a:pPr>
              <a:buNone/>
            </a:pPr>
            <a:r>
              <a:rPr lang="en-US" sz="1700" dirty="0" smtClean="0"/>
              <a:t>Vijay </a:t>
            </a:r>
          </a:p>
          <a:p>
            <a:pPr>
              <a:buNone/>
            </a:pPr>
            <a:r>
              <a:rPr lang="en-US" sz="1700" dirty="0" err="1" smtClean="0"/>
              <a:t>Prakash</a:t>
            </a:r>
            <a:r>
              <a:rPr lang="en-US" sz="1700" dirty="0" smtClean="0"/>
              <a:t> </a:t>
            </a:r>
          </a:p>
          <a:p>
            <a:pPr>
              <a:buNone/>
            </a:pPr>
            <a:r>
              <a:rPr lang="en-US" sz="1700" dirty="0" smtClean="0"/>
              <a:t>Ajay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These are used for performing group operations. </a:t>
            </a:r>
          </a:p>
          <a:p>
            <a:r>
              <a:rPr lang="en-US" dirty="0" smtClean="0"/>
              <a:t>Max, </a:t>
            </a:r>
            <a:r>
              <a:rPr lang="en-US" dirty="0" err="1" smtClean="0"/>
              <a:t>avg</a:t>
            </a:r>
            <a:r>
              <a:rPr lang="en-US" dirty="0" smtClean="0"/>
              <a:t>, sum, count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Example- if you want to calculate maximum salary</a:t>
            </a:r>
          </a:p>
          <a:p>
            <a:pPr algn="ctr">
              <a:buNone/>
            </a:pPr>
            <a:r>
              <a:rPr lang="en-US" dirty="0" smtClean="0"/>
              <a:t>Select max(salary) from </a:t>
            </a:r>
            <a:r>
              <a:rPr lang="en-US" dirty="0" err="1" smtClean="0"/>
              <a:t>emp_company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smtClean="0"/>
              <a:t>MAX(salary)</a:t>
            </a:r>
          </a:p>
          <a:p>
            <a:pPr>
              <a:buNone/>
            </a:pPr>
            <a:r>
              <a:rPr lang="en-US" dirty="0" smtClean="0"/>
              <a:t>--------------</a:t>
            </a:r>
          </a:p>
          <a:p>
            <a:pPr>
              <a:buNone/>
            </a:pPr>
            <a:r>
              <a:rPr lang="en-US" dirty="0" smtClean="0"/>
              <a:t>8000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By 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u="sng" dirty="0" smtClean="0"/>
              <a:t>Group By </a:t>
            </a:r>
            <a:r>
              <a:rPr lang="en-US" dirty="0" smtClean="0"/>
              <a:t>function is used to compute aggregate functions of group. </a:t>
            </a:r>
          </a:p>
          <a:p>
            <a:pPr>
              <a:buNone/>
            </a:pPr>
            <a:r>
              <a:rPr lang="en-US" dirty="0" smtClean="0"/>
              <a:t>FOR EXAMPLE:</a:t>
            </a:r>
          </a:p>
          <a:p>
            <a:pPr>
              <a:buNone/>
            </a:pPr>
            <a:r>
              <a:rPr lang="en-US" dirty="0" smtClean="0"/>
              <a:t>Q. Displaying the names of companies and the maximum salary in that company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Select </a:t>
            </a:r>
            <a:r>
              <a:rPr lang="en-US" dirty="0" err="1" smtClean="0"/>
              <a:t>cname</a:t>
            </a:r>
            <a:r>
              <a:rPr lang="en-US" dirty="0" smtClean="0"/>
              <a:t> , max(salary) from </a:t>
            </a:r>
            <a:r>
              <a:rPr lang="en-US" dirty="0" err="1" smtClean="0"/>
              <a:t>emp_company</a:t>
            </a:r>
            <a:r>
              <a:rPr lang="en-US" dirty="0" smtClean="0"/>
              <a:t> group by </a:t>
            </a:r>
            <a:r>
              <a:rPr lang="en-US" dirty="0" err="1" smtClean="0"/>
              <a:t>cname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err="1" smtClean="0"/>
              <a:t>Cname</a:t>
            </a:r>
            <a:r>
              <a:rPr lang="en-US" dirty="0" smtClean="0"/>
              <a:t>		max(salary)</a:t>
            </a:r>
          </a:p>
          <a:p>
            <a:pPr>
              <a:buNone/>
            </a:pPr>
            <a:r>
              <a:rPr lang="en-US" dirty="0" smtClean="0"/>
              <a:t>-------------------------------------</a:t>
            </a:r>
          </a:p>
          <a:p>
            <a:pPr>
              <a:buNone/>
            </a:pPr>
            <a:r>
              <a:rPr lang="en-US" dirty="0" smtClean="0"/>
              <a:t>ACC			8000</a:t>
            </a:r>
          </a:p>
          <a:p>
            <a:pPr>
              <a:buNone/>
            </a:pPr>
            <a:r>
              <a:rPr lang="en-US" dirty="0" smtClean="0"/>
              <a:t>CMC			1800</a:t>
            </a:r>
          </a:p>
          <a:p>
            <a:pPr>
              <a:buNone/>
            </a:pPr>
            <a:r>
              <a:rPr lang="en-US" dirty="0" smtClean="0"/>
              <a:t>TATA			5000</a:t>
            </a:r>
          </a:p>
          <a:p>
            <a:pPr>
              <a:buNone/>
            </a:pPr>
            <a:r>
              <a:rPr lang="en-US" dirty="0" smtClean="0"/>
              <a:t>				1200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 Calculate the no. of employees for each company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</a:t>
            </a:r>
            <a:r>
              <a:rPr lang="en-US" dirty="0" err="1" smtClean="0"/>
              <a:t>cname</a:t>
            </a:r>
            <a:r>
              <a:rPr lang="en-US" dirty="0" smtClean="0"/>
              <a:t>, count(</a:t>
            </a:r>
            <a:r>
              <a:rPr lang="en-US" dirty="0" err="1" smtClean="0"/>
              <a:t>ename</a:t>
            </a:r>
            <a:r>
              <a:rPr lang="en-US" dirty="0" smtClean="0"/>
              <a:t>) from </a:t>
            </a:r>
            <a:r>
              <a:rPr lang="en-US" dirty="0" err="1" smtClean="0"/>
              <a:t>emp_company</a:t>
            </a:r>
            <a:r>
              <a:rPr lang="en-US" dirty="0" smtClean="0"/>
              <a:t> group by </a:t>
            </a:r>
            <a:r>
              <a:rPr lang="en-US" dirty="0" err="1" smtClean="0"/>
              <a:t>cname</a:t>
            </a:r>
            <a:r>
              <a:rPr lang="en-US" dirty="0" smtClean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Cname</a:t>
            </a:r>
            <a:r>
              <a:rPr lang="en-US" dirty="0" smtClean="0"/>
              <a:t>	count(</a:t>
            </a:r>
            <a:r>
              <a:rPr lang="en-US" dirty="0" err="1" smtClean="0"/>
              <a:t>ename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------------------------------------</a:t>
            </a:r>
          </a:p>
          <a:p>
            <a:pPr>
              <a:buNone/>
            </a:pPr>
            <a:r>
              <a:rPr lang="en-US" dirty="0" smtClean="0"/>
              <a:t>  Acc		 2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Cmc</a:t>
            </a:r>
            <a:r>
              <a:rPr lang="en-US" dirty="0" smtClean="0"/>
              <a:t>		 2	</a:t>
            </a:r>
          </a:p>
          <a:p>
            <a:pPr>
              <a:buNone/>
            </a:pPr>
            <a:r>
              <a:rPr lang="en-US" dirty="0" smtClean="0"/>
              <a:t>  Tata		 3</a:t>
            </a:r>
          </a:p>
          <a:p>
            <a:pPr>
              <a:buNone/>
            </a:pPr>
            <a:r>
              <a:rPr lang="en-US" dirty="0" smtClean="0"/>
              <a:t>			 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HAVING 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Displaying the companies having more than one employee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Select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count(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emp_company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group by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having count 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&gt; 1; 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Here groups are first formed on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then, for each group, rows with having condition are evaluated.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rows that satisfy having condition are given in the result.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Cname</a:t>
            </a:r>
            <a:r>
              <a:rPr lang="en-US" dirty="0" smtClean="0"/>
              <a:t>	count(</a:t>
            </a:r>
            <a:r>
              <a:rPr lang="en-US" dirty="0" err="1" smtClean="0"/>
              <a:t>ename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--------------------------------</a:t>
            </a:r>
          </a:p>
          <a:p>
            <a:pPr>
              <a:buNone/>
            </a:pPr>
            <a:r>
              <a:rPr lang="en-US" dirty="0" smtClean="0"/>
              <a:t>ACC		2	</a:t>
            </a:r>
          </a:p>
          <a:p>
            <a:pPr>
              <a:buNone/>
            </a:pPr>
            <a:r>
              <a:rPr lang="en-US" dirty="0" err="1" smtClean="0"/>
              <a:t>Cmc</a:t>
            </a:r>
            <a:r>
              <a:rPr lang="en-US" dirty="0" smtClean="0"/>
              <a:t>		2</a:t>
            </a:r>
          </a:p>
          <a:p>
            <a:pPr>
              <a:buNone/>
            </a:pPr>
            <a:r>
              <a:rPr lang="en-US" dirty="0" smtClean="0"/>
              <a:t>Tata		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 </a:t>
            </a:r>
          </a:p>
          <a:p>
            <a:pPr>
              <a:buNone/>
            </a:pPr>
            <a:r>
              <a:rPr lang="en-US" dirty="0" smtClean="0"/>
              <a:t>Finding the average salary of each company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   Select </a:t>
            </a:r>
            <a:r>
              <a:rPr lang="en-US" dirty="0" err="1" smtClean="0"/>
              <a:t>cname</a:t>
            </a:r>
            <a:r>
              <a:rPr lang="en-US" dirty="0" smtClean="0"/>
              <a:t>, </a:t>
            </a:r>
            <a:r>
              <a:rPr lang="en-US" dirty="0" err="1" smtClean="0"/>
              <a:t>avg</a:t>
            </a:r>
            <a:r>
              <a:rPr lang="en-US" dirty="0" smtClean="0"/>
              <a:t>(salary) From </a:t>
            </a:r>
            <a:r>
              <a:rPr lang="en-US" dirty="0" err="1" smtClean="0"/>
              <a:t>emp_company</a:t>
            </a:r>
            <a:r>
              <a:rPr lang="en-US" dirty="0" smtClean="0"/>
              <a:t> group by </a:t>
            </a:r>
            <a:r>
              <a:rPr lang="en-US" dirty="0" err="1" smtClean="0"/>
              <a:t>cname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err="1" smtClean="0"/>
              <a:t>Cname</a:t>
            </a:r>
            <a:r>
              <a:rPr lang="en-US" dirty="0" smtClean="0"/>
              <a:t>	</a:t>
            </a:r>
            <a:r>
              <a:rPr lang="en-US" dirty="0" err="1" smtClean="0"/>
              <a:t>avg</a:t>
            </a:r>
            <a:r>
              <a:rPr lang="en-US" dirty="0" smtClean="0"/>
              <a:t>(salary)</a:t>
            </a:r>
          </a:p>
          <a:p>
            <a:pPr>
              <a:buNone/>
            </a:pPr>
            <a:r>
              <a:rPr lang="en-US" dirty="0" smtClean="0"/>
              <a:t>--------------------------------</a:t>
            </a:r>
          </a:p>
          <a:p>
            <a:pPr>
              <a:buNone/>
            </a:pPr>
            <a:r>
              <a:rPr lang="en-US" dirty="0" smtClean="0"/>
              <a:t>ACC		4750	</a:t>
            </a:r>
          </a:p>
          <a:p>
            <a:pPr>
              <a:buNone/>
            </a:pPr>
            <a:r>
              <a:rPr lang="en-US" dirty="0" err="1" smtClean="0"/>
              <a:t>Cmc</a:t>
            </a:r>
            <a:r>
              <a:rPr lang="en-US" dirty="0" smtClean="0"/>
              <a:t>		1750</a:t>
            </a:r>
          </a:p>
          <a:p>
            <a:pPr>
              <a:buNone/>
            </a:pPr>
            <a:r>
              <a:rPr lang="en-US" dirty="0" smtClean="0"/>
              <a:t>Tata		3333.3333</a:t>
            </a:r>
          </a:p>
          <a:p>
            <a:pPr>
              <a:buNone/>
            </a:pPr>
            <a:r>
              <a:rPr lang="en-US" dirty="0" smtClean="0"/>
              <a:t>			1200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Displaying the average salary of each company except ACC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Select </a:t>
            </a:r>
            <a:r>
              <a:rPr lang="en-US" dirty="0" err="1" smtClean="0"/>
              <a:t>cname</a:t>
            </a:r>
            <a:r>
              <a:rPr lang="en-US" dirty="0" smtClean="0"/>
              <a:t>, </a:t>
            </a:r>
            <a:r>
              <a:rPr lang="en-US" dirty="0" err="1" smtClean="0"/>
              <a:t>avg</a:t>
            </a:r>
            <a:r>
              <a:rPr lang="en-US" dirty="0" smtClean="0"/>
              <a:t>(salary) From </a:t>
            </a:r>
            <a:r>
              <a:rPr lang="en-US" dirty="0" err="1" smtClean="0"/>
              <a:t>emp_company</a:t>
            </a:r>
            <a:r>
              <a:rPr lang="en-US" dirty="0" smtClean="0"/>
              <a:t> where </a:t>
            </a:r>
            <a:r>
              <a:rPr lang="en-US" dirty="0" err="1" smtClean="0"/>
              <a:t>cname</a:t>
            </a:r>
            <a:r>
              <a:rPr lang="en-US" dirty="0" smtClean="0"/>
              <a:t> &lt;&gt;/ != ‘ACC’ group by </a:t>
            </a:r>
            <a:r>
              <a:rPr lang="en-US" dirty="0" err="1" smtClean="0"/>
              <a:t>cname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err="1" smtClean="0"/>
              <a:t>Cname</a:t>
            </a:r>
            <a:r>
              <a:rPr lang="en-US" dirty="0" smtClean="0"/>
              <a:t>	</a:t>
            </a:r>
            <a:r>
              <a:rPr lang="en-US" dirty="0" err="1" smtClean="0"/>
              <a:t>avg</a:t>
            </a:r>
            <a:r>
              <a:rPr lang="en-US" dirty="0" smtClean="0"/>
              <a:t>(salary)</a:t>
            </a:r>
          </a:p>
          <a:p>
            <a:pPr>
              <a:buNone/>
            </a:pPr>
            <a:r>
              <a:rPr lang="en-US" dirty="0" smtClean="0"/>
              <a:t>--------------------------------</a:t>
            </a:r>
          </a:p>
          <a:p>
            <a:pPr>
              <a:buNone/>
            </a:pPr>
            <a:r>
              <a:rPr lang="en-US" dirty="0" err="1" smtClean="0"/>
              <a:t>Cmc</a:t>
            </a:r>
            <a:r>
              <a:rPr lang="en-US" dirty="0" smtClean="0"/>
              <a:t>		1750</a:t>
            </a:r>
          </a:p>
          <a:p>
            <a:pPr>
              <a:buNone/>
            </a:pPr>
            <a:r>
              <a:rPr lang="en-US" dirty="0" smtClean="0"/>
              <a:t>Tata		3333.3333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</a:t>
            </a:r>
          </a:p>
          <a:p>
            <a:pPr>
              <a:buNone/>
            </a:pPr>
            <a:r>
              <a:rPr lang="en-US" dirty="0" smtClean="0"/>
              <a:t>Finding the name of the companies having average salary more then 1500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</a:t>
            </a:r>
            <a:r>
              <a:rPr lang="en-US" dirty="0" err="1" smtClean="0"/>
              <a:t>cname</a:t>
            </a:r>
            <a:r>
              <a:rPr lang="en-US" dirty="0" smtClean="0"/>
              <a:t>, </a:t>
            </a:r>
            <a:r>
              <a:rPr lang="en-US" dirty="0" err="1" smtClean="0"/>
              <a:t>avg</a:t>
            </a:r>
            <a:r>
              <a:rPr lang="en-US" dirty="0" smtClean="0"/>
              <a:t>(salary) From </a:t>
            </a:r>
            <a:r>
              <a:rPr lang="en-US" dirty="0" err="1" smtClean="0"/>
              <a:t>emp_company</a:t>
            </a:r>
            <a:r>
              <a:rPr lang="en-US" dirty="0" smtClean="0"/>
              <a:t> group by </a:t>
            </a:r>
            <a:r>
              <a:rPr lang="en-US" dirty="0" err="1" smtClean="0"/>
              <a:t>cname</a:t>
            </a:r>
            <a:r>
              <a:rPr lang="en-US" dirty="0" smtClean="0"/>
              <a:t> having </a:t>
            </a:r>
            <a:r>
              <a:rPr lang="en-US" dirty="0" err="1" smtClean="0"/>
              <a:t>avg</a:t>
            </a:r>
            <a:r>
              <a:rPr lang="en-US" dirty="0" smtClean="0"/>
              <a:t>(salary) &gt; 1500;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Cname</a:t>
            </a:r>
            <a:r>
              <a:rPr lang="en-US" dirty="0" smtClean="0"/>
              <a:t>	</a:t>
            </a:r>
            <a:r>
              <a:rPr lang="en-US" dirty="0" err="1" smtClean="0"/>
              <a:t>avg</a:t>
            </a:r>
            <a:r>
              <a:rPr lang="en-US" dirty="0" smtClean="0"/>
              <a:t>(salary)</a:t>
            </a:r>
          </a:p>
          <a:p>
            <a:pPr>
              <a:buNone/>
            </a:pPr>
            <a:r>
              <a:rPr lang="en-US" dirty="0" smtClean="0"/>
              <a:t>--------------------------------</a:t>
            </a:r>
          </a:p>
          <a:p>
            <a:pPr>
              <a:buNone/>
            </a:pPr>
            <a:r>
              <a:rPr lang="en-US" dirty="0" smtClean="0"/>
              <a:t>ACC		4750	</a:t>
            </a:r>
          </a:p>
          <a:p>
            <a:pPr>
              <a:buNone/>
            </a:pPr>
            <a:r>
              <a:rPr lang="en-US" dirty="0" err="1" smtClean="0"/>
              <a:t>Cmc</a:t>
            </a:r>
            <a:r>
              <a:rPr lang="en-US" dirty="0" smtClean="0"/>
              <a:t>		1750</a:t>
            </a:r>
          </a:p>
          <a:p>
            <a:pPr>
              <a:buNone/>
            </a:pPr>
            <a:r>
              <a:rPr lang="en-US" dirty="0" smtClean="0"/>
              <a:t>Tata		3333.3333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WITH 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Using with clause, you can reduce the overheads for computing the same queries.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Suppose you want to use the result of a certain query repeatedly.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Then you can mark that query using with clause 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Internally oracle forms temporary tables based on results of query and use that tables for the rest of the query evaluation.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Select </a:t>
            </a:r>
            <a:r>
              <a:rPr lang="en-US" dirty="0" err="1" smtClean="0"/>
              <a:t>cname</a:t>
            </a:r>
            <a:r>
              <a:rPr lang="en-US" dirty="0" smtClean="0"/>
              <a:t> , sum(salary) from </a:t>
            </a:r>
            <a:r>
              <a:rPr lang="en-US" dirty="0" err="1" smtClean="0"/>
              <a:t>emp_company</a:t>
            </a:r>
            <a:r>
              <a:rPr lang="en-US" dirty="0" smtClean="0"/>
              <a:t> group by </a:t>
            </a:r>
            <a:r>
              <a:rPr lang="en-US" dirty="0" err="1" smtClean="0"/>
              <a:t>cname</a:t>
            </a:r>
            <a:r>
              <a:rPr lang="en-US" dirty="0" smtClean="0"/>
              <a:t>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err="1" smtClean="0"/>
              <a:t>Cname</a:t>
            </a:r>
            <a:r>
              <a:rPr lang="en-US" dirty="0" smtClean="0"/>
              <a:t>	sum(salary)</a:t>
            </a:r>
          </a:p>
          <a:p>
            <a:pPr>
              <a:buNone/>
            </a:pPr>
            <a:r>
              <a:rPr lang="en-US" dirty="0" smtClean="0"/>
              <a:t>--------------------------------</a:t>
            </a:r>
          </a:p>
          <a:p>
            <a:pPr>
              <a:buNone/>
            </a:pPr>
            <a:r>
              <a:rPr lang="en-US" dirty="0" smtClean="0"/>
              <a:t>ACC		9500	</a:t>
            </a:r>
          </a:p>
          <a:p>
            <a:pPr>
              <a:buNone/>
            </a:pPr>
            <a:r>
              <a:rPr lang="en-US" dirty="0" err="1" smtClean="0"/>
              <a:t>Cmc</a:t>
            </a:r>
            <a:r>
              <a:rPr lang="en-US" dirty="0" smtClean="0"/>
              <a:t>		3500</a:t>
            </a:r>
          </a:p>
          <a:p>
            <a:pPr>
              <a:buNone/>
            </a:pPr>
            <a:r>
              <a:rPr lang="en-US" dirty="0" smtClean="0"/>
              <a:t>Tata		10000</a:t>
            </a:r>
          </a:p>
          <a:p>
            <a:pPr>
              <a:buNone/>
            </a:pPr>
            <a:r>
              <a:rPr lang="en-US" dirty="0" smtClean="0"/>
              <a:t>			1200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following query, the first and second query is named COMPANYSALARY  and COMPANYAVGSALARY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With COMAPNYSALARY AS (select </a:t>
            </a:r>
            <a:r>
              <a:rPr lang="en-US" dirty="0" err="1" smtClean="0"/>
              <a:t>cname</a:t>
            </a:r>
            <a:r>
              <a:rPr lang="en-US" dirty="0" smtClean="0"/>
              <a:t>, sum(salary) TOTALSAL from </a:t>
            </a:r>
            <a:r>
              <a:rPr lang="en-US" dirty="0" err="1" smtClean="0"/>
              <a:t>emp_company</a:t>
            </a:r>
            <a:r>
              <a:rPr lang="en-US" dirty="0" smtClean="0"/>
              <a:t> group by </a:t>
            </a:r>
            <a:r>
              <a:rPr lang="en-US" dirty="0" err="1" smtClean="0"/>
              <a:t>cname</a:t>
            </a:r>
            <a:r>
              <a:rPr lang="en-US" dirty="0" smtClean="0"/>
              <a:t>), COMPANYSALARY AS (select </a:t>
            </a:r>
            <a:r>
              <a:rPr lang="en-US" dirty="0" err="1" smtClean="0"/>
              <a:t>avg</a:t>
            </a:r>
            <a:r>
              <a:rPr lang="en-US" dirty="0" smtClean="0"/>
              <a:t>(TOTALSAL) AVGSAL from COMPANYSALARY) select </a:t>
            </a:r>
            <a:r>
              <a:rPr lang="en-US" dirty="0" err="1" smtClean="0"/>
              <a:t>cname</a:t>
            </a:r>
            <a:r>
              <a:rPr lang="en-US" dirty="0" smtClean="0"/>
              <a:t>, TOTALSAL from COMPANYSALARY where TOTALSAL &gt; (select AVGSAL from COMPANYSAL)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Cname</a:t>
            </a:r>
            <a:r>
              <a:rPr lang="en-US" dirty="0" smtClean="0"/>
              <a:t>	TOTALSAL</a:t>
            </a:r>
          </a:p>
          <a:p>
            <a:pPr>
              <a:buNone/>
            </a:pPr>
            <a:r>
              <a:rPr lang="en-US" dirty="0" smtClean="0"/>
              <a:t>--------------------------------</a:t>
            </a:r>
          </a:p>
          <a:p>
            <a:pPr>
              <a:buNone/>
            </a:pPr>
            <a:r>
              <a:rPr lang="en-US" dirty="0" smtClean="0"/>
              <a:t>ACC		9500	</a:t>
            </a:r>
          </a:p>
          <a:p>
            <a:pPr>
              <a:buNone/>
            </a:pPr>
            <a:r>
              <a:rPr lang="en-US" dirty="0" smtClean="0"/>
              <a:t>Tata		10000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 BY 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You can order your output using ORDER BY CLAUSE.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You can mention multiple column in order by clause</a:t>
            </a:r>
          </a:p>
          <a:p>
            <a:pPr>
              <a:buNone/>
            </a:pPr>
            <a:r>
              <a:rPr lang="en-US" dirty="0" smtClean="0"/>
              <a:t>Example:</a:t>
            </a:r>
          </a:p>
          <a:p>
            <a:pPr>
              <a:buNone/>
            </a:pPr>
            <a:r>
              <a:rPr lang="en-US" dirty="0" smtClean="0"/>
              <a:t>Sorting your output on </a:t>
            </a:r>
            <a:r>
              <a:rPr lang="en-US" dirty="0" err="1" smtClean="0"/>
              <a:t>ename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, </a:t>
            </a:r>
            <a:r>
              <a:rPr lang="en-US" dirty="0" err="1" smtClean="0"/>
              <a:t>cname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order by 1;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err="1" smtClean="0"/>
              <a:t>Ename</a:t>
            </a:r>
            <a:r>
              <a:rPr lang="en-US" dirty="0" smtClean="0"/>
              <a:t>	</a:t>
            </a:r>
            <a:r>
              <a:rPr lang="en-US" dirty="0" err="1" smtClean="0"/>
              <a:t>cname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Ajay		acc</a:t>
            </a:r>
          </a:p>
          <a:p>
            <a:pPr>
              <a:buNone/>
            </a:pPr>
            <a:r>
              <a:rPr lang="en-US" dirty="0" smtClean="0"/>
              <a:t>Anil 		acc</a:t>
            </a:r>
          </a:p>
          <a:p>
            <a:pPr>
              <a:buNone/>
            </a:pPr>
            <a:r>
              <a:rPr lang="en-US" dirty="0" smtClean="0"/>
              <a:t>Ashok 		</a:t>
            </a:r>
          </a:p>
          <a:p>
            <a:pPr>
              <a:buNone/>
            </a:pPr>
            <a:r>
              <a:rPr lang="en-US" dirty="0" smtClean="0"/>
              <a:t>Jaya 		</a:t>
            </a:r>
            <a:r>
              <a:rPr lang="en-US" dirty="0" err="1" smtClean="0"/>
              <a:t>cmc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Prakash</a:t>
            </a:r>
            <a:r>
              <a:rPr lang="en-US" dirty="0" smtClean="0"/>
              <a:t> 	</a:t>
            </a:r>
            <a:r>
              <a:rPr lang="en-US" dirty="0" err="1" smtClean="0"/>
              <a:t>tata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Shanker</a:t>
            </a:r>
            <a:r>
              <a:rPr lang="en-US" dirty="0" smtClean="0"/>
              <a:t> 	</a:t>
            </a:r>
            <a:r>
              <a:rPr lang="en-US" dirty="0" err="1" smtClean="0"/>
              <a:t>tata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Sunil 		</a:t>
            </a:r>
            <a:r>
              <a:rPr lang="en-US" dirty="0" err="1" smtClean="0"/>
              <a:t>cmc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Vijay		</a:t>
            </a:r>
            <a:r>
              <a:rPr lang="en-US" dirty="0" err="1" smtClean="0"/>
              <a:t>tata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Display the output in descending order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, </a:t>
            </a:r>
            <a:r>
              <a:rPr lang="en-US" dirty="0" err="1" smtClean="0"/>
              <a:t>cname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order by 1 </a:t>
            </a:r>
            <a:r>
              <a:rPr lang="en-US" dirty="0" err="1" smtClean="0"/>
              <a:t>desc</a:t>
            </a:r>
            <a:r>
              <a:rPr lang="en-US" dirty="0" smtClean="0"/>
              <a:t>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err="1" smtClean="0"/>
              <a:t>Ename</a:t>
            </a:r>
            <a:r>
              <a:rPr lang="en-US" dirty="0" smtClean="0"/>
              <a:t>	</a:t>
            </a:r>
            <a:r>
              <a:rPr lang="en-US" dirty="0" err="1" smtClean="0"/>
              <a:t>cname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Vijay 		TATA</a:t>
            </a:r>
          </a:p>
          <a:p>
            <a:pPr>
              <a:buNone/>
            </a:pPr>
            <a:r>
              <a:rPr lang="en-US" dirty="0" smtClean="0"/>
              <a:t>Sunil 		CMC</a:t>
            </a:r>
          </a:p>
          <a:p>
            <a:pPr>
              <a:buNone/>
            </a:pPr>
            <a:r>
              <a:rPr lang="en-US" dirty="0" err="1" smtClean="0"/>
              <a:t>Shanker</a:t>
            </a:r>
            <a:r>
              <a:rPr lang="en-US" dirty="0" smtClean="0"/>
              <a:t>  	TATA</a:t>
            </a:r>
          </a:p>
          <a:p>
            <a:pPr>
              <a:buNone/>
            </a:pPr>
            <a:r>
              <a:rPr lang="en-US" dirty="0" err="1" smtClean="0"/>
              <a:t>Prakash</a:t>
            </a:r>
            <a:r>
              <a:rPr lang="en-US" dirty="0" smtClean="0"/>
              <a:t> 	TATA</a:t>
            </a:r>
          </a:p>
          <a:p>
            <a:pPr>
              <a:buNone/>
            </a:pPr>
            <a:r>
              <a:rPr lang="en-US" dirty="0" smtClean="0"/>
              <a:t>Jaya  		CMC	</a:t>
            </a:r>
          </a:p>
          <a:p>
            <a:pPr>
              <a:buNone/>
            </a:pPr>
            <a:r>
              <a:rPr lang="en-US" dirty="0" smtClean="0"/>
              <a:t>Ashok  	</a:t>
            </a:r>
          </a:p>
          <a:p>
            <a:pPr>
              <a:buNone/>
            </a:pPr>
            <a:r>
              <a:rPr lang="en-US" dirty="0" smtClean="0"/>
              <a:t>Anil 		ACC</a:t>
            </a:r>
          </a:p>
          <a:p>
            <a:pPr>
              <a:buNone/>
            </a:pPr>
            <a:r>
              <a:rPr lang="en-US" dirty="0" smtClean="0"/>
              <a:t>Ajay 		ACC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Sorting on </a:t>
            </a:r>
            <a:r>
              <a:rPr lang="en-US" dirty="0" err="1" smtClean="0"/>
              <a:t>cname</a:t>
            </a:r>
            <a:r>
              <a:rPr lang="en-US" dirty="0" smtClean="0"/>
              <a:t> in </a:t>
            </a:r>
            <a:r>
              <a:rPr lang="en-US" dirty="0" err="1" smtClean="0"/>
              <a:t>ascendig</a:t>
            </a:r>
            <a:r>
              <a:rPr lang="en-US" dirty="0" smtClean="0"/>
              <a:t> order, and if </a:t>
            </a:r>
            <a:r>
              <a:rPr lang="en-US" dirty="0" err="1" smtClean="0"/>
              <a:t>cname</a:t>
            </a:r>
            <a:r>
              <a:rPr lang="en-US" dirty="0" smtClean="0"/>
              <a:t> is same, then it is sorted on </a:t>
            </a:r>
            <a:r>
              <a:rPr lang="en-US" dirty="0" err="1" smtClean="0"/>
              <a:t>ename</a:t>
            </a:r>
            <a:r>
              <a:rPr lang="en-US" dirty="0" smtClean="0"/>
              <a:t> in descending order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, </a:t>
            </a:r>
            <a:r>
              <a:rPr lang="en-US" dirty="0" err="1" smtClean="0"/>
              <a:t>cname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order by 2 </a:t>
            </a:r>
            <a:r>
              <a:rPr lang="en-US" dirty="0" err="1" smtClean="0"/>
              <a:t>asc</a:t>
            </a:r>
            <a:r>
              <a:rPr lang="en-US" dirty="0" smtClean="0"/>
              <a:t>, 1 </a:t>
            </a:r>
            <a:r>
              <a:rPr lang="en-US" dirty="0" err="1" smtClean="0"/>
              <a:t>desc</a:t>
            </a:r>
            <a:r>
              <a:rPr lang="en-US" dirty="0" smtClean="0"/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err="1" smtClean="0"/>
              <a:t>Ename</a:t>
            </a:r>
            <a:r>
              <a:rPr lang="en-US" dirty="0" smtClean="0"/>
              <a:t>	</a:t>
            </a:r>
            <a:r>
              <a:rPr lang="en-US" dirty="0" err="1" smtClean="0"/>
              <a:t>cname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Anil 		acc</a:t>
            </a:r>
          </a:p>
          <a:p>
            <a:pPr>
              <a:buNone/>
            </a:pPr>
            <a:r>
              <a:rPr lang="en-US" dirty="0" smtClean="0"/>
              <a:t>Ajay 		acc		</a:t>
            </a:r>
          </a:p>
          <a:p>
            <a:pPr>
              <a:buNone/>
            </a:pPr>
            <a:r>
              <a:rPr lang="en-US" dirty="0" smtClean="0"/>
              <a:t>Sunil  	</a:t>
            </a:r>
            <a:r>
              <a:rPr lang="en-US" dirty="0" err="1" smtClean="0"/>
              <a:t>cmc</a:t>
            </a:r>
            <a:endParaRPr lang="en-US" dirty="0" smtClean="0"/>
          </a:p>
          <a:p>
            <a:pPr>
              <a:buNone/>
            </a:pPr>
            <a:r>
              <a:rPr lang="en-US" smtClean="0"/>
              <a:t>Jaya              cmc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Vijay 		</a:t>
            </a:r>
            <a:r>
              <a:rPr lang="en-US" dirty="0" err="1" smtClean="0"/>
              <a:t>tata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Shanker</a:t>
            </a:r>
            <a:r>
              <a:rPr lang="en-US" dirty="0" smtClean="0"/>
              <a:t> 	</a:t>
            </a:r>
            <a:r>
              <a:rPr lang="en-US" dirty="0" err="1" smtClean="0"/>
              <a:t>tata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Prakash</a:t>
            </a:r>
            <a:r>
              <a:rPr lang="en-US" dirty="0" smtClean="0"/>
              <a:t>  	</a:t>
            </a:r>
            <a:r>
              <a:rPr lang="en-US" dirty="0" err="1" smtClean="0"/>
              <a:t>tata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Ashok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UPDATING AND DELETING DATA IN EXISTING TABLE(DML)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syntax for update statement is as follows:</a:t>
            </a:r>
          </a:p>
          <a:p>
            <a:pPr>
              <a:buNone/>
            </a:pPr>
            <a:r>
              <a:rPr lang="en-US" dirty="0" smtClean="0"/>
              <a:t>Update&lt;table name&gt; set column 1 = , column2 = ……. Where&lt;condition&gt;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update statement first evaluate the condition specified, and if condition is true, the table is updated.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Increasing the salary of an employee by 20%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Query:</a:t>
            </a:r>
          </a:p>
          <a:p>
            <a:pPr>
              <a:buNone/>
            </a:pPr>
            <a:r>
              <a:rPr lang="en-US" dirty="0" smtClean="0"/>
              <a:t>Update </a:t>
            </a:r>
            <a:r>
              <a:rPr lang="en-US" dirty="0" err="1" smtClean="0"/>
              <a:t>emp_company</a:t>
            </a:r>
            <a:r>
              <a:rPr lang="en-US" dirty="0" smtClean="0"/>
              <a:t> set salary = salary* 0.2;</a:t>
            </a:r>
          </a:p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smtClean="0"/>
              <a:t>8 rows updated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Q:</a:t>
            </a:r>
          </a:p>
          <a:p>
            <a:pPr>
              <a:buNone/>
            </a:pPr>
            <a:r>
              <a:rPr lang="en-US" dirty="0" smtClean="0"/>
              <a:t>Updating the salary of employee of company ACC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Update </a:t>
            </a:r>
            <a:r>
              <a:rPr lang="en-US" dirty="0" err="1" smtClean="0"/>
              <a:t>emp_company</a:t>
            </a:r>
            <a:r>
              <a:rPr lang="en-US" dirty="0" smtClean="0"/>
              <a:t> set salary = salary * 1.2 where </a:t>
            </a:r>
            <a:r>
              <a:rPr lang="en-US" dirty="0" err="1" smtClean="0"/>
              <a:t>cname</a:t>
            </a:r>
            <a:r>
              <a:rPr lang="en-US" dirty="0" smtClean="0"/>
              <a:t> = ‘ACC’;</a:t>
            </a:r>
          </a:p>
          <a:p>
            <a:endParaRPr lang="en-US" dirty="0" smtClean="0"/>
          </a:p>
          <a:p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smtClean="0"/>
              <a:t>2 rows updated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Only those rows updated which have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‘ACC’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case the user wants to specify a condition with respect to two or more tables, then it can be done using an in, or exists clause.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Updating the salary of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sunil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only if both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anil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sunil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working in the company ACC- the condition using in, or exists clause is used to check whether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anil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employed with ACC company; another condition is used to check whether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sunil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employed with ACC company.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Update </a:t>
            </a:r>
            <a:r>
              <a:rPr lang="en-US" sz="2800" dirty="0" err="1" smtClean="0"/>
              <a:t>emp_company</a:t>
            </a:r>
            <a:r>
              <a:rPr lang="en-US" sz="2800" dirty="0" smtClean="0"/>
              <a:t> set salary = salary + 100 where </a:t>
            </a:r>
            <a:r>
              <a:rPr lang="en-US" sz="2800" dirty="0" err="1" smtClean="0"/>
              <a:t>ename</a:t>
            </a:r>
            <a:r>
              <a:rPr lang="en-US" sz="2800" dirty="0" smtClean="0"/>
              <a:t> = ‘</a:t>
            </a:r>
            <a:r>
              <a:rPr lang="en-US" sz="2800" dirty="0" err="1" smtClean="0"/>
              <a:t>sunil</a:t>
            </a:r>
            <a:r>
              <a:rPr lang="en-US" sz="2800" dirty="0" smtClean="0"/>
              <a:t>’ and </a:t>
            </a:r>
            <a:r>
              <a:rPr lang="en-US" sz="2800" dirty="0" err="1" smtClean="0"/>
              <a:t>cname</a:t>
            </a:r>
            <a:r>
              <a:rPr lang="en-US" sz="2800" dirty="0" smtClean="0"/>
              <a:t> = ‘ACC’ and exists (select e1. </a:t>
            </a:r>
            <a:r>
              <a:rPr lang="en-US" sz="2800" dirty="0" err="1" smtClean="0"/>
              <a:t>ename</a:t>
            </a:r>
            <a:r>
              <a:rPr lang="en-US" sz="2800" dirty="0" smtClean="0"/>
              <a:t> from </a:t>
            </a:r>
            <a:r>
              <a:rPr lang="en-US" sz="2800" dirty="0" err="1" smtClean="0"/>
              <a:t>emp_company</a:t>
            </a:r>
            <a:r>
              <a:rPr lang="en-US" sz="2800" dirty="0" smtClean="0"/>
              <a:t> e1 where e1.ename = ‘</a:t>
            </a:r>
            <a:r>
              <a:rPr lang="en-US" sz="2800" dirty="0" err="1" smtClean="0"/>
              <a:t>anil</a:t>
            </a:r>
            <a:r>
              <a:rPr lang="en-US" sz="2800" dirty="0" smtClean="0"/>
              <a:t>’ and e1.ename = ‘ACC’);</a:t>
            </a:r>
          </a:p>
          <a:p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Here, the query would be:</a:t>
            </a:r>
          </a:p>
          <a:p>
            <a:pPr>
              <a:buNone/>
            </a:pPr>
            <a:endParaRPr lang="en-US" b="1" dirty="0" smtClean="0"/>
          </a:p>
          <a:p>
            <a:pPr algn="ctr">
              <a:buNone/>
            </a:pPr>
            <a:r>
              <a:rPr lang="en-US" dirty="0" smtClean="0"/>
              <a:t>select e1.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e1 where e1.ename = ‘</a:t>
            </a:r>
            <a:r>
              <a:rPr lang="en-US" dirty="0" err="1" smtClean="0"/>
              <a:t>anil</a:t>
            </a:r>
            <a:r>
              <a:rPr lang="en-US" dirty="0" smtClean="0"/>
              <a:t>’ and e1.ename = ‘ACC’</a:t>
            </a:r>
          </a:p>
          <a:p>
            <a:pPr algn="ctr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Result: 0 rows updated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Q. </a:t>
            </a:r>
          </a:p>
          <a:p>
            <a:pPr>
              <a:buNone/>
            </a:pPr>
            <a:r>
              <a:rPr lang="en-US" dirty="0" smtClean="0"/>
              <a:t>Increasing the salary of employee by 15% who are living in city MADRAS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Update </a:t>
            </a:r>
            <a:r>
              <a:rPr lang="en-US" dirty="0" err="1" smtClean="0"/>
              <a:t>emp_company</a:t>
            </a:r>
            <a:r>
              <a:rPr lang="en-US" dirty="0" smtClean="0"/>
              <a:t> set salary = salary * 1.5 where </a:t>
            </a:r>
            <a:r>
              <a:rPr lang="en-US" dirty="0" err="1" smtClean="0"/>
              <a:t>ename</a:t>
            </a:r>
            <a:r>
              <a:rPr lang="en-US" dirty="0" smtClean="0"/>
              <a:t> in (select </a:t>
            </a:r>
            <a:r>
              <a:rPr lang="en-US" dirty="0" err="1" smtClean="0"/>
              <a:t>ename</a:t>
            </a:r>
            <a:r>
              <a:rPr lang="en-US" dirty="0" smtClean="0"/>
              <a:t> from employee where city = ‘MADRAS’);</a:t>
            </a:r>
          </a:p>
          <a:p>
            <a:endParaRPr lang="en-US" dirty="0" smtClean="0"/>
          </a:p>
          <a:p>
            <a:r>
              <a:rPr lang="en-US" dirty="0" smtClean="0"/>
              <a:t>Result: 2 rows updated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exist 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Delete </a:t>
            </a:r>
            <a:r>
              <a:rPr lang="en-US" dirty="0" err="1" smtClean="0"/>
              <a:t>emp_company</a:t>
            </a:r>
            <a:r>
              <a:rPr lang="en-US" dirty="0" smtClean="0"/>
              <a:t> where exists (select ‘x’ from employee where </a:t>
            </a:r>
            <a:r>
              <a:rPr lang="en-US" dirty="0" err="1" smtClean="0"/>
              <a:t>employee.ename</a:t>
            </a:r>
            <a:r>
              <a:rPr lang="en-US" dirty="0" smtClean="0"/>
              <a:t> = </a:t>
            </a:r>
            <a:r>
              <a:rPr lang="en-US" dirty="0" err="1" smtClean="0"/>
              <a:t>emp_company.ename</a:t>
            </a:r>
            <a:r>
              <a:rPr lang="en-US" dirty="0" smtClean="0"/>
              <a:t> and city = ‘</a:t>
            </a:r>
            <a:r>
              <a:rPr lang="en-US" dirty="0" err="1" smtClean="0"/>
              <a:t>bombay</a:t>
            </a:r>
            <a:r>
              <a:rPr lang="en-US" dirty="0" smtClean="0"/>
              <a:t>’);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DELETING ROW FROM A TABLE(DML)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Q:</a:t>
            </a:r>
          </a:p>
          <a:p>
            <a:pPr>
              <a:buNone/>
            </a:pPr>
            <a:r>
              <a:rPr lang="en-US" dirty="0" smtClean="0"/>
              <a:t>Deleting all rows from employee having city madras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Delete employee where city = ‘MADRAS’;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Q:</a:t>
            </a:r>
          </a:p>
          <a:p>
            <a:pPr>
              <a:buNone/>
            </a:pPr>
            <a:r>
              <a:rPr lang="en-US" dirty="0" smtClean="0"/>
              <a:t>Deleting rows of </a:t>
            </a:r>
            <a:r>
              <a:rPr lang="en-US" dirty="0" err="1" smtClean="0"/>
              <a:t>emp_company</a:t>
            </a:r>
            <a:r>
              <a:rPr lang="en-US" dirty="0" smtClean="0"/>
              <a:t> with salary greater than 8000, employee living in city MADRAS, and his company is located in city  BOMBAY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RESULT:</a:t>
            </a:r>
          </a:p>
          <a:p>
            <a:pPr>
              <a:buNone/>
            </a:pPr>
            <a:r>
              <a:rPr lang="en-US" dirty="0" smtClean="0"/>
              <a:t>0 rows deleted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VIEWS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Usually data is stored in multiple tables to avoid redundancy or repetition of data sometimes writing a query on different relations or tale becomes more complex than writing a query on a single table, so views are used to give a simplified representation of data. </a:t>
            </a:r>
          </a:p>
          <a:p>
            <a:r>
              <a:rPr lang="en-US" dirty="0" smtClean="0"/>
              <a:t>Suppose the query is to display the names of employees living in the same city where their company is located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</a:t>
            </a:r>
            <a:r>
              <a:rPr lang="en-US" dirty="0" err="1" smtClean="0"/>
              <a:t>emp_company.ename</a:t>
            </a:r>
            <a:r>
              <a:rPr lang="en-US" dirty="0" smtClean="0"/>
              <a:t> from  </a:t>
            </a:r>
            <a:r>
              <a:rPr lang="en-US" dirty="0" err="1" smtClean="0"/>
              <a:t>emp_company</a:t>
            </a:r>
            <a:r>
              <a:rPr lang="en-US" dirty="0" smtClean="0"/>
              <a:t>, employee, company where </a:t>
            </a:r>
            <a:r>
              <a:rPr lang="en-US" dirty="0" err="1" smtClean="0"/>
              <a:t>emp_company.ename</a:t>
            </a:r>
            <a:r>
              <a:rPr lang="en-US" dirty="0" smtClean="0"/>
              <a:t> = </a:t>
            </a:r>
            <a:r>
              <a:rPr lang="en-US" dirty="0" err="1" smtClean="0"/>
              <a:t>employee.ename</a:t>
            </a:r>
            <a:r>
              <a:rPr lang="en-US" dirty="0" smtClean="0"/>
              <a:t> and </a:t>
            </a:r>
            <a:r>
              <a:rPr lang="en-US" dirty="0" err="1" smtClean="0"/>
              <a:t>emp_company.cname</a:t>
            </a:r>
            <a:r>
              <a:rPr lang="en-US" dirty="0" smtClean="0"/>
              <a:t>= </a:t>
            </a:r>
            <a:r>
              <a:rPr lang="en-US" dirty="0" err="1" smtClean="0"/>
              <a:t>company.cname</a:t>
            </a:r>
            <a:r>
              <a:rPr lang="en-US" dirty="0" smtClean="0"/>
              <a:t> and </a:t>
            </a:r>
            <a:r>
              <a:rPr lang="en-US" dirty="0" err="1" smtClean="0"/>
              <a:t>employee.city</a:t>
            </a:r>
            <a:r>
              <a:rPr lang="en-US" dirty="0" smtClean="0"/>
              <a:t> = </a:t>
            </a:r>
            <a:r>
              <a:rPr lang="en-US" dirty="0" err="1" smtClean="0"/>
              <a:t>company.city</a:t>
            </a:r>
            <a:r>
              <a:rPr lang="en-US" dirty="0" smtClean="0"/>
              <a:t>;</a:t>
            </a:r>
          </a:p>
          <a:p>
            <a:r>
              <a:rPr lang="en-US" dirty="0" smtClean="0"/>
              <a:t>In the above query you have to take the join of three tables with the appropriate where condition.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instead of these tree tables, let us say you are having a table:</a:t>
            </a:r>
          </a:p>
          <a:p>
            <a:endParaRPr lang="en-US" dirty="0" smtClean="0"/>
          </a:p>
          <a:p>
            <a:r>
              <a:rPr lang="en-US" dirty="0" err="1" smtClean="0"/>
              <a:t>Emp_cmp_emp</a:t>
            </a:r>
            <a:r>
              <a:rPr lang="en-US" dirty="0" smtClean="0"/>
              <a:t> with column as </a:t>
            </a:r>
            <a:r>
              <a:rPr lang="en-US" dirty="0" err="1" smtClean="0"/>
              <a:t>emp_cmp_emp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ename</a:t>
            </a:r>
            <a:r>
              <a:rPr lang="en-US" dirty="0" smtClean="0"/>
              <a:t>  </a:t>
            </a:r>
            <a:r>
              <a:rPr lang="en-US" dirty="0" err="1" smtClean="0"/>
              <a:t>cname</a:t>
            </a:r>
            <a:r>
              <a:rPr lang="en-US" dirty="0" smtClean="0"/>
              <a:t>  </a:t>
            </a:r>
            <a:r>
              <a:rPr lang="en-US" dirty="0" err="1" smtClean="0"/>
              <a:t>sal</a:t>
            </a:r>
            <a:r>
              <a:rPr lang="en-US" dirty="0" smtClean="0"/>
              <a:t>  </a:t>
            </a:r>
            <a:r>
              <a:rPr lang="en-US" dirty="0" err="1" smtClean="0"/>
              <a:t>jdate</a:t>
            </a:r>
            <a:r>
              <a:rPr lang="en-US" dirty="0" smtClean="0"/>
              <a:t>  </a:t>
            </a:r>
            <a:r>
              <a:rPr lang="en-US" dirty="0" err="1" smtClean="0"/>
              <a:t>lcity</a:t>
            </a:r>
            <a:r>
              <a:rPr lang="en-US" dirty="0" smtClean="0"/>
              <a:t>  </a:t>
            </a:r>
            <a:r>
              <a:rPr lang="en-US" dirty="0" err="1" smtClean="0"/>
              <a:t>ccity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Where </a:t>
            </a:r>
            <a:r>
              <a:rPr lang="en-US" dirty="0" err="1" smtClean="0"/>
              <a:t>lcity</a:t>
            </a:r>
            <a:r>
              <a:rPr lang="en-US" dirty="0" smtClean="0"/>
              <a:t> is living city and </a:t>
            </a:r>
            <a:r>
              <a:rPr lang="en-US" dirty="0" err="1" smtClean="0"/>
              <a:t>ccity</a:t>
            </a:r>
            <a:r>
              <a:rPr lang="en-US" dirty="0" smtClean="0"/>
              <a:t> is company city. Then you can write a query as: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Select </a:t>
            </a:r>
            <a:r>
              <a:rPr lang="en-US" dirty="0" err="1" smtClean="0"/>
              <a:t>ename</a:t>
            </a:r>
            <a:r>
              <a:rPr lang="en-US" dirty="0" smtClean="0"/>
              <a:t> from </a:t>
            </a:r>
            <a:r>
              <a:rPr lang="en-US" dirty="0" err="1" smtClean="0"/>
              <a:t>emp_cmp_emp</a:t>
            </a:r>
            <a:r>
              <a:rPr lang="en-US" dirty="0" smtClean="0"/>
              <a:t> where </a:t>
            </a:r>
            <a:r>
              <a:rPr lang="en-US" dirty="0" err="1" smtClean="0"/>
              <a:t>lcity</a:t>
            </a:r>
            <a:r>
              <a:rPr lang="en-US" dirty="0" smtClean="0"/>
              <a:t> = </a:t>
            </a:r>
            <a:r>
              <a:rPr lang="en-US" dirty="0" err="1" smtClean="0"/>
              <a:t>ccity</a:t>
            </a:r>
            <a:r>
              <a:rPr lang="en-US" dirty="0" smtClean="0"/>
              <a:t>;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view can be created using the following statement: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Create view </a:t>
            </a:r>
            <a:r>
              <a:rPr lang="en-US" dirty="0" err="1" smtClean="0"/>
              <a:t>emp_cmp_emp</a:t>
            </a:r>
            <a:r>
              <a:rPr lang="en-US" dirty="0" smtClean="0"/>
              <a:t> as </a:t>
            </a:r>
          </a:p>
          <a:p>
            <a:pPr>
              <a:buNone/>
            </a:pPr>
            <a:r>
              <a:rPr lang="en-US" dirty="0" smtClean="0"/>
              <a:t>    select </a:t>
            </a:r>
            <a:r>
              <a:rPr lang="en-US" dirty="0" err="1" smtClean="0"/>
              <a:t>emp_company.ename</a:t>
            </a:r>
            <a:r>
              <a:rPr lang="en-US" dirty="0" smtClean="0"/>
              <a:t>, </a:t>
            </a:r>
            <a:r>
              <a:rPr lang="en-US" dirty="0" err="1" smtClean="0"/>
              <a:t>emp_company.cname</a:t>
            </a:r>
            <a:r>
              <a:rPr lang="en-US" dirty="0" smtClean="0"/>
              <a:t>, </a:t>
            </a:r>
            <a:r>
              <a:rPr lang="en-US" dirty="0" err="1" smtClean="0"/>
              <a:t>emp_company.salary</a:t>
            </a:r>
            <a:r>
              <a:rPr lang="en-US" dirty="0" smtClean="0"/>
              <a:t>, </a:t>
            </a:r>
            <a:r>
              <a:rPr lang="en-US" dirty="0" err="1" smtClean="0"/>
              <a:t>emp_company.jdate</a:t>
            </a:r>
            <a:r>
              <a:rPr lang="en-US" dirty="0" smtClean="0"/>
              <a:t>, </a:t>
            </a:r>
            <a:r>
              <a:rPr lang="en-US" dirty="0" err="1" smtClean="0"/>
              <a:t>employee.city</a:t>
            </a:r>
            <a:r>
              <a:rPr lang="en-US" dirty="0" smtClean="0"/>
              <a:t> </a:t>
            </a:r>
            <a:r>
              <a:rPr lang="en-US" dirty="0" err="1" smtClean="0"/>
              <a:t>lcity</a:t>
            </a:r>
            <a:r>
              <a:rPr lang="en-US" dirty="0" smtClean="0"/>
              <a:t>, </a:t>
            </a:r>
            <a:r>
              <a:rPr lang="en-US" dirty="0" err="1" smtClean="0"/>
              <a:t>company.city</a:t>
            </a:r>
            <a:r>
              <a:rPr lang="en-US" dirty="0" smtClean="0"/>
              <a:t> </a:t>
            </a:r>
            <a:r>
              <a:rPr lang="en-US" dirty="0" err="1" smtClean="0"/>
              <a:t>ccity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from </a:t>
            </a:r>
            <a:r>
              <a:rPr lang="en-US" dirty="0" err="1" smtClean="0"/>
              <a:t>emp_company</a:t>
            </a:r>
            <a:r>
              <a:rPr lang="en-US" dirty="0" smtClean="0"/>
              <a:t>, employee, company where </a:t>
            </a:r>
            <a:r>
              <a:rPr lang="en-US" dirty="0" err="1" smtClean="0"/>
              <a:t>emp_company.ename</a:t>
            </a:r>
            <a:r>
              <a:rPr lang="en-US" dirty="0" smtClean="0"/>
              <a:t> = </a:t>
            </a:r>
            <a:r>
              <a:rPr lang="en-US" dirty="0" err="1" smtClean="0"/>
              <a:t>employee.ename</a:t>
            </a:r>
            <a:r>
              <a:rPr lang="en-US" dirty="0" smtClean="0"/>
              <a:t>, and </a:t>
            </a:r>
            <a:r>
              <a:rPr lang="en-US" dirty="0" err="1" smtClean="0"/>
              <a:t>emp_company.cname</a:t>
            </a:r>
            <a:r>
              <a:rPr lang="en-US" dirty="0" smtClean="0"/>
              <a:t> = </a:t>
            </a:r>
            <a:r>
              <a:rPr lang="en-US" dirty="0" err="1" smtClean="0"/>
              <a:t>company.cname</a:t>
            </a:r>
            <a:r>
              <a:rPr lang="en-US" dirty="0" smtClean="0"/>
              <a:t>;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View created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column in the view are same as that of the select statement used. 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user view is used as an ordinary table in select statement, but view does not have its own storage.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data is retrieved from view, it is actually retrieved from the table that constitutes the view.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So, when you are retrieving data from the view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emp_cmp_emp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data is actually retrieved from tables,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emp_company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employee and company.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You can do DML operation using views.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Q: Create a view V1 as select </a:t>
            </a:r>
            <a:r>
              <a:rPr lang="en-US" dirty="0" err="1" smtClean="0"/>
              <a:t>ename</a:t>
            </a:r>
            <a:r>
              <a:rPr lang="en-US" dirty="0" smtClean="0"/>
              <a:t>, salary, </a:t>
            </a:r>
            <a:r>
              <a:rPr lang="en-US" dirty="0" err="1" smtClean="0"/>
              <a:t>cname</a:t>
            </a:r>
            <a:r>
              <a:rPr lang="en-US" dirty="0" smtClean="0"/>
              <a:t> from </a:t>
            </a:r>
            <a:r>
              <a:rPr lang="en-US" dirty="0" err="1" smtClean="0"/>
              <a:t>emp_company</a:t>
            </a:r>
            <a:r>
              <a:rPr lang="en-US" dirty="0" smtClean="0"/>
              <a:t> where </a:t>
            </a:r>
            <a:r>
              <a:rPr lang="en-US" dirty="0" err="1" smtClean="0"/>
              <a:t>cname</a:t>
            </a:r>
            <a:r>
              <a:rPr lang="en-US" dirty="0" smtClean="0"/>
              <a:t> = ‘ACC’;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mtClean="0"/>
              <a:t>VIEW CREATED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2933</Words>
  <Application>Microsoft Office PowerPoint</Application>
  <PresentationFormat>On-screen Show (4:3)</PresentationFormat>
  <Paragraphs>553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5" baseType="lpstr">
      <vt:lpstr>Arial</vt:lpstr>
      <vt:lpstr>Calibri</vt:lpstr>
      <vt:lpstr>Cambria</vt:lpstr>
      <vt:lpstr>Times New Roman</vt:lpstr>
      <vt:lpstr>Wingdings</vt:lpstr>
      <vt:lpstr>Office Theme</vt:lpstr>
      <vt:lpstr>SQL</vt:lpstr>
      <vt:lpstr>PowerPoint Presentation</vt:lpstr>
      <vt:lpstr>IN operator</vt:lpstr>
      <vt:lpstr>PowerPoint Presentation</vt:lpstr>
      <vt:lpstr>Between Operation</vt:lpstr>
      <vt:lpstr>PowerPoint Presentation</vt:lpstr>
      <vt:lpstr>PowerPoint Presentation</vt:lpstr>
      <vt:lpstr>employee </vt:lpstr>
      <vt:lpstr>emp_company </vt:lpstr>
      <vt:lpstr>company </vt:lpstr>
      <vt:lpstr>manager </vt:lpstr>
      <vt:lpstr>emp_shift </vt:lpstr>
      <vt:lpstr>BASIC SET OPERATIONS</vt:lpstr>
      <vt:lpstr>UNION</vt:lpstr>
      <vt:lpstr>PowerPoint Presentation</vt:lpstr>
      <vt:lpstr>INTERSECT OPERATION</vt:lpstr>
      <vt:lpstr>PowerPoint Presentation</vt:lpstr>
      <vt:lpstr>PowerPoint Presentation</vt:lpstr>
      <vt:lpstr>PowerPoint Presentation</vt:lpstr>
      <vt:lpstr>result</vt:lpstr>
      <vt:lpstr>MINUS OPERATION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Clause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EXISTS CLAUSE</vt:lpstr>
      <vt:lpstr>PowerPoint Presentation</vt:lpstr>
      <vt:lpstr>PowerPoint Presentation</vt:lpstr>
      <vt:lpstr>PowerPoint Presentation</vt:lpstr>
      <vt:lpstr>PowerPoint Presentation</vt:lpstr>
      <vt:lpstr>SQL VALUE OPERATOR</vt:lpstr>
      <vt:lpstr>Example</vt:lpstr>
      <vt:lpstr>PowerPoint Presentation</vt:lpstr>
      <vt:lpstr>+, -  operators</vt:lpstr>
      <vt:lpstr>PowerPoint Presentation</vt:lpstr>
      <vt:lpstr>PowerPoint Presentation</vt:lpstr>
      <vt:lpstr>PowerPoint Presentation</vt:lpstr>
      <vt:lpstr>PowerPoint Presentation</vt:lpstr>
      <vt:lpstr>*,   /  operators</vt:lpstr>
      <vt:lpstr>II operator</vt:lpstr>
      <vt:lpstr>PowerPoint Presentation</vt:lpstr>
      <vt:lpstr>= operator</vt:lpstr>
      <vt:lpstr>!=  or  &lt;&gt; operator</vt:lpstr>
      <vt:lpstr>Aggregate functions</vt:lpstr>
      <vt:lpstr>PowerPoint Presentation</vt:lpstr>
      <vt:lpstr>Group By Clause</vt:lpstr>
      <vt:lpstr>PowerPoint Presentation</vt:lpstr>
      <vt:lpstr>PowerPoint Presentation</vt:lpstr>
      <vt:lpstr>PowerPoint Presentation</vt:lpstr>
      <vt:lpstr>PowerPoint Presentation</vt:lpstr>
      <vt:lpstr>HAVING CLAUSE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WITH CLAUSE</vt:lpstr>
      <vt:lpstr>PowerPoint Presentation</vt:lpstr>
      <vt:lpstr>PowerPoint Presentation</vt:lpstr>
      <vt:lpstr>PowerPoint Presentation</vt:lpstr>
      <vt:lpstr>PowerPoint Presentation</vt:lpstr>
      <vt:lpstr>ORDER BY CLAUSE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UPDATING AND DELETING DATA IN EXISTING TABLE(DML)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exist clause</vt:lpstr>
      <vt:lpstr>DELETING ROW FROM A TABLE(DML)</vt:lpstr>
      <vt:lpstr>PowerPoint Presentation</vt:lpstr>
      <vt:lpstr>PowerPoint Presentation</vt:lpstr>
      <vt:lpstr>PowerPoint Presentation</vt:lpstr>
      <vt:lpstr>VIEWS</vt:lpstr>
      <vt:lpstr>PowerPoint Presentation</vt:lpstr>
      <vt:lpstr>PowerPoint Presentation</vt:lpstr>
      <vt:lpstr>PowerPoint Presentation</vt:lpstr>
      <vt:lpstr>A view can be created using the following statement: </vt:lpstr>
      <vt:lpstr>PowerPoint Presentation</vt:lpstr>
      <vt:lpstr>You can do DML operation using views.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SACHIN</dc:creator>
  <cp:lastModifiedBy>learn</cp:lastModifiedBy>
  <cp:revision>81</cp:revision>
  <dcterms:created xsi:type="dcterms:W3CDTF">2007-01-02T03:09:04Z</dcterms:created>
  <dcterms:modified xsi:type="dcterms:W3CDTF">2024-01-19T11:30:51Z</dcterms:modified>
</cp:coreProperties>
</file>