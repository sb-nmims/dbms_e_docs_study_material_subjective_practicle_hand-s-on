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98" r:id="rId10"/>
    <p:sldId id="299" r:id="rId11"/>
    <p:sldId id="264" r:id="rId12"/>
    <p:sldId id="265" r:id="rId13"/>
    <p:sldId id="266" r:id="rId14"/>
    <p:sldId id="267" r:id="rId15"/>
    <p:sldId id="269" r:id="rId16"/>
    <p:sldId id="270" r:id="rId17"/>
    <p:sldId id="300" r:id="rId18"/>
    <p:sldId id="301" r:id="rId19"/>
    <p:sldId id="272" r:id="rId20"/>
    <p:sldId id="273" r:id="rId21"/>
    <p:sldId id="274" r:id="rId22"/>
    <p:sldId id="275" r:id="rId23"/>
    <p:sldId id="276" r:id="rId24"/>
    <p:sldId id="277" r:id="rId25"/>
    <p:sldId id="302" r:id="rId26"/>
    <p:sldId id="303" r:id="rId27"/>
    <p:sldId id="304" r:id="rId28"/>
    <p:sldId id="305" r:id="rId29"/>
    <p:sldId id="278" r:id="rId30"/>
    <p:sldId id="279" r:id="rId31"/>
    <p:sldId id="280" r:id="rId32"/>
    <p:sldId id="281" r:id="rId33"/>
    <p:sldId id="282" r:id="rId34"/>
    <p:sldId id="283" r:id="rId35"/>
    <p:sldId id="284" r:id="rId36"/>
    <p:sldId id="286" r:id="rId37"/>
    <p:sldId id="288" r:id="rId38"/>
    <p:sldId id="290" r:id="rId39"/>
    <p:sldId id="291" r:id="rId40"/>
    <p:sldId id="292" r:id="rId41"/>
    <p:sldId id="293" r:id="rId42"/>
    <p:sldId id="294" r:id="rId43"/>
    <p:sldId id="295" r:id="rId44"/>
    <p:sldId id="296" r:id="rId45"/>
    <p:sldId id="297"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0C1BA2A-9FED-4DF5-B39F-848510AE4AC5}"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102537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0C1BA2A-9FED-4DF5-B39F-848510AE4AC5}"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1420600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0C1BA2A-9FED-4DF5-B39F-848510AE4AC5}"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487574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0C1BA2A-9FED-4DF5-B39F-848510AE4AC5}" type="datetimeFigureOut">
              <a:rPr lang="en-IN" smtClean="0"/>
              <a:t>14-12-2023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2445982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0C1BA2A-9FED-4DF5-B39F-848510AE4AC5}" type="datetimeFigureOut">
              <a:rPr lang="en-IN" smtClean="0"/>
              <a:t>14-12-2023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1567620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0C1BA2A-9FED-4DF5-B39F-848510AE4AC5}" type="datetimeFigureOut">
              <a:rPr lang="en-IN" smtClean="0"/>
              <a:t>14-12-2023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3944565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C1BA2A-9FED-4DF5-B39F-848510AE4AC5}" type="datetimeFigureOut">
              <a:rPr lang="en-IN" smtClean="0"/>
              <a:t>14-12-2023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2899065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0C1BA2A-9FED-4DF5-B39F-848510AE4AC5}" type="datetimeFigureOut">
              <a:rPr lang="en-IN" smtClean="0"/>
              <a:t>14-12-2023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841094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0C1BA2A-9FED-4DF5-B39F-848510AE4AC5}" type="datetimeFigureOut">
              <a:rPr lang="en-IN" smtClean="0"/>
              <a:t>14-12-2023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3948818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0C1BA2A-9FED-4DF5-B39F-848510AE4AC5}"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2446667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0C1BA2A-9FED-4DF5-B39F-848510AE4AC5}"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F78D29-0EFC-4DB8-AA91-BFF392A042FA}" type="slidenum">
              <a:rPr lang="en-IN" smtClean="0"/>
              <a:t>‹#›</a:t>
            </a:fld>
            <a:endParaRPr lang="en-IN"/>
          </a:p>
        </p:txBody>
      </p:sp>
    </p:spTree>
    <p:extLst>
      <p:ext uri="{BB962C8B-B14F-4D97-AF65-F5344CB8AC3E}">
        <p14:creationId xmlns:p14="http://schemas.microsoft.com/office/powerpoint/2010/main" val="64401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1BA2A-9FED-4DF5-B39F-848510AE4AC5}" type="datetimeFigureOut">
              <a:rPr lang="en-IN" smtClean="0"/>
              <a:t>14-12-2023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F78D29-0EFC-4DB8-AA91-BFF392A042FA}" type="slidenum">
              <a:rPr lang="en-IN" smtClean="0"/>
              <a:t>‹#›</a:t>
            </a:fld>
            <a:endParaRPr lang="en-IN"/>
          </a:p>
        </p:txBody>
      </p:sp>
    </p:spTree>
    <p:extLst>
      <p:ext uri="{BB962C8B-B14F-4D97-AF65-F5344CB8AC3E}">
        <p14:creationId xmlns:p14="http://schemas.microsoft.com/office/powerpoint/2010/main" val="2536170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DBMS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773604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What is Database</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The database is a collection of inter-related data which is used to retrieve, insert and delete the data efficiently. It is also used to organize the data in the form of a table, schema, views, and reports, etc. </a:t>
            </a:r>
          </a:p>
          <a:p>
            <a:pPr algn="just"/>
            <a:r>
              <a:rPr lang="en-IN" b="1" dirty="0" smtClean="0"/>
              <a:t>For example:</a:t>
            </a:r>
            <a:r>
              <a:rPr lang="en-IN" dirty="0" smtClean="0"/>
              <a:t> The college Database organizes the data about the admin, staff, students and faculty etc.</a:t>
            </a:r>
          </a:p>
          <a:p>
            <a:pPr algn="just"/>
            <a:r>
              <a:rPr lang="en-IN" dirty="0" smtClean="0"/>
              <a:t>Using the database, you can easily retrieve, insert, and delete the information.</a:t>
            </a:r>
          </a:p>
          <a:p>
            <a:endParaRPr lang="en-IN" dirty="0"/>
          </a:p>
        </p:txBody>
      </p:sp>
    </p:spTree>
    <p:extLst>
      <p:ext uri="{BB962C8B-B14F-4D97-AF65-F5344CB8AC3E}">
        <p14:creationId xmlns:p14="http://schemas.microsoft.com/office/powerpoint/2010/main" val="15693887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Database Management System</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Database management system is a software which is used to manage the database. For example: MySQL, Oracle, </a:t>
            </a:r>
            <a:r>
              <a:rPr lang="en-IN" dirty="0" err="1" smtClean="0"/>
              <a:t>etc</a:t>
            </a:r>
            <a:r>
              <a:rPr lang="en-IN" dirty="0" smtClean="0"/>
              <a:t> are a very popular commercial database which is used in different applications.</a:t>
            </a:r>
          </a:p>
          <a:p>
            <a:pPr algn="just"/>
            <a:r>
              <a:rPr lang="en-IN" dirty="0" smtClean="0"/>
              <a:t>DBMS provides an interface to perform various operations like database creation, storing data in it, updating data, creating a table in the database and a lot more.</a:t>
            </a:r>
          </a:p>
          <a:p>
            <a:pPr algn="just"/>
            <a:r>
              <a:rPr lang="en-IN" dirty="0" smtClean="0"/>
              <a:t>It provides protection and security to the database. In the case of multiple users, it also maintains data consistency. </a:t>
            </a:r>
          </a:p>
          <a:p>
            <a:endParaRPr lang="en-IN" dirty="0"/>
          </a:p>
        </p:txBody>
      </p:sp>
    </p:spTree>
    <p:extLst>
      <p:ext uri="{BB962C8B-B14F-4D97-AF65-F5344CB8AC3E}">
        <p14:creationId xmlns:p14="http://schemas.microsoft.com/office/powerpoint/2010/main" val="31052894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DBMS allows users the following tasks:</a:t>
            </a:r>
            <a:endParaRPr lang="en-IN" dirty="0"/>
          </a:p>
        </p:txBody>
      </p:sp>
      <p:sp>
        <p:nvSpPr>
          <p:cNvPr id="3" name="Content Placeholder 2"/>
          <p:cNvSpPr>
            <a:spLocks noGrp="1"/>
          </p:cNvSpPr>
          <p:nvPr>
            <p:ph idx="1"/>
          </p:nvPr>
        </p:nvSpPr>
        <p:spPr/>
        <p:txBody>
          <a:bodyPr/>
          <a:lstStyle/>
          <a:p>
            <a:pPr algn="just"/>
            <a:r>
              <a:rPr lang="en-IN" b="1" dirty="0" smtClean="0"/>
              <a:t>Data Definition:</a:t>
            </a:r>
            <a:r>
              <a:rPr lang="en-IN" dirty="0" smtClean="0"/>
              <a:t> It is used for creation, modification, and removal of definition that defines the organization of data in the database.</a:t>
            </a:r>
          </a:p>
          <a:p>
            <a:pPr algn="just"/>
            <a:r>
              <a:rPr lang="en-IN" b="1" dirty="0" smtClean="0"/>
              <a:t>Data </a:t>
            </a:r>
            <a:r>
              <a:rPr lang="en-IN" b="1" dirty="0" err="1" smtClean="0"/>
              <a:t>Updation</a:t>
            </a:r>
            <a:r>
              <a:rPr lang="en-IN" b="1" dirty="0" smtClean="0"/>
              <a:t>:</a:t>
            </a:r>
            <a:r>
              <a:rPr lang="en-IN" dirty="0" smtClean="0"/>
              <a:t> It is used for the insertion, modification, and deletion of the actual data in the database.</a:t>
            </a:r>
          </a:p>
          <a:p>
            <a:pPr algn="just"/>
            <a:r>
              <a:rPr lang="en-IN" b="1" dirty="0" smtClean="0"/>
              <a:t>Data Retrieval:</a:t>
            </a:r>
            <a:r>
              <a:rPr lang="en-IN" dirty="0" smtClean="0"/>
              <a:t> It is used to retrieve the data from the database which can be used by applications for various purposes.</a:t>
            </a:r>
          </a:p>
          <a:p>
            <a:pPr algn="just"/>
            <a:r>
              <a:rPr lang="en-IN" b="1" dirty="0" smtClean="0"/>
              <a:t>User Administration:</a:t>
            </a:r>
            <a:r>
              <a:rPr lang="en-IN" dirty="0" smtClean="0"/>
              <a:t> It is used for registering and monitoring users, maintain data integrity, enforcing data security, dealing with concurrency control, monitoring performance and recovering information corrupted by unexpected failure.</a:t>
            </a:r>
          </a:p>
          <a:p>
            <a:endParaRPr lang="en-IN" dirty="0"/>
          </a:p>
        </p:txBody>
      </p:sp>
    </p:spTree>
    <p:extLst>
      <p:ext uri="{BB962C8B-B14F-4D97-AF65-F5344CB8AC3E}">
        <p14:creationId xmlns:p14="http://schemas.microsoft.com/office/powerpoint/2010/main" val="13749430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Characteristics of DBMS</a:t>
            </a:r>
            <a:br>
              <a:rPr lang="en-IN" b="1" dirty="0" smtClean="0"/>
            </a:br>
            <a:endParaRPr lang="en-IN" dirty="0"/>
          </a:p>
        </p:txBody>
      </p:sp>
      <p:sp>
        <p:nvSpPr>
          <p:cNvPr id="3" name="Content Placeholder 2"/>
          <p:cNvSpPr>
            <a:spLocks noGrp="1"/>
          </p:cNvSpPr>
          <p:nvPr>
            <p:ph idx="1"/>
          </p:nvPr>
        </p:nvSpPr>
        <p:spPr>
          <a:xfrm>
            <a:off x="838200" y="1040524"/>
            <a:ext cx="10515600" cy="5136439"/>
          </a:xfrm>
        </p:spPr>
        <p:txBody>
          <a:bodyPr>
            <a:normAutofit/>
          </a:bodyPr>
          <a:lstStyle/>
          <a:p>
            <a:pPr algn="just"/>
            <a:r>
              <a:rPr lang="en-IN" sz="2400" dirty="0" smtClean="0"/>
              <a:t>It uses a digital repository established on a server to store and manage the information. </a:t>
            </a:r>
          </a:p>
          <a:p>
            <a:pPr algn="just"/>
            <a:r>
              <a:rPr lang="en-IN" sz="2400" dirty="0" smtClean="0"/>
              <a:t>It can provide a clear and logical view of the process that manipulates data.</a:t>
            </a:r>
          </a:p>
          <a:p>
            <a:pPr algn="just"/>
            <a:r>
              <a:rPr lang="en-IN" sz="2400" dirty="0" smtClean="0"/>
              <a:t>DBMS contains automatic backup and recovery procedures.</a:t>
            </a:r>
          </a:p>
          <a:p>
            <a:pPr algn="just"/>
            <a:r>
              <a:rPr lang="en-IN" sz="2400" dirty="0" smtClean="0"/>
              <a:t>It contains ACID properties which maintain data in a healthy state in case of failure. </a:t>
            </a:r>
          </a:p>
          <a:p>
            <a:pPr algn="just"/>
            <a:r>
              <a:rPr lang="en-IN" sz="2400" dirty="0" smtClean="0"/>
              <a:t>It can reduce the complex relationship between data.</a:t>
            </a:r>
          </a:p>
          <a:p>
            <a:pPr algn="just"/>
            <a:r>
              <a:rPr lang="en-IN" sz="2400" dirty="0" smtClean="0"/>
              <a:t>It is used to support manipulation and processing of data.</a:t>
            </a:r>
          </a:p>
          <a:p>
            <a:pPr algn="just"/>
            <a:r>
              <a:rPr lang="en-IN" sz="2400" dirty="0" smtClean="0"/>
              <a:t>It is used to provide security of data.</a:t>
            </a:r>
          </a:p>
          <a:p>
            <a:pPr algn="just"/>
            <a:r>
              <a:rPr lang="en-IN" sz="2400" dirty="0" smtClean="0"/>
              <a:t>It can view the database from different viewpoints according to the requirements of the user.</a:t>
            </a:r>
          </a:p>
          <a:p>
            <a:endParaRPr lang="en-IN" dirty="0"/>
          </a:p>
        </p:txBody>
      </p:sp>
    </p:spTree>
    <p:extLst>
      <p:ext uri="{BB962C8B-B14F-4D97-AF65-F5344CB8AC3E}">
        <p14:creationId xmlns:p14="http://schemas.microsoft.com/office/powerpoint/2010/main" val="32923360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Advantages of DBMS</a:t>
            </a:r>
            <a:br>
              <a:rPr lang="en-IN" b="1" dirty="0" smtClean="0"/>
            </a:br>
            <a:endParaRPr lang="en-IN" dirty="0"/>
          </a:p>
        </p:txBody>
      </p:sp>
      <p:sp>
        <p:nvSpPr>
          <p:cNvPr id="3" name="Content Placeholder 2"/>
          <p:cNvSpPr>
            <a:spLocks noGrp="1"/>
          </p:cNvSpPr>
          <p:nvPr>
            <p:ph idx="1"/>
          </p:nvPr>
        </p:nvSpPr>
        <p:spPr>
          <a:xfrm>
            <a:off x="838200" y="977462"/>
            <a:ext cx="10515600" cy="5602014"/>
          </a:xfrm>
        </p:spPr>
        <p:txBody>
          <a:bodyPr>
            <a:normAutofit/>
          </a:bodyPr>
          <a:lstStyle/>
          <a:p>
            <a:pPr algn="just"/>
            <a:r>
              <a:rPr lang="en-IN" sz="2400" b="1" dirty="0" smtClean="0"/>
              <a:t>Controls database redundancy:</a:t>
            </a:r>
            <a:r>
              <a:rPr lang="en-IN" sz="2400" dirty="0" smtClean="0"/>
              <a:t> It can control data redundancy because it stores all the data in one single database file and that recorded data is placed in the database. </a:t>
            </a:r>
          </a:p>
          <a:p>
            <a:pPr algn="just"/>
            <a:r>
              <a:rPr lang="en-IN" sz="2400" b="1" dirty="0" smtClean="0"/>
              <a:t>Data sharing:</a:t>
            </a:r>
            <a:r>
              <a:rPr lang="en-IN" sz="2400" dirty="0" smtClean="0"/>
              <a:t> In DBMS, the authorized users of an organization can share the data among multiple users.</a:t>
            </a:r>
          </a:p>
          <a:p>
            <a:pPr algn="just"/>
            <a:r>
              <a:rPr lang="en-IN" sz="2400" b="1" dirty="0" smtClean="0"/>
              <a:t>Easily Maintenance:</a:t>
            </a:r>
            <a:r>
              <a:rPr lang="en-IN" sz="2400" dirty="0" smtClean="0"/>
              <a:t> It can be easily maintainable due to the centralized nature of the database system.</a:t>
            </a:r>
          </a:p>
          <a:p>
            <a:pPr algn="just"/>
            <a:r>
              <a:rPr lang="en-IN" sz="2400" b="1" dirty="0" smtClean="0"/>
              <a:t>Reduce time:</a:t>
            </a:r>
            <a:r>
              <a:rPr lang="en-IN" sz="2400" dirty="0" smtClean="0"/>
              <a:t> It reduces development time and maintenance need.</a:t>
            </a:r>
          </a:p>
          <a:p>
            <a:pPr algn="just"/>
            <a:r>
              <a:rPr lang="en-IN" sz="2400" b="1" dirty="0" smtClean="0"/>
              <a:t>Backup:</a:t>
            </a:r>
            <a:r>
              <a:rPr lang="en-IN" sz="2400" dirty="0" smtClean="0"/>
              <a:t> It provides backup and recovery subsystems which create automatic backup of data from hardware and software failures and restores the data if required.</a:t>
            </a:r>
          </a:p>
          <a:p>
            <a:pPr algn="just"/>
            <a:r>
              <a:rPr lang="en-IN" sz="2400" b="1" dirty="0" smtClean="0"/>
              <a:t>multiple user interface:</a:t>
            </a:r>
            <a:r>
              <a:rPr lang="en-IN" sz="2400" dirty="0" smtClean="0"/>
              <a:t> It provides different types of user interfaces like graphical user interfaces, application program interfaces</a:t>
            </a:r>
          </a:p>
          <a:p>
            <a:endParaRPr lang="en-IN" dirty="0"/>
          </a:p>
        </p:txBody>
      </p:sp>
    </p:spTree>
    <p:extLst>
      <p:ext uri="{BB962C8B-B14F-4D97-AF65-F5344CB8AC3E}">
        <p14:creationId xmlns:p14="http://schemas.microsoft.com/office/powerpoint/2010/main" val="1170634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Disadvantages of DBMS</a:t>
            </a:r>
            <a:br>
              <a:rPr lang="en-IN" b="1" dirty="0" smtClean="0"/>
            </a:br>
            <a:endParaRPr lang="en-IN" dirty="0"/>
          </a:p>
        </p:txBody>
      </p:sp>
      <p:sp>
        <p:nvSpPr>
          <p:cNvPr id="3" name="Content Placeholder 2"/>
          <p:cNvSpPr>
            <a:spLocks noGrp="1"/>
          </p:cNvSpPr>
          <p:nvPr>
            <p:ph idx="1"/>
          </p:nvPr>
        </p:nvSpPr>
        <p:spPr>
          <a:xfrm>
            <a:off x="838200" y="1093076"/>
            <a:ext cx="10515600" cy="5391807"/>
          </a:xfrm>
        </p:spPr>
        <p:txBody>
          <a:bodyPr/>
          <a:lstStyle/>
          <a:p>
            <a:pPr algn="just"/>
            <a:r>
              <a:rPr lang="en-IN" sz="2400" b="1" dirty="0" smtClean="0"/>
              <a:t>Cost of Hardware and Software:</a:t>
            </a:r>
            <a:r>
              <a:rPr lang="en-IN" sz="2400" dirty="0" smtClean="0"/>
              <a:t> It requires a high speed of data processor and large memory size to run DBMS software. </a:t>
            </a:r>
          </a:p>
          <a:p>
            <a:pPr algn="just"/>
            <a:r>
              <a:rPr lang="en-IN" sz="2400" b="1" dirty="0" smtClean="0"/>
              <a:t>Size:</a:t>
            </a:r>
            <a:r>
              <a:rPr lang="en-IN" sz="2400" dirty="0" smtClean="0"/>
              <a:t> It occupies a large space of disks and large memory to run them efficiently.</a:t>
            </a:r>
          </a:p>
          <a:p>
            <a:pPr algn="just"/>
            <a:r>
              <a:rPr lang="en-IN" sz="2400" b="1" dirty="0" smtClean="0"/>
              <a:t>Complexity:</a:t>
            </a:r>
            <a:r>
              <a:rPr lang="en-IN" sz="2400" dirty="0" smtClean="0"/>
              <a:t> Database system creates additional complexity and requirements. </a:t>
            </a:r>
          </a:p>
          <a:p>
            <a:pPr algn="just"/>
            <a:r>
              <a:rPr lang="en-IN" sz="2400" b="1" dirty="0" smtClean="0"/>
              <a:t>Higher impact of failure:</a:t>
            </a:r>
            <a:r>
              <a:rPr lang="en-IN" sz="2400" dirty="0" smtClean="0"/>
              <a:t> Failure is highly impacted the database because in most of the organization, all the data stored in a single database and if the database is damaged due to electric failure or database corruption then the data may be lost forever.</a:t>
            </a:r>
          </a:p>
          <a:p>
            <a:endParaRPr lang="en-IN" dirty="0"/>
          </a:p>
        </p:txBody>
      </p:sp>
    </p:spTree>
    <p:extLst>
      <p:ext uri="{BB962C8B-B14F-4D97-AF65-F5344CB8AC3E}">
        <p14:creationId xmlns:p14="http://schemas.microsoft.com/office/powerpoint/2010/main" val="1165553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algn="just"/>
            <a:r>
              <a:rPr lang="en-IN" b="1" dirty="0" smtClean="0"/>
              <a:t>Database Management System</a:t>
            </a:r>
            <a:r>
              <a:rPr lang="en-IN" dirty="0" smtClean="0"/>
              <a:t> or </a:t>
            </a:r>
            <a:r>
              <a:rPr lang="en-IN" b="1" dirty="0" smtClean="0"/>
              <a:t>DBMS</a:t>
            </a:r>
            <a:r>
              <a:rPr lang="en-IN" dirty="0" smtClean="0"/>
              <a:t> in short refers to the technology of storing and retrieving </a:t>
            </a:r>
            <a:r>
              <a:rPr lang="en-IN" dirty="0" err="1" smtClean="0"/>
              <a:t>usersí</a:t>
            </a:r>
            <a:r>
              <a:rPr lang="en-IN" dirty="0" smtClean="0"/>
              <a:t> data with utmost efficiency along with appropriate security measures. </a:t>
            </a:r>
          </a:p>
          <a:p>
            <a:pPr algn="just"/>
            <a:r>
              <a:rPr lang="en-IN" dirty="0" smtClean="0"/>
              <a:t>The basics of DBMS such as its architecture, data models, data schemas, data independence, E-R model, relation model, relational database design, and storage and file structure and much more are explain here.</a:t>
            </a:r>
            <a:endParaRPr lang="en-IN" dirty="0"/>
          </a:p>
        </p:txBody>
      </p:sp>
    </p:spTree>
    <p:extLst>
      <p:ext uri="{BB962C8B-B14F-4D97-AF65-F5344CB8AC3E}">
        <p14:creationId xmlns:p14="http://schemas.microsoft.com/office/powerpoint/2010/main" val="26348372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7534" y="697384"/>
            <a:ext cx="5731809" cy="390982"/>
          </a:xfrm>
          <a:prstGeom prst="rect">
            <a:avLst/>
          </a:prstGeom>
        </p:spPr>
        <p:txBody>
          <a:bodyPr vert="horz" wrap="square" lIns="0" tIns="10646" rIns="0" bIns="0" rtlCol="0" anchor="ctr">
            <a:spAutoFit/>
          </a:bodyPr>
          <a:lstStyle/>
          <a:p>
            <a:pPr marL="11206">
              <a:lnSpc>
                <a:spcPct val="100000"/>
              </a:lnSpc>
              <a:spcBef>
                <a:spcPts val="84"/>
              </a:spcBef>
            </a:pPr>
            <a:r>
              <a:rPr sz="2471" b="1" spc="-4" dirty="0">
                <a:solidFill>
                  <a:srgbClr val="0000FF"/>
                </a:solidFill>
                <a:latin typeface="Arial"/>
                <a:cs typeface="Arial"/>
              </a:rPr>
              <a:t>Drawbacks of File processing</a:t>
            </a:r>
            <a:r>
              <a:rPr sz="2471" b="1" spc="44" dirty="0">
                <a:solidFill>
                  <a:srgbClr val="0000FF"/>
                </a:solidFill>
                <a:latin typeface="Arial"/>
                <a:cs typeface="Arial"/>
              </a:rPr>
              <a:t> </a:t>
            </a:r>
            <a:r>
              <a:rPr sz="2471" b="1" spc="4" dirty="0">
                <a:solidFill>
                  <a:srgbClr val="0000FF"/>
                </a:solidFill>
                <a:latin typeface="Arial"/>
                <a:cs typeface="Arial"/>
              </a:rPr>
              <a:t>system:</a:t>
            </a:r>
            <a:endParaRPr sz="2471">
              <a:latin typeface="Arial"/>
              <a:cs typeface="Arial"/>
            </a:endParaRPr>
          </a:p>
        </p:txBody>
      </p:sp>
      <p:sp>
        <p:nvSpPr>
          <p:cNvPr id="3" name="object 3"/>
          <p:cNvSpPr txBox="1"/>
          <p:nvPr/>
        </p:nvSpPr>
        <p:spPr>
          <a:xfrm>
            <a:off x="2467535" y="1364429"/>
            <a:ext cx="6491007" cy="4636812"/>
          </a:xfrm>
          <a:prstGeom prst="rect">
            <a:avLst/>
          </a:prstGeom>
        </p:spPr>
        <p:txBody>
          <a:bodyPr vert="horz" wrap="square" lIns="0" tIns="96931" rIns="0" bIns="0" rtlCol="0">
            <a:spAutoFit/>
          </a:bodyPr>
          <a:lstStyle/>
          <a:p>
            <a:pPr marL="11206">
              <a:spcBef>
                <a:spcPts val="763"/>
              </a:spcBef>
            </a:pPr>
            <a:r>
              <a:rPr sz="1588" spc="-4" dirty="0">
                <a:solidFill>
                  <a:srgbClr val="FF33CC"/>
                </a:solidFill>
                <a:latin typeface="Arial"/>
                <a:cs typeface="Arial"/>
              </a:rPr>
              <a:t>•Data redundancy and</a:t>
            </a:r>
            <a:r>
              <a:rPr sz="1588" spc="9" dirty="0">
                <a:solidFill>
                  <a:srgbClr val="FF33CC"/>
                </a:solidFill>
                <a:latin typeface="Arial"/>
                <a:cs typeface="Arial"/>
              </a:rPr>
              <a:t> </a:t>
            </a:r>
            <a:r>
              <a:rPr sz="1588" spc="-4" dirty="0">
                <a:solidFill>
                  <a:srgbClr val="FF33CC"/>
                </a:solidFill>
                <a:latin typeface="Arial"/>
                <a:cs typeface="Arial"/>
              </a:rPr>
              <a:t>inconsistency</a:t>
            </a:r>
            <a:endParaRPr sz="1588">
              <a:latin typeface="Arial"/>
              <a:cs typeface="Arial"/>
            </a:endParaRPr>
          </a:p>
          <a:p>
            <a:pPr marL="817513">
              <a:spcBef>
                <a:spcPts val="679"/>
              </a:spcBef>
            </a:pPr>
            <a:r>
              <a:rPr sz="1235" dirty="0">
                <a:solidFill>
                  <a:srgbClr val="33CC33"/>
                </a:solidFill>
                <a:latin typeface="Webdings"/>
                <a:cs typeface="Webdings"/>
              </a:rPr>
              <a:t></a:t>
            </a:r>
            <a:r>
              <a:rPr sz="1588" dirty="0">
                <a:latin typeface="Arial"/>
                <a:cs typeface="Arial"/>
              </a:rPr>
              <a:t>Multiple </a:t>
            </a:r>
            <a:r>
              <a:rPr sz="1588" spc="-4" dirty="0">
                <a:latin typeface="Arial"/>
                <a:cs typeface="Arial"/>
              </a:rPr>
              <a:t>file </a:t>
            </a:r>
            <a:r>
              <a:rPr sz="1588" dirty="0">
                <a:latin typeface="Arial"/>
                <a:cs typeface="Arial"/>
              </a:rPr>
              <a:t>formats, </a:t>
            </a:r>
            <a:r>
              <a:rPr sz="1588" spc="-4" dirty="0">
                <a:latin typeface="Arial"/>
                <a:cs typeface="Arial"/>
              </a:rPr>
              <a:t>duplication </a:t>
            </a:r>
            <a:r>
              <a:rPr sz="1588" dirty="0">
                <a:latin typeface="Arial"/>
                <a:cs typeface="Arial"/>
              </a:rPr>
              <a:t>of </a:t>
            </a:r>
            <a:r>
              <a:rPr sz="1588" spc="-4" dirty="0">
                <a:latin typeface="Arial"/>
                <a:cs typeface="Arial"/>
              </a:rPr>
              <a:t>information in </a:t>
            </a:r>
            <a:r>
              <a:rPr sz="1588" dirty="0">
                <a:latin typeface="Arial"/>
                <a:cs typeface="Arial"/>
              </a:rPr>
              <a:t>different</a:t>
            </a:r>
            <a:r>
              <a:rPr sz="1588" spc="71" dirty="0">
                <a:latin typeface="Arial"/>
                <a:cs typeface="Arial"/>
              </a:rPr>
              <a:t> </a:t>
            </a:r>
            <a:r>
              <a:rPr sz="1588" spc="-4" dirty="0">
                <a:latin typeface="Arial"/>
                <a:cs typeface="Arial"/>
              </a:rPr>
              <a:t>files</a:t>
            </a:r>
            <a:endParaRPr sz="1588">
              <a:latin typeface="Arial"/>
              <a:cs typeface="Arial"/>
            </a:endParaRPr>
          </a:p>
          <a:p>
            <a:pPr>
              <a:spcBef>
                <a:spcPts val="26"/>
              </a:spcBef>
            </a:pPr>
            <a:endParaRPr sz="1632">
              <a:latin typeface="Arial"/>
              <a:cs typeface="Arial"/>
            </a:endParaRPr>
          </a:p>
          <a:p>
            <a:pPr marL="138400" indent="-127754">
              <a:buChar char="•"/>
              <a:tabLst>
                <a:tab pos="138960" algn="l"/>
              </a:tabLst>
            </a:pPr>
            <a:r>
              <a:rPr sz="1588" dirty="0">
                <a:solidFill>
                  <a:srgbClr val="FF33CC"/>
                </a:solidFill>
                <a:latin typeface="Arial"/>
                <a:cs typeface="Arial"/>
              </a:rPr>
              <a:t>Difficulty </a:t>
            </a:r>
            <a:r>
              <a:rPr sz="1588" spc="-4" dirty="0">
                <a:solidFill>
                  <a:srgbClr val="FF33CC"/>
                </a:solidFill>
                <a:latin typeface="Arial"/>
                <a:cs typeface="Arial"/>
              </a:rPr>
              <a:t>in accessing</a:t>
            </a:r>
            <a:r>
              <a:rPr sz="1588" dirty="0">
                <a:solidFill>
                  <a:srgbClr val="FF33CC"/>
                </a:solidFill>
                <a:latin typeface="Arial"/>
                <a:cs typeface="Arial"/>
              </a:rPr>
              <a:t> </a:t>
            </a:r>
            <a:r>
              <a:rPr sz="1588" spc="-4" dirty="0">
                <a:solidFill>
                  <a:srgbClr val="FF33CC"/>
                </a:solidFill>
                <a:latin typeface="Arial"/>
                <a:cs typeface="Arial"/>
              </a:rPr>
              <a:t>data</a:t>
            </a:r>
            <a:endParaRPr sz="1588">
              <a:latin typeface="Arial"/>
              <a:cs typeface="Arial"/>
            </a:endParaRPr>
          </a:p>
          <a:p>
            <a:pPr marL="817513">
              <a:spcBef>
                <a:spcPts val="679"/>
              </a:spcBef>
            </a:pPr>
            <a:r>
              <a:rPr sz="1235" dirty="0">
                <a:solidFill>
                  <a:srgbClr val="33CC33"/>
                </a:solidFill>
                <a:latin typeface="Webdings"/>
                <a:cs typeface="Webdings"/>
              </a:rPr>
              <a:t></a:t>
            </a:r>
            <a:r>
              <a:rPr sz="1588" dirty="0">
                <a:latin typeface="Arial"/>
                <a:cs typeface="Arial"/>
              </a:rPr>
              <a:t>Need to </a:t>
            </a:r>
            <a:r>
              <a:rPr sz="1588" spc="-4" dirty="0">
                <a:latin typeface="Arial"/>
                <a:cs typeface="Arial"/>
              </a:rPr>
              <a:t>write a new program </a:t>
            </a:r>
            <a:r>
              <a:rPr sz="1588" dirty="0">
                <a:latin typeface="Arial"/>
                <a:cs typeface="Arial"/>
              </a:rPr>
              <a:t>to carry out </a:t>
            </a:r>
            <a:r>
              <a:rPr sz="1588" spc="-4" dirty="0">
                <a:latin typeface="Arial"/>
                <a:cs typeface="Arial"/>
              </a:rPr>
              <a:t>each new</a:t>
            </a:r>
            <a:r>
              <a:rPr sz="1588" spc="26" dirty="0">
                <a:latin typeface="Arial"/>
                <a:cs typeface="Arial"/>
              </a:rPr>
              <a:t> </a:t>
            </a:r>
            <a:r>
              <a:rPr sz="1588" dirty="0">
                <a:latin typeface="Arial"/>
                <a:cs typeface="Arial"/>
              </a:rPr>
              <a:t>task</a:t>
            </a:r>
            <a:endParaRPr sz="1588">
              <a:latin typeface="Arial"/>
              <a:cs typeface="Arial"/>
            </a:endParaRPr>
          </a:p>
          <a:p>
            <a:pPr>
              <a:spcBef>
                <a:spcPts val="22"/>
              </a:spcBef>
            </a:pPr>
            <a:endParaRPr sz="1632">
              <a:latin typeface="Arial"/>
              <a:cs typeface="Arial"/>
            </a:endParaRPr>
          </a:p>
          <a:p>
            <a:pPr marL="11206" marR="129435">
              <a:lnSpc>
                <a:spcPct val="100299"/>
              </a:lnSpc>
              <a:buChar char="•"/>
              <a:tabLst>
                <a:tab pos="138960" algn="l"/>
                <a:tab pos="4889948" algn="l"/>
              </a:tabLst>
            </a:pPr>
            <a:r>
              <a:rPr sz="1588" spc="-4" dirty="0">
                <a:solidFill>
                  <a:srgbClr val="FF33CC"/>
                </a:solidFill>
                <a:latin typeface="Arial"/>
                <a:cs typeface="Arial"/>
              </a:rPr>
              <a:t>Data isolation </a:t>
            </a:r>
            <a:r>
              <a:rPr sz="1588" spc="-4" dirty="0">
                <a:latin typeface="Arial"/>
                <a:cs typeface="Arial"/>
              </a:rPr>
              <a:t>– since data </a:t>
            </a:r>
            <a:r>
              <a:rPr sz="1588" dirty="0">
                <a:latin typeface="Arial"/>
                <a:cs typeface="Arial"/>
              </a:rPr>
              <a:t>scattered </a:t>
            </a:r>
            <a:r>
              <a:rPr sz="1588" spc="-4" dirty="0">
                <a:latin typeface="Arial"/>
                <a:cs typeface="Arial"/>
              </a:rPr>
              <a:t>in</a:t>
            </a:r>
            <a:r>
              <a:rPr sz="1588" spc="137" dirty="0">
                <a:latin typeface="Arial"/>
                <a:cs typeface="Arial"/>
              </a:rPr>
              <a:t> </a:t>
            </a:r>
            <a:r>
              <a:rPr sz="1588" spc="-4" dirty="0">
                <a:latin typeface="Arial"/>
                <a:cs typeface="Arial"/>
              </a:rPr>
              <a:t>various</a:t>
            </a:r>
            <a:r>
              <a:rPr sz="1588" spc="18" dirty="0">
                <a:latin typeface="Arial"/>
                <a:cs typeface="Arial"/>
              </a:rPr>
              <a:t> </a:t>
            </a:r>
            <a:r>
              <a:rPr sz="1588" spc="-4" dirty="0">
                <a:latin typeface="Arial"/>
                <a:cs typeface="Arial"/>
              </a:rPr>
              <a:t>files	</a:t>
            </a:r>
            <a:r>
              <a:rPr sz="1588" dirty="0">
                <a:latin typeface="Arial"/>
                <a:cs typeface="Arial"/>
              </a:rPr>
              <a:t>&amp; </a:t>
            </a:r>
            <a:r>
              <a:rPr sz="1588" spc="-4" dirty="0">
                <a:latin typeface="Arial"/>
                <a:cs typeface="Arial"/>
              </a:rPr>
              <a:t>files in</a:t>
            </a:r>
            <a:r>
              <a:rPr sz="1588" spc="-26" dirty="0">
                <a:latin typeface="Arial"/>
                <a:cs typeface="Arial"/>
              </a:rPr>
              <a:t> </a:t>
            </a:r>
            <a:r>
              <a:rPr sz="1588" spc="-9" dirty="0">
                <a:latin typeface="Arial"/>
                <a:cs typeface="Arial"/>
              </a:rPr>
              <a:t>various  </a:t>
            </a:r>
            <a:r>
              <a:rPr sz="1588" dirty="0">
                <a:latin typeface="Arial"/>
                <a:cs typeface="Arial"/>
              </a:rPr>
              <a:t>format, it </a:t>
            </a:r>
            <a:r>
              <a:rPr sz="1588" spc="-4" dirty="0">
                <a:latin typeface="Arial"/>
                <a:cs typeface="Arial"/>
              </a:rPr>
              <a:t>is </a:t>
            </a:r>
            <a:r>
              <a:rPr sz="1588" dirty="0">
                <a:latin typeface="Arial"/>
                <a:cs typeface="Arial"/>
              </a:rPr>
              <a:t>difficult to </a:t>
            </a:r>
            <a:r>
              <a:rPr sz="1588" spc="-4" dirty="0">
                <a:latin typeface="Arial"/>
                <a:cs typeface="Arial"/>
              </a:rPr>
              <a:t>write new application program </a:t>
            </a:r>
            <a:r>
              <a:rPr sz="1588" dirty="0">
                <a:latin typeface="Arial"/>
                <a:cs typeface="Arial"/>
              </a:rPr>
              <a:t>to </a:t>
            </a:r>
            <a:r>
              <a:rPr sz="1588" spc="-4" dirty="0">
                <a:latin typeface="Arial"/>
                <a:cs typeface="Arial"/>
              </a:rPr>
              <a:t>retrieve  appropriate </a:t>
            </a:r>
            <a:r>
              <a:rPr sz="1588" dirty="0">
                <a:latin typeface="Arial"/>
                <a:cs typeface="Arial"/>
              </a:rPr>
              <a:t>data.</a:t>
            </a:r>
            <a:endParaRPr sz="1588">
              <a:latin typeface="Arial"/>
              <a:cs typeface="Arial"/>
            </a:endParaRPr>
          </a:p>
          <a:p>
            <a:pPr>
              <a:spcBef>
                <a:spcPts val="31"/>
              </a:spcBef>
              <a:buClr>
                <a:srgbClr val="FF33CC"/>
              </a:buClr>
              <a:buFont typeface="Arial"/>
              <a:buChar char="•"/>
            </a:pPr>
            <a:endParaRPr sz="1632">
              <a:latin typeface="Arial"/>
              <a:cs typeface="Arial"/>
            </a:endParaRPr>
          </a:p>
          <a:p>
            <a:pPr marL="137279" indent="-126633">
              <a:buChar char="•"/>
              <a:tabLst>
                <a:tab pos="137840" algn="l"/>
              </a:tabLst>
            </a:pPr>
            <a:r>
              <a:rPr sz="1588" dirty="0">
                <a:solidFill>
                  <a:srgbClr val="FF33CC"/>
                </a:solidFill>
                <a:latin typeface="Arial"/>
                <a:cs typeface="Arial"/>
              </a:rPr>
              <a:t>Integrity</a:t>
            </a:r>
            <a:r>
              <a:rPr sz="1588" spc="-4" dirty="0">
                <a:solidFill>
                  <a:srgbClr val="FF33CC"/>
                </a:solidFill>
                <a:latin typeface="Arial"/>
                <a:cs typeface="Arial"/>
              </a:rPr>
              <a:t> problems</a:t>
            </a:r>
            <a:endParaRPr sz="1588">
              <a:latin typeface="Arial"/>
              <a:cs typeface="Arial"/>
            </a:endParaRPr>
          </a:p>
          <a:p>
            <a:pPr marL="11206" marR="354685" indent="898199">
              <a:tabLst>
                <a:tab pos="1232713" algn="l"/>
              </a:tabLst>
            </a:pPr>
            <a:r>
              <a:rPr sz="1588" spc="-4" dirty="0">
                <a:latin typeface="Arial"/>
                <a:cs typeface="Arial"/>
              </a:rPr>
              <a:t>Data value stored in database </a:t>
            </a:r>
            <a:r>
              <a:rPr sz="1588" dirty="0">
                <a:latin typeface="Arial"/>
                <a:cs typeface="Arial"/>
              </a:rPr>
              <a:t>must satisfy </a:t>
            </a:r>
            <a:r>
              <a:rPr sz="1588" spc="-4" dirty="0">
                <a:latin typeface="Arial"/>
                <a:cs typeface="Arial"/>
              </a:rPr>
              <a:t>certain </a:t>
            </a:r>
            <a:r>
              <a:rPr sz="1588" dirty="0">
                <a:latin typeface="Arial"/>
                <a:cs typeface="Arial"/>
              </a:rPr>
              <a:t>types of  </a:t>
            </a:r>
            <a:r>
              <a:rPr sz="1588" spc="-4" dirty="0">
                <a:latin typeface="Arial"/>
                <a:cs typeface="Arial"/>
              </a:rPr>
              <a:t>consistency	</a:t>
            </a:r>
            <a:r>
              <a:rPr sz="1588" dirty="0">
                <a:latin typeface="Arial"/>
                <a:cs typeface="Arial"/>
              </a:rPr>
              <a:t>constraints</a:t>
            </a:r>
            <a:endParaRPr sz="1588">
              <a:latin typeface="Arial"/>
              <a:cs typeface="Arial"/>
            </a:endParaRPr>
          </a:p>
          <a:p>
            <a:pPr marL="817513" marR="479637">
              <a:spcBef>
                <a:spcPts val="675"/>
              </a:spcBef>
              <a:tabLst>
                <a:tab pos="2892392" algn="l"/>
              </a:tabLst>
            </a:pPr>
            <a:r>
              <a:rPr sz="1235" dirty="0">
                <a:solidFill>
                  <a:srgbClr val="33CC33"/>
                </a:solidFill>
                <a:latin typeface="Webdings"/>
                <a:cs typeface="Webdings"/>
              </a:rPr>
              <a:t></a:t>
            </a:r>
            <a:r>
              <a:rPr sz="1235" spc="132" dirty="0">
                <a:solidFill>
                  <a:srgbClr val="33CC33"/>
                </a:solidFill>
                <a:latin typeface="Times New Roman"/>
                <a:cs typeface="Times New Roman"/>
              </a:rPr>
              <a:t> </a:t>
            </a:r>
            <a:r>
              <a:rPr sz="1588" dirty="0">
                <a:latin typeface="Arial"/>
                <a:cs typeface="Arial"/>
              </a:rPr>
              <a:t>Integrity constraints	(e.g. </a:t>
            </a:r>
            <a:r>
              <a:rPr sz="1588" spc="-4" dirty="0">
                <a:latin typeface="Arial"/>
                <a:cs typeface="Arial"/>
              </a:rPr>
              <a:t>account balance </a:t>
            </a:r>
            <a:r>
              <a:rPr sz="1588" dirty="0">
                <a:latin typeface="Arial"/>
                <a:cs typeface="Arial"/>
              </a:rPr>
              <a:t>&gt; </a:t>
            </a:r>
            <a:r>
              <a:rPr sz="1588" spc="-4" dirty="0">
                <a:latin typeface="Arial"/>
                <a:cs typeface="Arial"/>
              </a:rPr>
              <a:t>0) become  “buried” in program code</a:t>
            </a:r>
            <a:r>
              <a:rPr sz="1588" spc="4" dirty="0">
                <a:latin typeface="Arial"/>
                <a:cs typeface="Arial"/>
              </a:rPr>
              <a:t> </a:t>
            </a:r>
            <a:r>
              <a:rPr sz="1588" dirty="0">
                <a:latin typeface="Arial"/>
                <a:cs typeface="Arial"/>
              </a:rPr>
              <a:t>.</a:t>
            </a:r>
            <a:endParaRPr sz="1588">
              <a:latin typeface="Arial"/>
              <a:cs typeface="Arial"/>
            </a:endParaRPr>
          </a:p>
          <a:p>
            <a:pPr>
              <a:spcBef>
                <a:spcPts val="49"/>
              </a:spcBef>
            </a:pPr>
            <a:endParaRPr sz="2206">
              <a:latin typeface="Arial"/>
              <a:cs typeface="Arial"/>
            </a:endParaRPr>
          </a:p>
          <a:p>
            <a:pPr marL="817513"/>
            <a:r>
              <a:rPr sz="1235" dirty="0">
                <a:solidFill>
                  <a:srgbClr val="33CC33"/>
                </a:solidFill>
                <a:latin typeface="Webdings"/>
                <a:cs typeface="Webdings"/>
              </a:rPr>
              <a:t></a:t>
            </a:r>
            <a:r>
              <a:rPr sz="1588" dirty="0">
                <a:latin typeface="Arial"/>
                <a:cs typeface="Arial"/>
              </a:rPr>
              <a:t>Hard to </a:t>
            </a:r>
            <a:r>
              <a:rPr sz="1588" spc="-4" dirty="0">
                <a:latin typeface="Arial"/>
                <a:cs typeface="Arial"/>
              </a:rPr>
              <a:t>add new </a:t>
            </a:r>
            <a:r>
              <a:rPr sz="1588" dirty="0">
                <a:latin typeface="Arial"/>
                <a:cs typeface="Arial"/>
              </a:rPr>
              <a:t>constraints </a:t>
            </a:r>
            <a:r>
              <a:rPr sz="1588" spc="-4" dirty="0">
                <a:latin typeface="Arial"/>
                <a:cs typeface="Arial"/>
              </a:rPr>
              <a:t>or change existing</a:t>
            </a:r>
            <a:r>
              <a:rPr sz="1588" spc="22" dirty="0">
                <a:latin typeface="Arial"/>
                <a:cs typeface="Arial"/>
              </a:rPr>
              <a:t> </a:t>
            </a:r>
            <a:r>
              <a:rPr sz="1588" spc="-4" dirty="0">
                <a:latin typeface="Arial"/>
                <a:cs typeface="Arial"/>
              </a:rPr>
              <a:t>ones</a:t>
            </a:r>
            <a:endParaRPr sz="1588">
              <a:latin typeface="Arial"/>
              <a:cs typeface="Arial"/>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3269420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67534" y="697453"/>
            <a:ext cx="6322359" cy="4337137"/>
          </a:xfrm>
          <a:prstGeom prst="rect">
            <a:avLst/>
          </a:prstGeom>
        </p:spPr>
        <p:txBody>
          <a:bodyPr vert="horz" wrap="square" lIns="0" tIns="76760" rIns="0" bIns="0" rtlCol="0">
            <a:spAutoFit/>
          </a:bodyPr>
          <a:lstStyle/>
          <a:p>
            <a:pPr marL="138400" indent="-127754">
              <a:spcBef>
                <a:spcPts val="604"/>
              </a:spcBef>
              <a:buChar char="•"/>
              <a:tabLst>
                <a:tab pos="138960" algn="l"/>
              </a:tabLst>
            </a:pPr>
            <a:r>
              <a:rPr sz="1588" dirty="0">
                <a:solidFill>
                  <a:srgbClr val="FF33CC"/>
                </a:solidFill>
                <a:latin typeface="Arial"/>
                <a:cs typeface="Arial"/>
              </a:rPr>
              <a:t>Atomicity of</a:t>
            </a:r>
            <a:r>
              <a:rPr sz="1588" spc="-4" dirty="0">
                <a:solidFill>
                  <a:srgbClr val="FF33CC"/>
                </a:solidFill>
                <a:latin typeface="Arial"/>
                <a:cs typeface="Arial"/>
              </a:rPr>
              <a:t> updates</a:t>
            </a:r>
            <a:endParaRPr sz="1588">
              <a:latin typeface="Arial"/>
              <a:cs typeface="Arial"/>
            </a:endParaRPr>
          </a:p>
          <a:p>
            <a:pPr marL="818073" marR="239258">
              <a:lnSpc>
                <a:spcPts val="1730"/>
              </a:lnSpc>
              <a:spcBef>
                <a:spcPts val="723"/>
              </a:spcBef>
            </a:pPr>
            <a:r>
              <a:rPr sz="1235" dirty="0">
                <a:solidFill>
                  <a:srgbClr val="33CC33"/>
                </a:solidFill>
                <a:latin typeface="Webdings"/>
                <a:cs typeface="Webdings"/>
              </a:rPr>
              <a:t></a:t>
            </a:r>
            <a:r>
              <a:rPr sz="1588" dirty="0">
                <a:latin typeface="Arial"/>
                <a:cs typeface="Arial"/>
              </a:rPr>
              <a:t>Failures may </a:t>
            </a:r>
            <a:r>
              <a:rPr sz="1588" spc="-4" dirty="0">
                <a:latin typeface="Arial"/>
                <a:cs typeface="Arial"/>
              </a:rPr>
              <a:t>leave database in an inconsistent </a:t>
            </a:r>
            <a:r>
              <a:rPr sz="1588" dirty="0">
                <a:latin typeface="Arial"/>
                <a:cs typeface="Arial"/>
              </a:rPr>
              <a:t>state </a:t>
            </a:r>
            <a:r>
              <a:rPr sz="1588" spc="-4" dirty="0">
                <a:latin typeface="Arial"/>
                <a:cs typeface="Arial"/>
              </a:rPr>
              <a:t>with  partial updates carried</a:t>
            </a:r>
            <a:r>
              <a:rPr sz="1588" spc="9" dirty="0">
                <a:latin typeface="Arial"/>
                <a:cs typeface="Arial"/>
              </a:rPr>
              <a:t> </a:t>
            </a:r>
            <a:r>
              <a:rPr sz="1588" dirty="0">
                <a:latin typeface="Arial"/>
                <a:cs typeface="Arial"/>
              </a:rPr>
              <a:t>out.</a:t>
            </a:r>
            <a:endParaRPr sz="1588">
              <a:latin typeface="Arial"/>
              <a:cs typeface="Arial"/>
            </a:endParaRPr>
          </a:p>
          <a:p>
            <a:pPr>
              <a:spcBef>
                <a:spcPts val="31"/>
              </a:spcBef>
            </a:pPr>
            <a:endParaRPr sz="2206">
              <a:latin typeface="Arial"/>
              <a:cs typeface="Arial"/>
            </a:endParaRPr>
          </a:p>
          <a:p>
            <a:pPr marL="818073" marR="339556">
              <a:lnSpc>
                <a:spcPts val="1730"/>
              </a:lnSpc>
            </a:pPr>
            <a:r>
              <a:rPr sz="1235" dirty="0">
                <a:solidFill>
                  <a:srgbClr val="33CC33"/>
                </a:solidFill>
                <a:latin typeface="Webdings"/>
                <a:cs typeface="Webdings"/>
              </a:rPr>
              <a:t></a:t>
            </a:r>
            <a:r>
              <a:rPr sz="1588" dirty="0">
                <a:latin typeface="Arial"/>
                <a:cs typeface="Arial"/>
              </a:rPr>
              <a:t>Example: Transfer of </a:t>
            </a:r>
            <a:r>
              <a:rPr sz="1588" spc="-4" dirty="0">
                <a:latin typeface="Arial"/>
                <a:cs typeface="Arial"/>
              </a:rPr>
              <a:t>funds </a:t>
            </a:r>
            <a:r>
              <a:rPr sz="1588" dirty="0">
                <a:latin typeface="Arial"/>
                <a:cs typeface="Arial"/>
              </a:rPr>
              <a:t>from </a:t>
            </a:r>
            <a:r>
              <a:rPr sz="1588" spc="-4" dirty="0">
                <a:latin typeface="Arial"/>
                <a:cs typeface="Arial"/>
              </a:rPr>
              <a:t>one account </a:t>
            </a:r>
            <a:r>
              <a:rPr sz="1588" dirty="0">
                <a:latin typeface="Arial"/>
                <a:cs typeface="Arial"/>
              </a:rPr>
              <a:t>to </a:t>
            </a:r>
            <a:r>
              <a:rPr sz="1588" spc="-4" dirty="0">
                <a:latin typeface="Arial"/>
                <a:cs typeface="Arial"/>
              </a:rPr>
              <a:t>another  should either complete or </a:t>
            </a:r>
            <a:r>
              <a:rPr sz="1588" dirty="0">
                <a:latin typeface="Arial"/>
                <a:cs typeface="Arial"/>
              </a:rPr>
              <a:t>not </a:t>
            </a:r>
            <a:r>
              <a:rPr sz="1588" spc="-4" dirty="0">
                <a:latin typeface="Arial"/>
                <a:cs typeface="Arial"/>
              </a:rPr>
              <a:t>happen </a:t>
            </a:r>
            <a:r>
              <a:rPr sz="1588" dirty="0">
                <a:latin typeface="Arial"/>
                <a:cs typeface="Arial"/>
              </a:rPr>
              <a:t>at</a:t>
            </a:r>
            <a:r>
              <a:rPr sz="1588" spc="31" dirty="0">
                <a:latin typeface="Arial"/>
                <a:cs typeface="Arial"/>
              </a:rPr>
              <a:t> </a:t>
            </a:r>
            <a:r>
              <a:rPr sz="1588" spc="-4" dirty="0">
                <a:latin typeface="Arial"/>
                <a:cs typeface="Arial"/>
              </a:rPr>
              <a:t>all.</a:t>
            </a:r>
            <a:endParaRPr sz="1588">
              <a:latin typeface="Arial"/>
              <a:cs typeface="Arial"/>
            </a:endParaRPr>
          </a:p>
          <a:p>
            <a:pPr>
              <a:spcBef>
                <a:spcPts val="13"/>
              </a:spcBef>
            </a:pPr>
            <a:endParaRPr sz="1588">
              <a:latin typeface="Arial"/>
              <a:cs typeface="Arial"/>
            </a:endParaRPr>
          </a:p>
          <a:p>
            <a:pPr marL="414640">
              <a:spcBef>
                <a:spcPts val="4"/>
              </a:spcBef>
            </a:pPr>
            <a:r>
              <a:rPr sz="1588" spc="-4" dirty="0">
                <a:solidFill>
                  <a:srgbClr val="FF33CC"/>
                </a:solidFill>
                <a:latin typeface="Arial"/>
                <a:cs typeface="Arial"/>
              </a:rPr>
              <a:t>•Concurrent </a:t>
            </a:r>
            <a:r>
              <a:rPr sz="1588" dirty="0">
                <a:solidFill>
                  <a:srgbClr val="FF33CC"/>
                </a:solidFill>
                <a:latin typeface="Arial"/>
                <a:cs typeface="Arial"/>
              </a:rPr>
              <a:t>access </a:t>
            </a:r>
            <a:r>
              <a:rPr sz="1588" spc="-4" dirty="0">
                <a:solidFill>
                  <a:srgbClr val="FF33CC"/>
                </a:solidFill>
                <a:latin typeface="Arial"/>
                <a:cs typeface="Arial"/>
              </a:rPr>
              <a:t>by multiple</a:t>
            </a:r>
            <a:r>
              <a:rPr sz="1588" spc="9" dirty="0">
                <a:solidFill>
                  <a:srgbClr val="FF33CC"/>
                </a:solidFill>
                <a:latin typeface="Arial"/>
                <a:cs typeface="Arial"/>
              </a:rPr>
              <a:t> </a:t>
            </a:r>
            <a:r>
              <a:rPr sz="1588" spc="-4" dirty="0">
                <a:solidFill>
                  <a:srgbClr val="FF33CC"/>
                </a:solidFill>
                <a:latin typeface="Arial"/>
                <a:cs typeface="Arial"/>
              </a:rPr>
              <a:t>users</a:t>
            </a:r>
            <a:endParaRPr sz="1588">
              <a:latin typeface="Arial"/>
              <a:cs typeface="Arial"/>
            </a:endParaRPr>
          </a:p>
          <a:p>
            <a:pPr marL="817513">
              <a:spcBef>
                <a:spcPts val="516"/>
              </a:spcBef>
            </a:pPr>
            <a:r>
              <a:rPr sz="1235" dirty="0">
                <a:solidFill>
                  <a:srgbClr val="33CC33"/>
                </a:solidFill>
                <a:latin typeface="Webdings"/>
                <a:cs typeface="Webdings"/>
              </a:rPr>
              <a:t></a:t>
            </a:r>
            <a:r>
              <a:rPr sz="1588" dirty="0">
                <a:latin typeface="Arial"/>
                <a:cs typeface="Arial"/>
              </a:rPr>
              <a:t>Concurrent </a:t>
            </a:r>
            <a:r>
              <a:rPr sz="1588" spc="-4" dirty="0">
                <a:latin typeface="Arial"/>
                <a:cs typeface="Arial"/>
              </a:rPr>
              <a:t>accessed needed </a:t>
            </a:r>
            <a:r>
              <a:rPr sz="1588" dirty="0">
                <a:latin typeface="Arial"/>
                <a:cs typeface="Arial"/>
              </a:rPr>
              <a:t>for</a:t>
            </a:r>
            <a:r>
              <a:rPr sz="1588" spc="9" dirty="0">
                <a:latin typeface="Arial"/>
                <a:cs typeface="Arial"/>
              </a:rPr>
              <a:t> </a:t>
            </a:r>
            <a:r>
              <a:rPr sz="1588" spc="-4" dirty="0">
                <a:latin typeface="Arial"/>
                <a:cs typeface="Arial"/>
              </a:rPr>
              <a:t>performance</a:t>
            </a:r>
            <a:endParaRPr sz="1588">
              <a:latin typeface="Arial"/>
              <a:cs typeface="Arial"/>
            </a:endParaRPr>
          </a:p>
          <a:p>
            <a:pPr marL="817513" marR="1203016">
              <a:lnSpc>
                <a:spcPts val="1730"/>
              </a:lnSpc>
              <a:spcBef>
                <a:spcPts val="693"/>
              </a:spcBef>
            </a:pPr>
            <a:r>
              <a:rPr sz="1235" dirty="0">
                <a:solidFill>
                  <a:srgbClr val="33CC33"/>
                </a:solidFill>
                <a:latin typeface="Webdings"/>
                <a:cs typeface="Webdings"/>
              </a:rPr>
              <a:t></a:t>
            </a:r>
            <a:r>
              <a:rPr sz="1235" dirty="0">
                <a:solidFill>
                  <a:srgbClr val="33CC33"/>
                </a:solidFill>
                <a:latin typeface="Times New Roman"/>
                <a:cs typeface="Times New Roman"/>
              </a:rPr>
              <a:t> </a:t>
            </a:r>
            <a:r>
              <a:rPr sz="1588" spc="-4" dirty="0">
                <a:latin typeface="Arial"/>
                <a:cs typeface="Arial"/>
              </a:rPr>
              <a:t>Uncontrolled concurrent accesses can lead </a:t>
            </a:r>
            <a:r>
              <a:rPr sz="1588" dirty="0">
                <a:latin typeface="Arial"/>
                <a:cs typeface="Arial"/>
              </a:rPr>
              <a:t>to  </a:t>
            </a:r>
            <a:r>
              <a:rPr sz="1588" spc="-4" dirty="0">
                <a:latin typeface="Arial"/>
                <a:cs typeface="Arial"/>
              </a:rPr>
              <a:t>inconsistencies</a:t>
            </a:r>
            <a:endParaRPr sz="1588">
              <a:latin typeface="Arial"/>
              <a:cs typeface="Arial"/>
            </a:endParaRPr>
          </a:p>
          <a:p>
            <a:pPr marL="1220946" marR="4483">
              <a:lnSpc>
                <a:spcPts val="1711"/>
              </a:lnSpc>
              <a:spcBef>
                <a:spcPts val="675"/>
              </a:spcBef>
            </a:pPr>
            <a:r>
              <a:rPr sz="1588" spc="-4" dirty="0">
                <a:solidFill>
                  <a:srgbClr val="009999"/>
                </a:solidFill>
                <a:latin typeface="Arial"/>
                <a:cs typeface="Arial"/>
              </a:rPr>
              <a:t>–</a:t>
            </a:r>
            <a:r>
              <a:rPr sz="1588" spc="-4" dirty="0">
                <a:latin typeface="Arial"/>
                <a:cs typeface="Arial"/>
              </a:rPr>
              <a:t>Example: </a:t>
            </a:r>
            <a:r>
              <a:rPr sz="1588" dirty="0">
                <a:latin typeface="Arial"/>
                <a:cs typeface="Arial"/>
              </a:rPr>
              <a:t>Two </a:t>
            </a:r>
            <a:r>
              <a:rPr sz="1588" spc="-4" dirty="0">
                <a:latin typeface="Arial"/>
                <a:cs typeface="Arial"/>
              </a:rPr>
              <a:t>people reading a balance and updating </a:t>
            </a:r>
            <a:r>
              <a:rPr sz="1588" dirty="0">
                <a:latin typeface="Arial"/>
                <a:cs typeface="Arial"/>
              </a:rPr>
              <a:t>it  at the </a:t>
            </a:r>
            <a:r>
              <a:rPr sz="1588" spc="-4" dirty="0">
                <a:latin typeface="Arial"/>
                <a:cs typeface="Arial"/>
              </a:rPr>
              <a:t>same </a:t>
            </a:r>
            <a:r>
              <a:rPr sz="1588" dirty="0">
                <a:latin typeface="Arial"/>
                <a:cs typeface="Arial"/>
              </a:rPr>
              <a:t>time</a:t>
            </a:r>
            <a:endParaRPr sz="1588">
              <a:latin typeface="Arial"/>
              <a:cs typeface="Arial"/>
            </a:endParaRPr>
          </a:p>
          <a:p>
            <a:pPr>
              <a:spcBef>
                <a:spcPts val="13"/>
              </a:spcBef>
            </a:pPr>
            <a:endParaRPr sz="2030">
              <a:latin typeface="Arial"/>
              <a:cs typeface="Arial"/>
            </a:endParaRPr>
          </a:p>
          <a:p>
            <a:pPr marL="414079">
              <a:spcBef>
                <a:spcPts val="4"/>
              </a:spcBef>
            </a:pPr>
            <a:r>
              <a:rPr sz="1588" spc="-4" dirty="0">
                <a:solidFill>
                  <a:srgbClr val="FF33CC"/>
                </a:solidFill>
                <a:latin typeface="Arial"/>
                <a:cs typeface="Arial"/>
              </a:rPr>
              <a:t>•Security problems</a:t>
            </a:r>
            <a:endParaRPr sz="1588">
              <a:latin typeface="Arial"/>
              <a:cs typeface="Arial"/>
            </a:endParaRPr>
          </a:p>
          <a:p>
            <a:pPr marL="817513">
              <a:spcBef>
                <a:spcPts val="516"/>
              </a:spcBef>
            </a:pPr>
            <a:r>
              <a:rPr sz="1235" dirty="0">
                <a:solidFill>
                  <a:srgbClr val="33CC33"/>
                </a:solidFill>
                <a:latin typeface="Webdings"/>
                <a:cs typeface="Webdings"/>
              </a:rPr>
              <a:t></a:t>
            </a:r>
            <a:r>
              <a:rPr sz="1588" dirty="0">
                <a:latin typeface="Arial"/>
                <a:cs typeface="Arial"/>
              </a:rPr>
              <a:t>Hard to </a:t>
            </a:r>
            <a:r>
              <a:rPr sz="1588" spc="-4" dirty="0">
                <a:latin typeface="Arial"/>
                <a:cs typeface="Arial"/>
              </a:rPr>
              <a:t>provide user </a:t>
            </a:r>
            <a:r>
              <a:rPr sz="1588" dirty="0">
                <a:latin typeface="Arial"/>
                <a:cs typeface="Arial"/>
              </a:rPr>
              <a:t>access to some, but not </a:t>
            </a:r>
            <a:r>
              <a:rPr sz="1588" spc="-4" dirty="0">
                <a:latin typeface="Arial"/>
                <a:cs typeface="Arial"/>
              </a:rPr>
              <a:t>all,</a:t>
            </a:r>
            <a:r>
              <a:rPr sz="1588" spc="4" dirty="0">
                <a:latin typeface="Arial"/>
                <a:cs typeface="Arial"/>
              </a:rPr>
              <a:t> </a:t>
            </a:r>
            <a:r>
              <a:rPr sz="1588" spc="-4" dirty="0">
                <a:latin typeface="Arial"/>
                <a:cs typeface="Arial"/>
              </a:rPr>
              <a:t>data</a:t>
            </a:r>
            <a:endParaRPr sz="1588">
              <a:latin typeface="Arial"/>
              <a:cs typeface="Arial"/>
            </a:endParaRPr>
          </a:p>
        </p:txBody>
      </p:sp>
      <p:sp>
        <p:nvSpPr>
          <p:cNvPr id="3" name="object 3"/>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470414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DBMS vs. File System</a:t>
            </a:r>
            <a:br>
              <a:rPr lang="en-IN" b="1" dirty="0" smtClean="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75272554"/>
              </p:ext>
            </p:extLst>
          </p:nvPr>
        </p:nvGraphicFramePr>
        <p:xfrm>
          <a:off x="838200" y="1366343"/>
          <a:ext cx="10515600" cy="4862577"/>
        </p:xfrm>
        <a:graphic>
          <a:graphicData uri="http://schemas.openxmlformats.org/drawingml/2006/table">
            <a:tbl>
              <a:tblPr/>
              <a:tblGrid>
                <a:gridCol w="5257800">
                  <a:extLst>
                    <a:ext uri="{9D8B030D-6E8A-4147-A177-3AD203B41FA5}">
                      <a16:colId xmlns:a16="http://schemas.microsoft.com/office/drawing/2014/main" val="1167714944"/>
                    </a:ext>
                  </a:extLst>
                </a:gridCol>
                <a:gridCol w="5257800">
                  <a:extLst>
                    <a:ext uri="{9D8B030D-6E8A-4147-A177-3AD203B41FA5}">
                      <a16:colId xmlns:a16="http://schemas.microsoft.com/office/drawing/2014/main" val="1624847407"/>
                    </a:ext>
                  </a:extLst>
                </a:gridCol>
              </a:tblGrid>
              <a:tr h="352482">
                <a:tc>
                  <a:txBody>
                    <a:bodyPr/>
                    <a:lstStyle/>
                    <a:p>
                      <a:r>
                        <a:rPr lang="en-IN" sz="1600" dirty="0"/>
                        <a:t>DBMS</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a:t>File System</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783515758"/>
                  </a:ext>
                </a:extLst>
              </a:tr>
              <a:tr h="884749">
                <a:tc>
                  <a:txBody>
                    <a:bodyPr/>
                    <a:lstStyle/>
                    <a:p>
                      <a:r>
                        <a:rPr lang="en-IN" sz="1600"/>
                        <a:t>DBMS is a collection of data. In DBMS, the user is not required to write the procedures. </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a:t>File system is a collection of data. In this system, the user has to write the procedures for managing the database.</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218825116"/>
                  </a:ext>
                </a:extLst>
              </a:tr>
              <a:tr h="618616">
                <a:tc>
                  <a:txBody>
                    <a:bodyPr/>
                    <a:lstStyle/>
                    <a:p>
                      <a:r>
                        <a:rPr lang="en-IN" sz="1600"/>
                        <a:t>DBMS gives an abstract view of data that hides the details.</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dirty="0"/>
                        <a:t>File system provides the detail of the data representation and storage of data.</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830225064"/>
                  </a:ext>
                </a:extLst>
              </a:tr>
              <a:tr h="884749">
                <a:tc>
                  <a:txBody>
                    <a:bodyPr/>
                    <a:lstStyle/>
                    <a:p>
                      <a:r>
                        <a:rPr lang="en-IN" sz="1600"/>
                        <a:t>DBMS provides a crash recovery mechanism, i.e., DBMS protects the user from the system failure.</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a:t>File system doesn't have a crash mechanism, i.e., if the system crashes while entering some data, then the content of the file will lost.</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19645751"/>
                  </a:ext>
                </a:extLst>
              </a:tr>
              <a:tr h="618616">
                <a:tc>
                  <a:txBody>
                    <a:bodyPr/>
                    <a:lstStyle/>
                    <a:p>
                      <a:r>
                        <a:rPr lang="en-IN" sz="1600"/>
                        <a:t>DBMS provides a good protection mechanism.</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a:t>It is very difficult to protect a file under the file system.</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837635654"/>
                  </a:ext>
                </a:extLst>
              </a:tr>
              <a:tr h="618616">
                <a:tc>
                  <a:txBody>
                    <a:bodyPr/>
                    <a:lstStyle/>
                    <a:p>
                      <a:r>
                        <a:rPr lang="en-IN" sz="1600"/>
                        <a:t>DBMS contains a wide variety of sophisticated techniques to store and retrieve the data. </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a:t>File system can't efficiently store and retrieve the data.</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85073155"/>
                  </a:ext>
                </a:extLst>
              </a:tr>
              <a:tr h="884749">
                <a:tc>
                  <a:txBody>
                    <a:bodyPr/>
                    <a:lstStyle/>
                    <a:p>
                      <a:r>
                        <a:rPr lang="en-IN" sz="1600"/>
                        <a:t>DBMS takes care of Concurrent access of data using some form of locking. </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n-IN" sz="1600" dirty="0"/>
                        <a:t>In the File system, concurrent access has many problems like redirecting the file while other deleting some information or updating some information.</a:t>
                      </a:r>
                    </a:p>
                  </a:txBody>
                  <a:tcPr marL="79115" marR="79115" marT="39558" marB="39558" anchor="ctr">
                    <a:lnL>
                      <a:noFill/>
                    </a:lnL>
                    <a:lnR>
                      <a:noFill/>
                    </a:lnR>
                    <a:lnT>
                      <a:noFill/>
                    </a:lnT>
                    <a:lnB>
                      <a:noFill/>
                    </a:lnB>
                    <a:gradFill>
                      <a:gsLst>
                        <a:gs pos="15000">
                          <a:schemeClr val="accent1">
                            <a:lumMod val="5000"/>
                            <a:lumOff val="95000"/>
                            <a:alpha val="91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8038123"/>
                  </a:ext>
                </a:extLst>
              </a:tr>
            </a:tbl>
          </a:graphicData>
        </a:graphic>
      </p:graphicFrame>
    </p:spTree>
    <p:extLst>
      <p:ext uri="{BB962C8B-B14F-4D97-AF65-F5344CB8AC3E}">
        <p14:creationId xmlns:p14="http://schemas.microsoft.com/office/powerpoint/2010/main" val="9659661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DBMS Architecture</a:t>
            </a:r>
            <a:br>
              <a:rPr lang="en-IN" b="1" dirty="0" smtClean="0"/>
            </a:br>
            <a:endParaRPr lang="en-IN" dirty="0"/>
          </a:p>
        </p:txBody>
      </p:sp>
      <p:sp>
        <p:nvSpPr>
          <p:cNvPr id="3" name="Content Placeholder 2"/>
          <p:cNvSpPr>
            <a:spLocks noGrp="1"/>
          </p:cNvSpPr>
          <p:nvPr>
            <p:ph idx="1"/>
          </p:nvPr>
        </p:nvSpPr>
        <p:spPr/>
        <p:txBody>
          <a:bodyPr/>
          <a:lstStyle/>
          <a:p>
            <a:r>
              <a:rPr lang="en-IN" dirty="0" smtClean="0"/>
              <a:t>The DBMS design depends upon its architecture. The basic client/server architecture is used to deal with a large number of PCs, web servers, database servers and other components that are connected with networks.</a:t>
            </a:r>
          </a:p>
          <a:p>
            <a:r>
              <a:rPr lang="en-IN" dirty="0" smtClean="0"/>
              <a:t>The client/server architecture consists of many PCs and a workstation which are connected via the network.</a:t>
            </a:r>
          </a:p>
          <a:p>
            <a:r>
              <a:rPr lang="en-IN" dirty="0" smtClean="0"/>
              <a:t>DBMS architecture depends upon how users are connected to the database to get their request done. </a:t>
            </a:r>
          </a:p>
          <a:p>
            <a:endParaRPr lang="en-IN" dirty="0"/>
          </a:p>
        </p:txBody>
      </p:sp>
    </p:spTree>
    <p:extLst>
      <p:ext uri="{BB962C8B-B14F-4D97-AF65-F5344CB8AC3E}">
        <p14:creationId xmlns:p14="http://schemas.microsoft.com/office/powerpoint/2010/main" val="6940282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Types of DBMS Architecture</a:t>
            </a:r>
            <a:br>
              <a:rPr lang="en-IN" b="1" dirty="0" smtClean="0"/>
            </a:br>
            <a:endParaRPr lang="en-IN" dirty="0"/>
          </a:p>
        </p:txBody>
      </p:sp>
      <p:pic>
        <p:nvPicPr>
          <p:cNvPr id="4" name="Content Placeholder 3"/>
          <p:cNvPicPr>
            <a:picLocks noGrp="1" noChangeAspect="1"/>
          </p:cNvPicPr>
          <p:nvPr>
            <p:ph idx="1"/>
          </p:nvPr>
        </p:nvPicPr>
        <p:blipFill>
          <a:blip r:embed="rId2"/>
          <a:stretch>
            <a:fillRect/>
          </a:stretch>
        </p:blipFill>
        <p:spPr>
          <a:xfrm>
            <a:off x="3295650" y="2424906"/>
            <a:ext cx="5600700" cy="3152775"/>
          </a:xfrm>
          <a:prstGeom prst="rect">
            <a:avLst/>
          </a:prstGeom>
        </p:spPr>
      </p:pic>
    </p:spTree>
    <p:extLst>
      <p:ext uri="{BB962C8B-B14F-4D97-AF65-F5344CB8AC3E}">
        <p14:creationId xmlns:p14="http://schemas.microsoft.com/office/powerpoint/2010/main" val="1653203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1-Tier Architecture</a:t>
            </a:r>
            <a:br>
              <a:rPr lang="en-IN" b="1" dirty="0" smtClean="0"/>
            </a:br>
            <a:endParaRPr lang="en-IN" dirty="0"/>
          </a:p>
        </p:txBody>
      </p:sp>
      <p:sp>
        <p:nvSpPr>
          <p:cNvPr id="3" name="Content Placeholder 2"/>
          <p:cNvSpPr>
            <a:spLocks noGrp="1"/>
          </p:cNvSpPr>
          <p:nvPr>
            <p:ph idx="1"/>
          </p:nvPr>
        </p:nvSpPr>
        <p:spPr/>
        <p:txBody>
          <a:bodyPr/>
          <a:lstStyle/>
          <a:p>
            <a:r>
              <a:rPr lang="en-IN" dirty="0" smtClean="0"/>
              <a:t>In this architecture, the database is directly available to the user. It means the user can directly sit on the DBMS and uses it.</a:t>
            </a:r>
          </a:p>
          <a:p>
            <a:r>
              <a:rPr lang="en-IN" dirty="0" smtClean="0"/>
              <a:t>Any changes done here will directly be done on the database itself. It doesn't provide a handy tool for end users.</a:t>
            </a:r>
          </a:p>
          <a:p>
            <a:r>
              <a:rPr lang="en-IN" dirty="0" smtClean="0"/>
              <a:t>The 1-Tier architecture is used for development of the local application, where programmers can directly communicate with the database for the quick response.</a:t>
            </a:r>
          </a:p>
          <a:p>
            <a:endParaRPr lang="en-IN" dirty="0"/>
          </a:p>
        </p:txBody>
      </p:sp>
    </p:spTree>
    <p:extLst>
      <p:ext uri="{BB962C8B-B14F-4D97-AF65-F5344CB8AC3E}">
        <p14:creationId xmlns:p14="http://schemas.microsoft.com/office/powerpoint/2010/main" val="15422854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2-Tier Architecture</a:t>
            </a:r>
            <a:br>
              <a:rPr lang="en-IN" b="1" dirty="0" smtClean="0"/>
            </a:br>
            <a:endParaRPr lang="en-IN" dirty="0"/>
          </a:p>
        </p:txBody>
      </p:sp>
      <p:sp>
        <p:nvSpPr>
          <p:cNvPr id="3" name="Content Placeholder 2"/>
          <p:cNvSpPr>
            <a:spLocks noGrp="1"/>
          </p:cNvSpPr>
          <p:nvPr>
            <p:ph sz="half" idx="1"/>
          </p:nvPr>
        </p:nvSpPr>
        <p:spPr>
          <a:xfrm>
            <a:off x="838200" y="1825624"/>
            <a:ext cx="5181600" cy="4586605"/>
          </a:xfrm>
        </p:spPr>
        <p:txBody>
          <a:bodyPr>
            <a:normAutofit fontScale="92500" lnSpcReduction="10000"/>
          </a:bodyPr>
          <a:lstStyle/>
          <a:p>
            <a:pPr algn="just"/>
            <a:r>
              <a:rPr lang="en-IN" sz="2400" dirty="0" smtClean="0">
                <a:latin typeface="Times New Roman" panose="02020603050405020304" pitchFamily="18" charset="0"/>
                <a:cs typeface="Times New Roman" panose="02020603050405020304" pitchFamily="18" charset="0"/>
              </a:rPr>
              <a:t>The 2-Tier architecture is same as basic client-server. In the two-tier architecture, applications on the client end can directly communicate with the database at the server side. For this interaction, API's like: </a:t>
            </a:r>
            <a:r>
              <a:rPr lang="en-IN" sz="2400" b="1" dirty="0" smtClean="0">
                <a:latin typeface="Times New Roman" panose="02020603050405020304" pitchFamily="18" charset="0"/>
                <a:cs typeface="Times New Roman" panose="02020603050405020304" pitchFamily="18" charset="0"/>
              </a:rPr>
              <a:t>ODBC</a:t>
            </a:r>
            <a:r>
              <a:rPr lang="en-IN" sz="2400" dirty="0" smtClean="0">
                <a:latin typeface="Times New Roman" panose="02020603050405020304" pitchFamily="18" charset="0"/>
                <a:cs typeface="Times New Roman" panose="02020603050405020304" pitchFamily="18" charset="0"/>
              </a:rPr>
              <a:t>, </a:t>
            </a:r>
            <a:r>
              <a:rPr lang="en-IN" sz="2400" b="1" dirty="0" smtClean="0">
                <a:latin typeface="Times New Roman" panose="02020603050405020304" pitchFamily="18" charset="0"/>
                <a:cs typeface="Times New Roman" panose="02020603050405020304" pitchFamily="18" charset="0"/>
              </a:rPr>
              <a:t>JDBC</a:t>
            </a:r>
            <a:r>
              <a:rPr lang="en-IN" sz="2400" dirty="0" smtClean="0">
                <a:latin typeface="Times New Roman" panose="02020603050405020304" pitchFamily="18" charset="0"/>
                <a:cs typeface="Times New Roman" panose="02020603050405020304" pitchFamily="18" charset="0"/>
              </a:rPr>
              <a:t> are used.</a:t>
            </a:r>
          </a:p>
          <a:p>
            <a:pPr algn="just"/>
            <a:r>
              <a:rPr lang="en-IN" sz="2400" dirty="0" smtClean="0">
                <a:latin typeface="Times New Roman" panose="02020603050405020304" pitchFamily="18" charset="0"/>
                <a:cs typeface="Times New Roman" panose="02020603050405020304" pitchFamily="18" charset="0"/>
              </a:rPr>
              <a:t>The user interfaces and application programs are run on the client-side.</a:t>
            </a:r>
          </a:p>
          <a:p>
            <a:pPr algn="just"/>
            <a:r>
              <a:rPr lang="en-IN" sz="2400" dirty="0" smtClean="0">
                <a:latin typeface="Times New Roman" panose="02020603050405020304" pitchFamily="18" charset="0"/>
                <a:cs typeface="Times New Roman" panose="02020603050405020304" pitchFamily="18" charset="0"/>
              </a:rPr>
              <a:t>The server side is responsible to provide the functionalities like: query processing and transaction management.</a:t>
            </a:r>
          </a:p>
          <a:p>
            <a:pPr algn="just"/>
            <a:r>
              <a:rPr lang="en-IN" sz="2400" dirty="0" smtClean="0">
                <a:latin typeface="Times New Roman" panose="02020603050405020304" pitchFamily="18" charset="0"/>
                <a:cs typeface="Times New Roman" panose="02020603050405020304" pitchFamily="18" charset="0"/>
              </a:rPr>
              <a:t>To communicate with the DBMS, client-side application establishes a connection with the server side.</a:t>
            </a:r>
          </a:p>
          <a:p>
            <a:endParaRPr lang="en-IN" dirty="0"/>
          </a:p>
        </p:txBody>
      </p:sp>
      <p:pic>
        <p:nvPicPr>
          <p:cNvPr id="5" name="Content Placeholder 4"/>
          <p:cNvPicPr>
            <a:picLocks noGrp="1" noChangeAspect="1"/>
          </p:cNvPicPr>
          <p:nvPr>
            <p:ph sz="half" idx="2"/>
          </p:nvPr>
        </p:nvPicPr>
        <p:blipFill>
          <a:blip r:embed="rId2"/>
          <a:stretch>
            <a:fillRect/>
          </a:stretch>
        </p:blipFill>
        <p:spPr>
          <a:xfrm>
            <a:off x="6877050" y="1690688"/>
            <a:ext cx="4232910" cy="4344352"/>
          </a:xfrm>
          <a:prstGeom prst="rect">
            <a:avLst/>
          </a:prstGeom>
        </p:spPr>
      </p:pic>
    </p:spTree>
    <p:extLst>
      <p:ext uri="{BB962C8B-B14F-4D97-AF65-F5344CB8AC3E}">
        <p14:creationId xmlns:p14="http://schemas.microsoft.com/office/powerpoint/2010/main" val="1324612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6455"/>
          </a:xfrm>
        </p:spPr>
        <p:txBody>
          <a:bodyPr>
            <a:normAutofit fontScale="90000"/>
          </a:bodyPr>
          <a:lstStyle/>
          <a:p>
            <a:r>
              <a:rPr lang="en-IN" b="1" dirty="0" smtClean="0"/>
              <a:t>3-Tier Architecture</a:t>
            </a:r>
            <a:br>
              <a:rPr lang="en-IN" b="1" dirty="0" smtClean="0"/>
            </a:br>
            <a:endParaRPr lang="en-IN" dirty="0"/>
          </a:p>
        </p:txBody>
      </p:sp>
      <p:sp>
        <p:nvSpPr>
          <p:cNvPr id="3" name="Content Placeholder 2"/>
          <p:cNvSpPr>
            <a:spLocks noGrp="1"/>
          </p:cNvSpPr>
          <p:nvPr>
            <p:ph sz="half" idx="1"/>
          </p:nvPr>
        </p:nvSpPr>
        <p:spPr>
          <a:xfrm>
            <a:off x="838200" y="1291590"/>
            <a:ext cx="6522720" cy="5132070"/>
          </a:xfrm>
        </p:spPr>
        <p:txBody>
          <a:bodyPr>
            <a:normAutofit/>
          </a:bodyPr>
          <a:lstStyle/>
          <a:p>
            <a:pPr algn="just"/>
            <a:r>
              <a:rPr lang="en-IN" sz="2400" dirty="0" smtClean="0">
                <a:latin typeface="Times New Roman" panose="02020603050405020304" pitchFamily="18" charset="0"/>
                <a:cs typeface="Times New Roman" panose="02020603050405020304" pitchFamily="18" charset="0"/>
              </a:rPr>
              <a:t>The 3-Tier architecture contains another layer between the client and server. In this architecture, client can't directly communicate with the server.</a:t>
            </a:r>
          </a:p>
          <a:p>
            <a:pPr algn="just"/>
            <a:r>
              <a:rPr lang="en-IN" sz="2400" dirty="0" smtClean="0">
                <a:latin typeface="Times New Roman" panose="02020603050405020304" pitchFamily="18" charset="0"/>
                <a:cs typeface="Times New Roman" panose="02020603050405020304" pitchFamily="18" charset="0"/>
              </a:rPr>
              <a:t>The application on the client-end interacts with an application server which further communicates with the database system.</a:t>
            </a:r>
          </a:p>
          <a:p>
            <a:pPr algn="just"/>
            <a:r>
              <a:rPr lang="en-IN" sz="2400" dirty="0" smtClean="0">
                <a:latin typeface="Times New Roman" panose="02020603050405020304" pitchFamily="18" charset="0"/>
                <a:cs typeface="Times New Roman" panose="02020603050405020304" pitchFamily="18" charset="0"/>
              </a:rPr>
              <a:t>End user has no idea about the existence of the database beyond the application server. The database also has no idea about any other user beyond the application.</a:t>
            </a:r>
          </a:p>
          <a:p>
            <a:pPr algn="just"/>
            <a:r>
              <a:rPr lang="en-IN" sz="2400" dirty="0" smtClean="0">
                <a:latin typeface="Times New Roman" panose="02020603050405020304" pitchFamily="18" charset="0"/>
                <a:cs typeface="Times New Roman" panose="02020603050405020304" pitchFamily="18" charset="0"/>
              </a:rPr>
              <a:t>The 3-Tier architecture is used in case of large web application. </a:t>
            </a:r>
          </a:p>
          <a:p>
            <a:endParaRPr lang="en-IN" dirty="0"/>
          </a:p>
        </p:txBody>
      </p:sp>
      <p:pic>
        <p:nvPicPr>
          <p:cNvPr id="5" name="Content Placeholder 4"/>
          <p:cNvPicPr>
            <a:picLocks noGrp="1" noChangeAspect="1"/>
          </p:cNvPicPr>
          <p:nvPr>
            <p:ph sz="half" idx="2"/>
          </p:nvPr>
        </p:nvPicPr>
        <p:blipFill>
          <a:blip r:embed="rId2"/>
          <a:stretch>
            <a:fillRect/>
          </a:stretch>
        </p:blipFill>
        <p:spPr>
          <a:xfrm>
            <a:off x="7738110" y="1211580"/>
            <a:ext cx="4034790" cy="4837589"/>
          </a:xfrm>
          <a:prstGeom prst="rect">
            <a:avLst/>
          </a:prstGeom>
        </p:spPr>
      </p:pic>
    </p:spTree>
    <p:extLst>
      <p:ext uri="{BB962C8B-B14F-4D97-AF65-F5344CB8AC3E}">
        <p14:creationId xmlns:p14="http://schemas.microsoft.com/office/powerpoint/2010/main" val="31453233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258339" y="3429000"/>
            <a:ext cx="4199425" cy="2353235"/>
          </a:xfrm>
          <a:prstGeom prst="rect">
            <a:avLst/>
          </a:prstGeom>
          <a:blipFill>
            <a:blip r:embed="rId2" cstate="print"/>
            <a:stretch>
              <a:fillRect/>
            </a:stretch>
          </a:blipFill>
        </p:spPr>
        <p:txBody>
          <a:bodyPr wrap="square" lIns="0" tIns="0" rIns="0" bIns="0" rtlCol="0"/>
          <a:lstStyle/>
          <a:p>
            <a:endParaRPr sz="1588"/>
          </a:p>
        </p:txBody>
      </p:sp>
      <p:sp>
        <p:nvSpPr>
          <p:cNvPr id="3" name="object 3"/>
          <p:cNvSpPr/>
          <p:nvPr/>
        </p:nvSpPr>
        <p:spPr>
          <a:xfrm>
            <a:off x="5087471" y="3361765"/>
            <a:ext cx="4437529" cy="2487706"/>
          </a:xfrm>
          <a:custGeom>
            <a:avLst/>
            <a:gdLst/>
            <a:ahLst/>
            <a:cxnLst/>
            <a:rect l="l" t="t" r="r" b="b"/>
            <a:pathLst>
              <a:path w="5029200" h="2819400">
                <a:moveTo>
                  <a:pt x="4965192" y="63500"/>
                </a:moveTo>
                <a:lnTo>
                  <a:pt x="4953000" y="63500"/>
                </a:lnTo>
                <a:lnTo>
                  <a:pt x="4953000" y="76200"/>
                </a:lnTo>
                <a:lnTo>
                  <a:pt x="4953000" y="2743200"/>
                </a:lnTo>
                <a:lnTo>
                  <a:pt x="76200" y="2743200"/>
                </a:lnTo>
                <a:lnTo>
                  <a:pt x="76200" y="76200"/>
                </a:lnTo>
                <a:lnTo>
                  <a:pt x="4953000" y="76200"/>
                </a:lnTo>
                <a:lnTo>
                  <a:pt x="4953000" y="63500"/>
                </a:lnTo>
                <a:lnTo>
                  <a:pt x="64008" y="63500"/>
                </a:lnTo>
                <a:lnTo>
                  <a:pt x="64008" y="76200"/>
                </a:lnTo>
                <a:lnTo>
                  <a:pt x="64008" y="2743200"/>
                </a:lnTo>
                <a:lnTo>
                  <a:pt x="64008" y="2755900"/>
                </a:lnTo>
                <a:lnTo>
                  <a:pt x="4965192" y="2755900"/>
                </a:lnTo>
                <a:lnTo>
                  <a:pt x="4965192" y="2743200"/>
                </a:lnTo>
                <a:lnTo>
                  <a:pt x="4965192" y="76200"/>
                </a:lnTo>
                <a:lnTo>
                  <a:pt x="4965192" y="63500"/>
                </a:lnTo>
                <a:close/>
              </a:path>
              <a:path w="5029200" h="2819400">
                <a:moveTo>
                  <a:pt x="5003292" y="25400"/>
                </a:moveTo>
                <a:lnTo>
                  <a:pt x="4978908" y="25400"/>
                </a:lnTo>
                <a:lnTo>
                  <a:pt x="4978908" y="50800"/>
                </a:lnTo>
                <a:lnTo>
                  <a:pt x="4978908" y="2768600"/>
                </a:lnTo>
                <a:lnTo>
                  <a:pt x="50292" y="2768600"/>
                </a:lnTo>
                <a:lnTo>
                  <a:pt x="50292" y="50800"/>
                </a:lnTo>
                <a:lnTo>
                  <a:pt x="4978908" y="50800"/>
                </a:lnTo>
                <a:lnTo>
                  <a:pt x="4978908" y="25400"/>
                </a:lnTo>
                <a:lnTo>
                  <a:pt x="25908" y="25400"/>
                </a:lnTo>
                <a:lnTo>
                  <a:pt x="25908" y="50800"/>
                </a:lnTo>
                <a:lnTo>
                  <a:pt x="25908" y="2768600"/>
                </a:lnTo>
                <a:lnTo>
                  <a:pt x="25908" y="2794000"/>
                </a:lnTo>
                <a:lnTo>
                  <a:pt x="5003292" y="2794000"/>
                </a:lnTo>
                <a:lnTo>
                  <a:pt x="5003292" y="2769120"/>
                </a:lnTo>
                <a:lnTo>
                  <a:pt x="5003292" y="2768600"/>
                </a:lnTo>
                <a:lnTo>
                  <a:pt x="5003292" y="50800"/>
                </a:lnTo>
                <a:lnTo>
                  <a:pt x="5003292" y="50292"/>
                </a:lnTo>
                <a:lnTo>
                  <a:pt x="5003292" y="25400"/>
                </a:lnTo>
                <a:close/>
              </a:path>
              <a:path w="5029200" h="2819400">
                <a:moveTo>
                  <a:pt x="5029200" y="0"/>
                </a:moveTo>
                <a:lnTo>
                  <a:pt x="5017008" y="0"/>
                </a:lnTo>
                <a:lnTo>
                  <a:pt x="5017008" y="12700"/>
                </a:lnTo>
                <a:lnTo>
                  <a:pt x="5017008" y="2806700"/>
                </a:lnTo>
                <a:lnTo>
                  <a:pt x="12192" y="2806700"/>
                </a:lnTo>
                <a:lnTo>
                  <a:pt x="12192" y="12700"/>
                </a:lnTo>
                <a:lnTo>
                  <a:pt x="5017008" y="12700"/>
                </a:lnTo>
                <a:lnTo>
                  <a:pt x="5017008" y="0"/>
                </a:lnTo>
                <a:lnTo>
                  <a:pt x="0" y="0"/>
                </a:lnTo>
                <a:lnTo>
                  <a:pt x="0" y="12700"/>
                </a:lnTo>
                <a:lnTo>
                  <a:pt x="0" y="2806700"/>
                </a:lnTo>
                <a:lnTo>
                  <a:pt x="0" y="2819400"/>
                </a:lnTo>
                <a:lnTo>
                  <a:pt x="5029200" y="2819400"/>
                </a:lnTo>
                <a:lnTo>
                  <a:pt x="5029200" y="2807220"/>
                </a:lnTo>
                <a:lnTo>
                  <a:pt x="5029200" y="2806700"/>
                </a:lnTo>
                <a:lnTo>
                  <a:pt x="5029200" y="12700"/>
                </a:lnTo>
                <a:lnTo>
                  <a:pt x="5029200" y="12192"/>
                </a:lnTo>
                <a:lnTo>
                  <a:pt x="5029200" y="0"/>
                </a:lnTo>
                <a:close/>
              </a:path>
            </a:pathLst>
          </a:custGeom>
          <a:solidFill>
            <a:srgbClr val="FF0000"/>
          </a:solidFill>
        </p:spPr>
        <p:txBody>
          <a:bodyPr wrap="square" lIns="0" tIns="0" rIns="0" bIns="0" rtlCol="0"/>
          <a:lstStyle/>
          <a:p>
            <a:endParaRPr sz="1588"/>
          </a:p>
        </p:txBody>
      </p:sp>
      <p:sp>
        <p:nvSpPr>
          <p:cNvPr id="4" name="object 4"/>
          <p:cNvSpPr txBox="1">
            <a:spLocks noGrp="1"/>
          </p:cNvSpPr>
          <p:nvPr>
            <p:ph type="title"/>
          </p:nvPr>
        </p:nvSpPr>
        <p:spPr>
          <a:xfrm>
            <a:off x="4403912" y="665628"/>
            <a:ext cx="3250826" cy="500232"/>
          </a:xfrm>
          <a:prstGeom prst="rect">
            <a:avLst/>
          </a:prstGeom>
        </p:spPr>
        <p:txBody>
          <a:bodyPr vert="horz" wrap="square" lIns="0" tIns="11206" rIns="0" bIns="0" rtlCol="0" anchor="ctr">
            <a:spAutoFit/>
          </a:bodyPr>
          <a:lstStyle/>
          <a:p>
            <a:pPr marL="11206">
              <a:lnSpc>
                <a:spcPct val="100000"/>
              </a:lnSpc>
              <a:spcBef>
                <a:spcPts val="88"/>
              </a:spcBef>
            </a:pPr>
            <a:r>
              <a:rPr sz="3177" b="1" spc="-4" dirty="0">
                <a:solidFill>
                  <a:srgbClr val="3333FF"/>
                </a:solidFill>
                <a:latin typeface="Arial"/>
                <a:cs typeface="Arial"/>
              </a:rPr>
              <a:t>Data</a:t>
            </a:r>
            <a:r>
              <a:rPr sz="3177" b="1" spc="-66" dirty="0">
                <a:solidFill>
                  <a:srgbClr val="3333FF"/>
                </a:solidFill>
                <a:latin typeface="Arial"/>
                <a:cs typeface="Arial"/>
              </a:rPr>
              <a:t> </a:t>
            </a:r>
            <a:r>
              <a:rPr sz="3177" b="1" dirty="0">
                <a:solidFill>
                  <a:srgbClr val="3333FF"/>
                </a:solidFill>
                <a:latin typeface="Arial"/>
                <a:cs typeface="Arial"/>
              </a:rPr>
              <a:t>Abstraction</a:t>
            </a:r>
            <a:endParaRPr sz="3177">
              <a:latin typeface="Arial"/>
              <a:cs typeface="Arial"/>
            </a:endParaRPr>
          </a:p>
        </p:txBody>
      </p:sp>
      <p:sp>
        <p:nvSpPr>
          <p:cNvPr id="5" name="object 5"/>
          <p:cNvSpPr txBox="1"/>
          <p:nvPr/>
        </p:nvSpPr>
        <p:spPr>
          <a:xfrm>
            <a:off x="2400299" y="4056539"/>
            <a:ext cx="1483099" cy="1369380"/>
          </a:xfrm>
          <a:prstGeom prst="rect">
            <a:avLst/>
          </a:prstGeom>
        </p:spPr>
        <p:txBody>
          <a:bodyPr vert="horz" wrap="square" lIns="0" tIns="11206" rIns="0" bIns="0" rtlCol="0">
            <a:spAutoFit/>
          </a:bodyPr>
          <a:lstStyle/>
          <a:p>
            <a:pPr marL="11206">
              <a:spcBef>
                <a:spcPts val="88"/>
              </a:spcBef>
            </a:pPr>
            <a:r>
              <a:rPr sz="1765" b="1" spc="-13" dirty="0">
                <a:solidFill>
                  <a:srgbClr val="D50093"/>
                </a:solidFill>
                <a:latin typeface="Arial"/>
                <a:cs typeface="Arial"/>
              </a:rPr>
              <a:t>view</a:t>
            </a:r>
            <a:r>
              <a:rPr sz="1765" b="1" spc="31" dirty="0">
                <a:solidFill>
                  <a:srgbClr val="D50093"/>
                </a:solidFill>
                <a:latin typeface="Arial"/>
                <a:cs typeface="Arial"/>
              </a:rPr>
              <a:t> </a:t>
            </a:r>
            <a:r>
              <a:rPr sz="1765" b="1" spc="-9" dirty="0">
                <a:solidFill>
                  <a:srgbClr val="D50093"/>
                </a:solidFill>
                <a:latin typeface="Arial"/>
                <a:cs typeface="Arial"/>
              </a:rPr>
              <a:t>level</a:t>
            </a:r>
            <a:endParaRPr sz="1765">
              <a:latin typeface="Arial"/>
              <a:cs typeface="Arial"/>
            </a:endParaRPr>
          </a:p>
          <a:p>
            <a:pPr marL="11206" marR="4483">
              <a:lnSpc>
                <a:spcPct val="200000"/>
              </a:lnSpc>
            </a:pPr>
            <a:r>
              <a:rPr sz="1765" b="1" dirty="0">
                <a:solidFill>
                  <a:srgbClr val="D50093"/>
                </a:solidFill>
                <a:latin typeface="Arial"/>
                <a:cs typeface="Arial"/>
              </a:rPr>
              <a:t>logical </a:t>
            </a:r>
            <a:r>
              <a:rPr sz="1765" b="1" spc="-9" dirty="0">
                <a:solidFill>
                  <a:srgbClr val="D50093"/>
                </a:solidFill>
                <a:latin typeface="Arial"/>
                <a:cs typeface="Arial"/>
              </a:rPr>
              <a:t>level  </a:t>
            </a:r>
            <a:r>
              <a:rPr sz="1765" b="1" dirty="0">
                <a:solidFill>
                  <a:srgbClr val="D50093"/>
                </a:solidFill>
                <a:latin typeface="Arial"/>
                <a:cs typeface="Arial"/>
              </a:rPr>
              <a:t>physical</a:t>
            </a:r>
            <a:r>
              <a:rPr sz="1765" b="1" spc="-66" dirty="0">
                <a:solidFill>
                  <a:srgbClr val="D50093"/>
                </a:solidFill>
                <a:latin typeface="Arial"/>
                <a:cs typeface="Arial"/>
              </a:rPr>
              <a:t> </a:t>
            </a:r>
            <a:r>
              <a:rPr sz="1765" b="1" dirty="0">
                <a:solidFill>
                  <a:srgbClr val="D50093"/>
                </a:solidFill>
                <a:latin typeface="Arial"/>
                <a:cs typeface="Arial"/>
              </a:rPr>
              <a:t>level</a:t>
            </a:r>
            <a:endParaRPr sz="1765">
              <a:latin typeface="Arial"/>
              <a:cs typeface="Arial"/>
            </a:endParaRPr>
          </a:p>
        </p:txBody>
      </p:sp>
      <p:sp>
        <p:nvSpPr>
          <p:cNvPr id="6" name="object 6"/>
          <p:cNvSpPr txBox="1"/>
          <p:nvPr/>
        </p:nvSpPr>
        <p:spPr>
          <a:xfrm>
            <a:off x="2669241" y="1368462"/>
            <a:ext cx="6771714" cy="998735"/>
          </a:xfrm>
          <a:prstGeom prst="rect">
            <a:avLst/>
          </a:prstGeom>
        </p:spPr>
        <p:txBody>
          <a:bodyPr vert="horz" wrap="square" lIns="0" tIns="9525" rIns="0" bIns="0" rtlCol="0">
            <a:spAutoFit/>
          </a:bodyPr>
          <a:lstStyle/>
          <a:p>
            <a:pPr marL="11206" marR="4483">
              <a:lnSpc>
                <a:spcPct val="100600"/>
              </a:lnSpc>
              <a:spcBef>
                <a:spcPts val="75"/>
              </a:spcBef>
              <a:tabLst>
                <a:tab pos="1793597" algn="l"/>
              </a:tabLst>
            </a:pPr>
            <a:r>
              <a:rPr sz="1588" spc="-4" dirty="0">
                <a:latin typeface="Arial"/>
                <a:cs typeface="Arial"/>
              </a:rPr>
              <a:t>Purpose-Hides</a:t>
            </a:r>
            <a:r>
              <a:rPr sz="1588" spc="18" dirty="0">
                <a:latin typeface="Arial"/>
                <a:cs typeface="Arial"/>
              </a:rPr>
              <a:t> </a:t>
            </a:r>
            <a:r>
              <a:rPr sz="1588" dirty="0">
                <a:latin typeface="Arial"/>
                <a:cs typeface="Arial"/>
              </a:rPr>
              <a:t>the	</a:t>
            </a:r>
            <a:r>
              <a:rPr sz="1588" spc="-4" dirty="0">
                <a:latin typeface="Arial"/>
                <a:cs typeface="Arial"/>
              </a:rPr>
              <a:t>certain details </a:t>
            </a:r>
            <a:r>
              <a:rPr sz="1588" dirty="0">
                <a:latin typeface="Arial"/>
                <a:cs typeface="Arial"/>
              </a:rPr>
              <a:t>of </a:t>
            </a:r>
            <a:r>
              <a:rPr sz="1588" spc="-4" dirty="0">
                <a:latin typeface="Arial"/>
                <a:cs typeface="Arial"/>
              </a:rPr>
              <a:t>how data stored </a:t>
            </a:r>
            <a:r>
              <a:rPr sz="1588" dirty="0">
                <a:latin typeface="Arial"/>
                <a:cs typeface="Arial"/>
              </a:rPr>
              <a:t>&amp; </a:t>
            </a:r>
            <a:r>
              <a:rPr sz="1588" spc="-4" dirty="0">
                <a:latin typeface="Arial"/>
                <a:cs typeface="Arial"/>
              </a:rPr>
              <a:t>maintained, provide  only </a:t>
            </a:r>
            <a:r>
              <a:rPr sz="1588" dirty="0">
                <a:latin typeface="Arial"/>
                <a:cs typeface="Arial"/>
              </a:rPr>
              <a:t>abstract </a:t>
            </a:r>
            <a:r>
              <a:rPr sz="1588" spc="-4" dirty="0">
                <a:latin typeface="Arial"/>
                <a:cs typeface="Arial"/>
              </a:rPr>
              <a:t>view.</a:t>
            </a:r>
            <a:endParaRPr sz="1588" dirty="0">
              <a:latin typeface="Arial"/>
              <a:cs typeface="Arial"/>
            </a:endParaRPr>
          </a:p>
          <a:p>
            <a:pPr>
              <a:spcBef>
                <a:spcPts val="26"/>
              </a:spcBef>
            </a:pPr>
            <a:endParaRPr sz="1632" dirty="0">
              <a:latin typeface="Arial"/>
              <a:cs typeface="Arial"/>
            </a:endParaRPr>
          </a:p>
          <a:p>
            <a:pPr marL="11206">
              <a:spcBef>
                <a:spcPts val="4"/>
              </a:spcBef>
              <a:tabLst>
                <a:tab pos="997377" algn="l"/>
              </a:tabLst>
            </a:pPr>
            <a:r>
              <a:rPr sz="1588" spc="-4" dirty="0">
                <a:latin typeface="Arial"/>
                <a:cs typeface="Arial"/>
              </a:rPr>
              <a:t>There</a:t>
            </a:r>
            <a:r>
              <a:rPr sz="1588" spc="9" dirty="0">
                <a:latin typeface="Arial"/>
                <a:cs typeface="Arial"/>
              </a:rPr>
              <a:t> </a:t>
            </a:r>
            <a:r>
              <a:rPr sz="1588" spc="-4" dirty="0">
                <a:latin typeface="Arial"/>
                <a:cs typeface="Arial"/>
              </a:rPr>
              <a:t>are	3 levels </a:t>
            </a:r>
            <a:r>
              <a:rPr sz="1588" dirty="0">
                <a:latin typeface="Arial"/>
                <a:cs typeface="Arial"/>
              </a:rPr>
              <a:t>of</a:t>
            </a:r>
            <a:r>
              <a:rPr sz="1588" spc="9" dirty="0">
                <a:latin typeface="Arial"/>
                <a:cs typeface="Arial"/>
              </a:rPr>
              <a:t> </a:t>
            </a:r>
            <a:r>
              <a:rPr sz="1588" spc="-4" dirty="0">
                <a:latin typeface="Arial"/>
                <a:cs typeface="Arial"/>
              </a:rPr>
              <a:t>abstraction</a:t>
            </a:r>
            <a:endParaRPr sz="1588" dirty="0">
              <a:latin typeface="Arial"/>
              <a:cs typeface="Arial"/>
            </a:endParaRPr>
          </a:p>
        </p:txBody>
      </p:sp>
      <p:sp>
        <p:nvSpPr>
          <p:cNvPr id="7" name="object 7"/>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574759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54044" y="1065007"/>
            <a:ext cx="182879" cy="177501"/>
          </a:xfrm>
          <a:prstGeom prst="rect">
            <a:avLst/>
          </a:prstGeom>
          <a:blipFill>
            <a:blip r:embed="rId2" cstate="print"/>
            <a:stretch>
              <a:fillRect/>
            </a:stretch>
          </a:blipFill>
        </p:spPr>
        <p:txBody>
          <a:bodyPr wrap="square" lIns="0" tIns="0" rIns="0" bIns="0" rtlCol="0"/>
          <a:lstStyle/>
          <a:p>
            <a:endParaRPr sz="1588"/>
          </a:p>
        </p:txBody>
      </p:sp>
      <p:grpSp>
        <p:nvGrpSpPr>
          <p:cNvPr id="3" name="object 3"/>
          <p:cNvGrpSpPr/>
          <p:nvPr/>
        </p:nvGrpSpPr>
        <p:grpSpPr>
          <a:xfrm>
            <a:off x="2554044" y="2226833"/>
            <a:ext cx="183216" cy="169769"/>
            <a:chOff x="1014983" y="2523744"/>
            <a:chExt cx="207645" cy="192405"/>
          </a:xfrm>
        </p:grpSpPr>
        <p:sp>
          <p:nvSpPr>
            <p:cNvPr id="4" name="object 4"/>
            <p:cNvSpPr/>
            <p:nvPr/>
          </p:nvSpPr>
          <p:spPr>
            <a:xfrm>
              <a:off x="1124711" y="2523744"/>
              <a:ext cx="27431" cy="13715"/>
            </a:xfrm>
            <a:prstGeom prst="rect">
              <a:avLst/>
            </a:prstGeom>
            <a:blipFill>
              <a:blip r:embed="rId3" cstate="print"/>
              <a:stretch>
                <a:fillRect/>
              </a:stretch>
            </a:blipFill>
          </p:spPr>
          <p:txBody>
            <a:bodyPr wrap="square" lIns="0" tIns="0" rIns="0" bIns="0" rtlCol="0"/>
            <a:lstStyle/>
            <a:p>
              <a:endParaRPr sz="1588"/>
            </a:p>
          </p:txBody>
        </p:sp>
        <p:sp>
          <p:nvSpPr>
            <p:cNvPr id="5" name="object 5"/>
            <p:cNvSpPr/>
            <p:nvPr/>
          </p:nvSpPr>
          <p:spPr>
            <a:xfrm>
              <a:off x="1014983" y="2537460"/>
              <a:ext cx="207263" cy="178307"/>
            </a:xfrm>
            <a:prstGeom prst="rect">
              <a:avLst/>
            </a:prstGeom>
            <a:blipFill>
              <a:blip r:embed="rId4" cstate="print"/>
              <a:stretch>
                <a:fillRect/>
              </a:stretch>
            </a:blipFill>
          </p:spPr>
          <p:txBody>
            <a:bodyPr wrap="square" lIns="0" tIns="0" rIns="0" bIns="0" rtlCol="0"/>
            <a:lstStyle/>
            <a:p>
              <a:endParaRPr sz="1588"/>
            </a:p>
          </p:txBody>
        </p:sp>
      </p:grpSp>
      <p:sp>
        <p:nvSpPr>
          <p:cNvPr id="6" name="object 6"/>
          <p:cNvSpPr/>
          <p:nvPr/>
        </p:nvSpPr>
        <p:spPr>
          <a:xfrm>
            <a:off x="2554044" y="4477871"/>
            <a:ext cx="182879" cy="178846"/>
          </a:xfrm>
          <a:prstGeom prst="rect">
            <a:avLst/>
          </a:prstGeom>
          <a:blipFill>
            <a:blip r:embed="rId5" cstate="print"/>
            <a:stretch>
              <a:fillRect/>
            </a:stretch>
          </a:blipFill>
        </p:spPr>
        <p:txBody>
          <a:bodyPr wrap="square" lIns="0" tIns="0" rIns="0" bIns="0" rtlCol="0"/>
          <a:lstStyle/>
          <a:p>
            <a:endParaRPr sz="1588"/>
          </a:p>
        </p:txBody>
      </p:sp>
      <p:sp>
        <p:nvSpPr>
          <p:cNvPr id="7" name="object 7"/>
          <p:cNvSpPr txBox="1"/>
          <p:nvPr/>
        </p:nvSpPr>
        <p:spPr>
          <a:xfrm>
            <a:off x="2833295" y="899161"/>
            <a:ext cx="6324040" cy="4579878"/>
          </a:xfrm>
          <a:prstGeom prst="rect">
            <a:avLst/>
          </a:prstGeom>
        </p:spPr>
        <p:txBody>
          <a:bodyPr vert="horz" wrap="square" lIns="0" tIns="74519" rIns="0" bIns="0" rtlCol="0">
            <a:spAutoFit/>
          </a:bodyPr>
          <a:lstStyle/>
          <a:p>
            <a:pPr marL="15129">
              <a:spcBef>
                <a:spcPts val="587"/>
              </a:spcBef>
            </a:pPr>
            <a:r>
              <a:rPr sz="2118" spc="-4" dirty="0">
                <a:latin typeface="Arial"/>
                <a:cs typeface="Arial"/>
              </a:rPr>
              <a:t>view level:- describe only </a:t>
            </a:r>
            <a:r>
              <a:rPr sz="2118" dirty="0">
                <a:latin typeface="Arial"/>
                <a:cs typeface="Arial"/>
              </a:rPr>
              <a:t>part of </a:t>
            </a:r>
            <a:r>
              <a:rPr sz="2118" spc="-4" dirty="0">
                <a:latin typeface="Arial"/>
                <a:cs typeface="Arial"/>
              </a:rPr>
              <a:t>entire</a:t>
            </a:r>
            <a:r>
              <a:rPr sz="2118" spc="71" dirty="0">
                <a:latin typeface="Arial"/>
                <a:cs typeface="Arial"/>
              </a:rPr>
              <a:t> </a:t>
            </a:r>
            <a:r>
              <a:rPr sz="2118" spc="-4" dirty="0">
                <a:latin typeface="Arial"/>
                <a:cs typeface="Arial"/>
              </a:rPr>
              <a:t>database</a:t>
            </a:r>
            <a:endParaRPr sz="2118">
              <a:latin typeface="Arial"/>
              <a:cs typeface="Arial"/>
            </a:endParaRPr>
          </a:p>
          <a:p>
            <a:pPr marL="368693" indent="-253266">
              <a:spcBef>
                <a:spcPts val="494"/>
              </a:spcBef>
              <a:buClr>
                <a:srgbClr val="6600FF"/>
              </a:buClr>
              <a:buFont typeface="Wingdings"/>
              <a:buChar char=""/>
              <a:tabLst>
                <a:tab pos="369254" algn="l"/>
              </a:tabLst>
            </a:pPr>
            <a:r>
              <a:rPr sz="2118" dirty="0">
                <a:latin typeface="Arial"/>
                <a:cs typeface="Arial"/>
              </a:rPr>
              <a:t>v1: </a:t>
            </a:r>
            <a:r>
              <a:rPr sz="2118" spc="-4" dirty="0">
                <a:latin typeface="Arial"/>
                <a:cs typeface="Arial"/>
              </a:rPr>
              <a:t>select </a:t>
            </a:r>
            <a:r>
              <a:rPr sz="2118" dirty="0">
                <a:latin typeface="Arial"/>
                <a:cs typeface="Arial"/>
              </a:rPr>
              <a:t>ssn from</a:t>
            </a:r>
            <a:r>
              <a:rPr sz="2118" spc="-9" dirty="0">
                <a:latin typeface="Arial"/>
                <a:cs typeface="Arial"/>
              </a:rPr>
              <a:t> </a:t>
            </a:r>
            <a:r>
              <a:rPr sz="2118" dirty="0">
                <a:latin typeface="Arial"/>
                <a:cs typeface="Arial"/>
              </a:rPr>
              <a:t>student</a:t>
            </a:r>
            <a:endParaRPr sz="2118">
              <a:latin typeface="Arial"/>
              <a:cs typeface="Arial"/>
            </a:endParaRPr>
          </a:p>
          <a:p>
            <a:pPr marL="368693" indent="-253266">
              <a:spcBef>
                <a:spcPts val="512"/>
              </a:spcBef>
              <a:buClr>
                <a:srgbClr val="6600FF"/>
              </a:buClr>
              <a:buFont typeface="Wingdings"/>
              <a:buChar char=""/>
              <a:tabLst>
                <a:tab pos="369254" algn="l"/>
              </a:tabLst>
            </a:pPr>
            <a:r>
              <a:rPr sz="2118" dirty="0">
                <a:latin typeface="Arial"/>
                <a:cs typeface="Arial"/>
              </a:rPr>
              <a:t>v2: </a:t>
            </a:r>
            <a:r>
              <a:rPr sz="2118" spc="-4" dirty="0">
                <a:latin typeface="Arial"/>
                <a:cs typeface="Arial"/>
              </a:rPr>
              <a:t>select </a:t>
            </a:r>
            <a:r>
              <a:rPr sz="2118" dirty="0">
                <a:latin typeface="Arial"/>
                <a:cs typeface="Arial"/>
              </a:rPr>
              <a:t>ssn, </a:t>
            </a:r>
            <a:r>
              <a:rPr sz="2118" spc="-4" dirty="0">
                <a:latin typeface="Arial"/>
                <a:cs typeface="Arial"/>
              </a:rPr>
              <a:t>c-id </a:t>
            </a:r>
            <a:r>
              <a:rPr sz="2118" dirty="0">
                <a:latin typeface="Arial"/>
                <a:cs typeface="Arial"/>
              </a:rPr>
              <a:t>from takes</a:t>
            </a:r>
            <a:endParaRPr sz="2118">
              <a:latin typeface="Arial"/>
              <a:cs typeface="Arial"/>
            </a:endParaRPr>
          </a:p>
          <a:p>
            <a:pPr marL="15129" marR="4483">
              <a:spcBef>
                <a:spcPts val="494"/>
              </a:spcBef>
            </a:pPr>
            <a:r>
              <a:rPr sz="2118" spc="-4" dirty="0">
                <a:latin typeface="Arial"/>
                <a:cs typeface="Arial"/>
              </a:rPr>
              <a:t>logical level:- </a:t>
            </a:r>
            <a:r>
              <a:rPr sz="2118" dirty="0">
                <a:latin typeface="Arial"/>
                <a:cs typeface="Arial"/>
              </a:rPr>
              <a:t>it </a:t>
            </a:r>
            <a:r>
              <a:rPr sz="2118" spc="-4" dirty="0">
                <a:latin typeface="Arial"/>
                <a:cs typeface="Arial"/>
              </a:rPr>
              <a:t>describes what data actually stored </a:t>
            </a:r>
            <a:r>
              <a:rPr sz="2118" dirty="0">
                <a:latin typeface="Arial"/>
                <a:cs typeface="Arial"/>
              </a:rPr>
              <a:t>&amp;  </a:t>
            </a:r>
            <a:r>
              <a:rPr sz="2118" spc="-4" dirty="0">
                <a:latin typeface="Arial"/>
                <a:cs typeface="Arial"/>
              </a:rPr>
              <a:t>relationship between</a:t>
            </a:r>
            <a:r>
              <a:rPr sz="2118" dirty="0">
                <a:latin typeface="Arial"/>
                <a:cs typeface="Arial"/>
              </a:rPr>
              <a:t> them.</a:t>
            </a:r>
            <a:endParaRPr sz="2118">
              <a:latin typeface="Arial"/>
              <a:cs typeface="Arial"/>
            </a:endParaRPr>
          </a:p>
          <a:p>
            <a:pPr marL="11206">
              <a:spcBef>
                <a:spcPts val="499"/>
              </a:spcBef>
            </a:pPr>
            <a:r>
              <a:rPr sz="2118" dirty="0">
                <a:latin typeface="Arial"/>
                <a:cs typeface="Arial"/>
              </a:rPr>
              <a:t>eg.,</a:t>
            </a:r>
            <a:r>
              <a:rPr sz="2118" spc="-4" dirty="0">
                <a:latin typeface="Arial"/>
                <a:cs typeface="Arial"/>
              </a:rPr>
              <a:t> tables</a:t>
            </a:r>
            <a:endParaRPr sz="2118">
              <a:latin typeface="Arial"/>
              <a:cs typeface="Arial"/>
            </a:endParaRPr>
          </a:p>
          <a:p>
            <a:pPr marL="368693" indent="-253266">
              <a:spcBef>
                <a:spcPts val="507"/>
              </a:spcBef>
              <a:buClr>
                <a:srgbClr val="6600FF"/>
              </a:buClr>
              <a:buFont typeface="Wingdings"/>
              <a:buChar char=""/>
              <a:tabLst>
                <a:tab pos="369254" algn="l"/>
              </a:tabLst>
            </a:pPr>
            <a:r>
              <a:rPr sz="2118" dirty="0">
                <a:latin typeface="Arial"/>
                <a:cs typeface="Arial"/>
              </a:rPr>
              <a:t>Student(ssn,</a:t>
            </a:r>
            <a:r>
              <a:rPr sz="2118" spc="-4" dirty="0">
                <a:latin typeface="Arial"/>
                <a:cs typeface="Arial"/>
              </a:rPr>
              <a:t> name)</a:t>
            </a:r>
            <a:endParaRPr sz="2118">
              <a:latin typeface="Arial"/>
              <a:cs typeface="Arial"/>
            </a:endParaRPr>
          </a:p>
          <a:p>
            <a:pPr marL="368693" indent="-253266">
              <a:spcBef>
                <a:spcPts val="499"/>
              </a:spcBef>
              <a:buClr>
                <a:srgbClr val="6600FF"/>
              </a:buClr>
              <a:buFont typeface="Wingdings"/>
              <a:buChar char=""/>
              <a:tabLst>
                <a:tab pos="369254" algn="l"/>
              </a:tabLst>
            </a:pPr>
            <a:r>
              <a:rPr sz="2118" dirty="0">
                <a:latin typeface="Arial"/>
                <a:cs typeface="Arial"/>
              </a:rPr>
              <a:t>TAKES (ssn, c-id,</a:t>
            </a:r>
            <a:r>
              <a:rPr sz="2118" spc="-4" dirty="0">
                <a:latin typeface="Arial"/>
                <a:cs typeface="Arial"/>
              </a:rPr>
              <a:t> grade)</a:t>
            </a:r>
            <a:endParaRPr sz="2118">
              <a:latin typeface="Arial"/>
              <a:cs typeface="Arial"/>
            </a:endParaRPr>
          </a:p>
          <a:p>
            <a:pPr>
              <a:spcBef>
                <a:spcPts val="44"/>
              </a:spcBef>
              <a:buClr>
                <a:srgbClr val="6600FF"/>
              </a:buClr>
              <a:buFont typeface="Wingdings"/>
              <a:buChar char=""/>
            </a:pPr>
            <a:endParaRPr sz="3044">
              <a:latin typeface="Arial"/>
              <a:cs typeface="Arial"/>
            </a:endParaRPr>
          </a:p>
          <a:p>
            <a:pPr marL="15129">
              <a:spcBef>
                <a:spcPts val="4"/>
              </a:spcBef>
            </a:pPr>
            <a:r>
              <a:rPr sz="2118" spc="-4" dirty="0">
                <a:latin typeface="Arial"/>
                <a:cs typeface="Arial"/>
              </a:rPr>
              <a:t>physical level:</a:t>
            </a:r>
            <a:endParaRPr sz="2118">
              <a:latin typeface="Arial"/>
              <a:cs typeface="Arial"/>
            </a:endParaRPr>
          </a:p>
          <a:p>
            <a:pPr marL="368693" marR="402313" indent="-253266">
              <a:lnSpc>
                <a:spcPts val="2532"/>
              </a:lnSpc>
              <a:spcBef>
                <a:spcPts val="600"/>
              </a:spcBef>
              <a:buClr>
                <a:srgbClr val="6600FF"/>
              </a:buClr>
              <a:buFont typeface="Wingdings"/>
              <a:buChar char=""/>
              <a:tabLst>
                <a:tab pos="369254" algn="l"/>
              </a:tabLst>
            </a:pPr>
            <a:r>
              <a:rPr sz="2118" spc="-4" dirty="0">
                <a:latin typeface="Arial"/>
                <a:cs typeface="Arial"/>
              </a:rPr>
              <a:t>how are these tables </a:t>
            </a:r>
            <a:r>
              <a:rPr sz="2118" dirty="0">
                <a:latin typeface="Arial"/>
                <a:cs typeface="Arial"/>
              </a:rPr>
              <a:t>stored, </a:t>
            </a:r>
            <a:r>
              <a:rPr sz="2118" spc="-4" dirty="0">
                <a:latin typeface="Arial"/>
                <a:cs typeface="Arial"/>
              </a:rPr>
              <a:t>how many </a:t>
            </a:r>
            <a:r>
              <a:rPr sz="2118" dirty="0">
                <a:latin typeface="Arial"/>
                <a:cs typeface="Arial"/>
              </a:rPr>
              <a:t>bytes /  </a:t>
            </a:r>
            <a:r>
              <a:rPr sz="2118" spc="-4" dirty="0">
                <a:latin typeface="Arial"/>
                <a:cs typeface="Arial"/>
              </a:rPr>
              <a:t>attribute etc</a:t>
            </a:r>
            <a:endParaRPr sz="2118">
              <a:latin typeface="Arial"/>
              <a:cs typeface="Arial"/>
            </a:endParaRPr>
          </a:p>
        </p:txBody>
      </p:sp>
      <p:sp>
        <p:nvSpPr>
          <p:cNvPr id="8" name="object 8"/>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2349873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Three schema Architecture</a:t>
            </a:r>
            <a:br>
              <a:rPr lang="en-IN" b="1" dirty="0" smtClean="0"/>
            </a:br>
            <a:endParaRPr lang="en-IN" dirty="0"/>
          </a:p>
        </p:txBody>
      </p:sp>
      <p:sp>
        <p:nvSpPr>
          <p:cNvPr id="3" name="Content Placeholder 2"/>
          <p:cNvSpPr>
            <a:spLocks noGrp="1"/>
          </p:cNvSpPr>
          <p:nvPr>
            <p:ph idx="1"/>
          </p:nvPr>
        </p:nvSpPr>
        <p:spPr/>
        <p:txBody>
          <a:bodyPr/>
          <a:lstStyle/>
          <a:p>
            <a:pPr algn="just"/>
            <a:r>
              <a:rPr lang="en-IN" sz="2400" dirty="0" smtClean="0"/>
              <a:t>The three schema architecture is also called ANSI/SPARC architecture or three-level architecture.</a:t>
            </a:r>
          </a:p>
          <a:p>
            <a:pPr algn="just"/>
            <a:r>
              <a:rPr lang="en-IN" sz="2400" dirty="0" smtClean="0"/>
              <a:t>This framework is used to describe the structure of a specific database system. </a:t>
            </a:r>
          </a:p>
          <a:p>
            <a:pPr algn="just"/>
            <a:r>
              <a:rPr lang="en-IN" sz="2400" dirty="0" smtClean="0"/>
              <a:t>The three schema architecture is also used to separate the user applications and physical database. </a:t>
            </a:r>
          </a:p>
          <a:p>
            <a:pPr algn="just"/>
            <a:r>
              <a:rPr lang="en-IN" sz="2400" dirty="0" smtClean="0"/>
              <a:t>The three schema architecture contains three-levels. It breaks the database down into three different categories.</a:t>
            </a:r>
          </a:p>
          <a:p>
            <a:endParaRPr lang="en-IN" dirty="0"/>
          </a:p>
        </p:txBody>
      </p:sp>
    </p:spTree>
    <p:extLst>
      <p:ext uri="{BB962C8B-B14F-4D97-AF65-F5344CB8AC3E}">
        <p14:creationId xmlns:p14="http://schemas.microsoft.com/office/powerpoint/2010/main" val="29522363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The three-schema architecture is as follows:</a:t>
            </a:r>
            <a:endParaRPr lang="en-IN" dirty="0"/>
          </a:p>
        </p:txBody>
      </p:sp>
      <p:pic>
        <p:nvPicPr>
          <p:cNvPr id="4" name="Content Placeholder 3"/>
          <p:cNvPicPr>
            <a:picLocks noGrp="1" noChangeAspect="1"/>
          </p:cNvPicPr>
          <p:nvPr>
            <p:ph idx="1"/>
          </p:nvPr>
        </p:nvPicPr>
        <p:blipFill>
          <a:blip r:embed="rId2"/>
          <a:stretch>
            <a:fillRect/>
          </a:stretch>
        </p:blipFill>
        <p:spPr>
          <a:xfrm>
            <a:off x="2343150" y="1825625"/>
            <a:ext cx="7258049" cy="4351338"/>
          </a:xfrm>
          <a:prstGeom prst="rect">
            <a:avLst/>
          </a:prstGeom>
        </p:spPr>
      </p:pic>
    </p:spTree>
    <p:extLst>
      <p:ext uri="{BB962C8B-B14F-4D97-AF65-F5344CB8AC3E}">
        <p14:creationId xmlns:p14="http://schemas.microsoft.com/office/powerpoint/2010/main" val="15429826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 the above diagram:</a:t>
            </a:r>
            <a:endParaRPr lang="en-IN" dirty="0"/>
          </a:p>
        </p:txBody>
      </p:sp>
      <p:sp>
        <p:nvSpPr>
          <p:cNvPr id="3" name="Content Placeholder 2"/>
          <p:cNvSpPr>
            <a:spLocks noGrp="1"/>
          </p:cNvSpPr>
          <p:nvPr>
            <p:ph idx="1"/>
          </p:nvPr>
        </p:nvSpPr>
        <p:spPr/>
        <p:txBody>
          <a:bodyPr/>
          <a:lstStyle/>
          <a:p>
            <a:pPr algn="just"/>
            <a:r>
              <a:rPr lang="en-IN" dirty="0" smtClean="0"/>
              <a:t>It shows the DBMS architecture.</a:t>
            </a:r>
          </a:p>
          <a:p>
            <a:pPr algn="just"/>
            <a:r>
              <a:rPr lang="en-IN" dirty="0" smtClean="0"/>
              <a:t>Mapping is used to transform the request and response between various database levels of architecture.</a:t>
            </a:r>
          </a:p>
          <a:p>
            <a:pPr algn="just"/>
            <a:r>
              <a:rPr lang="en-IN" dirty="0" smtClean="0"/>
              <a:t>Mapping is not good for small DBMS because it takes more time.</a:t>
            </a:r>
          </a:p>
          <a:p>
            <a:pPr algn="just"/>
            <a:r>
              <a:rPr lang="en-IN" dirty="0" smtClean="0"/>
              <a:t>In External / Conceptual mapping, it is necessary to transform the request from external level to conceptual schema. </a:t>
            </a:r>
          </a:p>
          <a:p>
            <a:pPr algn="just"/>
            <a:r>
              <a:rPr lang="en-IN" dirty="0" smtClean="0"/>
              <a:t>In Conceptual / Internal mapping, DBMS transform the request from the conceptual to internal level. </a:t>
            </a:r>
          </a:p>
          <a:p>
            <a:endParaRPr lang="en-IN" dirty="0"/>
          </a:p>
        </p:txBody>
      </p:sp>
    </p:spTree>
    <p:extLst>
      <p:ext uri="{BB962C8B-B14F-4D97-AF65-F5344CB8AC3E}">
        <p14:creationId xmlns:p14="http://schemas.microsoft.com/office/powerpoint/2010/main" val="1446386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1. Internal Level</a:t>
            </a:r>
            <a:br>
              <a:rPr lang="en-IN" b="1" dirty="0" smtClean="0"/>
            </a:br>
            <a:endParaRPr lang="en-IN" dirty="0"/>
          </a:p>
        </p:txBody>
      </p:sp>
      <p:sp>
        <p:nvSpPr>
          <p:cNvPr id="3" name="Content Placeholder 2"/>
          <p:cNvSpPr>
            <a:spLocks noGrp="1"/>
          </p:cNvSpPr>
          <p:nvPr>
            <p:ph idx="1"/>
          </p:nvPr>
        </p:nvSpPr>
        <p:spPr>
          <a:xfrm>
            <a:off x="838200" y="1257300"/>
            <a:ext cx="10515600" cy="4919663"/>
          </a:xfrm>
        </p:spPr>
        <p:txBody>
          <a:bodyPr/>
          <a:lstStyle/>
          <a:p>
            <a:pPr algn="just"/>
            <a:r>
              <a:rPr lang="en-IN" dirty="0" smtClean="0"/>
              <a:t>The internal level has an internal schema which describes the physical storage structure of the database. </a:t>
            </a:r>
          </a:p>
          <a:p>
            <a:pPr algn="just"/>
            <a:r>
              <a:rPr lang="en-IN" dirty="0" smtClean="0"/>
              <a:t>The internal schema is also known as a physical schema.</a:t>
            </a:r>
          </a:p>
          <a:p>
            <a:pPr algn="just"/>
            <a:r>
              <a:rPr lang="en-IN" dirty="0" smtClean="0"/>
              <a:t>It uses the physical data model. It is used to define that how the data will be stored in a block.</a:t>
            </a:r>
          </a:p>
          <a:p>
            <a:pPr algn="just"/>
            <a:r>
              <a:rPr lang="en-IN" dirty="0" smtClean="0"/>
              <a:t>The physical level is used to describe complex low-level data structures in detail.</a:t>
            </a:r>
          </a:p>
          <a:p>
            <a:endParaRPr lang="en-IN" dirty="0"/>
          </a:p>
        </p:txBody>
      </p:sp>
    </p:spTree>
    <p:extLst>
      <p:ext uri="{BB962C8B-B14F-4D97-AF65-F5344CB8AC3E}">
        <p14:creationId xmlns:p14="http://schemas.microsoft.com/office/powerpoint/2010/main" val="6713303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2. Conceptual Level</a:t>
            </a:r>
            <a:br>
              <a:rPr lang="en-IN" b="1" dirty="0" smtClean="0"/>
            </a:b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The conceptual schema describes the design of a database at the conceptual level. Conceptual level is also known as logical level.</a:t>
            </a:r>
          </a:p>
          <a:p>
            <a:pPr algn="just"/>
            <a:r>
              <a:rPr lang="en-IN" dirty="0" smtClean="0"/>
              <a:t>The conceptual schema describes the structure of the whole database. </a:t>
            </a:r>
          </a:p>
          <a:p>
            <a:pPr algn="just"/>
            <a:r>
              <a:rPr lang="en-IN" dirty="0" smtClean="0"/>
              <a:t>The conceptual level describes what data are to be stored in the database and also describes what relationship exists among those data.</a:t>
            </a:r>
          </a:p>
          <a:p>
            <a:pPr algn="just"/>
            <a:r>
              <a:rPr lang="en-IN" dirty="0" smtClean="0"/>
              <a:t>In the conceptual level, internal details such as an implementation of the data structure are hidden.</a:t>
            </a:r>
          </a:p>
          <a:p>
            <a:pPr algn="just"/>
            <a:r>
              <a:rPr lang="en-IN" dirty="0" smtClean="0"/>
              <a:t>Programmers and database administrators work at this level.</a:t>
            </a:r>
          </a:p>
          <a:p>
            <a:endParaRPr lang="en-IN" dirty="0"/>
          </a:p>
        </p:txBody>
      </p:sp>
    </p:spTree>
    <p:extLst>
      <p:ext uri="{BB962C8B-B14F-4D97-AF65-F5344CB8AC3E}">
        <p14:creationId xmlns:p14="http://schemas.microsoft.com/office/powerpoint/2010/main" val="24573331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3. External Level</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At the external level, a database contains several schemas that sometimes called as subschema. The subschema is used to describe the different view of the database. </a:t>
            </a:r>
          </a:p>
          <a:p>
            <a:pPr algn="just"/>
            <a:r>
              <a:rPr lang="en-IN" dirty="0" smtClean="0"/>
              <a:t>An external schema is also known as view schema.</a:t>
            </a:r>
          </a:p>
          <a:p>
            <a:pPr algn="just"/>
            <a:r>
              <a:rPr lang="en-IN" dirty="0" smtClean="0"/>
              <a:t>Each view schema describes the database part that a particular user group is interested and hides the remaining database from that user group.</a:t>
            </a:r>
          </a:p>
          <a:p>
            <a:pPr algn="just"/>
            <a:r>
              <a:rPr lang="en-IN" dirty="0" smtClean="0"/>
              <a:t>The view schema describes the end user interaction with database systems.</a:t>
            </a:r>
          </a:p>
          <a:p>
            <a:endParaRPr lang="en-IN" dirty="0"/>
          </a:p>
        </p:txBody>
      </p:sp>
    </p:spTree>
    <p:extLst>
      <p:ext uri="{BB962C8B-B14F-4D97-AF65-F5344CB8AC3E}">
        <p14:creationId xmlns:p14="http://schemas.microsoft.com/office/powerpoint/2010/main" val="6809608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6602" y="831854"/>
            <a:ext cx="2895599" cy="390982"/>
          </a:xfrm>
          <a:prstGeom prst="rect">
            <a:avLst/>
          </a:prstGeom>
        </p:spPr>
        <p:txBody>
          <a:bodyPr vert="horz" wrap="square" lIns="0" tIns="10646" rIns="0" bIns="0" rtlCol="0" anchor="ctr">
            <a:spAutoFit/>
          </a:bodyPr>
          <a:lstStyle/>
          <a:p>
            <a:pPr marL="11206">
              <a:lnSpc>
                <a:spcPct val="100000"/>
              </a:lnSpc>
              <a:spcBef>
                <a:spcPts val="84"/>
              </a:spcBef>
            </a:pPr>
            <a:r>
              <a:rPr sz="2471" b="1" spc="-4" dirty="0">
                <a:solidFill>
                  <a:srgbClr val="0000FF"/>
                </a:solidFill>
                <a:latin typeface="Arial"/>
                <a:cs typeface="Arial"/>
              </a:rPr>
              <a:t>Data</a:t>
            </a:r>
            <a:r>
              <a:rPr sz="2471" b="1" spc="-49" dirty="0">
                <a:solidFill>
                  <a:srgbClr val="0000FF"/>
                </a:solidFill>
                <a:latin typeface="Arial"/>
                <a:cs typeface="Arial"/>
              </a:rPr>
              <a:t> </a:t>
            </a:r>
            <a:r>
              <a:rPr sz="2471" b="1" spc="-4" dirty="0">
                <a:solidFill>
                  <a:srgbClr val="0000FF"/>
                </a:solidFill>
                <a:latin typeface="Arial"/>
                <a:cs typeface="Arial"/>
              </a:rPr>
              <a:t>Independence</a:t>
            </a:r>
            <a:endParaRPr sz="2471">
              <a:latin typeface="Arial"/>
              <a:cs typeface="Arial"/>
            </a:endParaRPr>
          </a:p>
        </p:txBody>
      </p:sp>
      <p:sp>
        <p:nvSpPr>
          <p:cNvPr id="3" name="object 3"/>
          <p:cNvSpPr txBox="1"/>
          <p:nvPr/>
        </p:nvSpPr>
        <p:spPr>
          <a:xfrm>
            <a:off x="2400300" y="1340233"/>
            <a:ext cx="6160993" cy="1238831"/>
          </a:xfrm>
          <a:prstGeom prst="rect">
            <a:avLst/>
          </a:prstGeom>
        </p:spPr>
        <p:txBody>
          <a:bodyPr vert="horz" wrap="square" lIns="0" tIns="11206" rIns="0" bIns="0" rtlCol="0">
            <a:spAutoFit/>
          </a:bodyPr>
          <a:lstStyle/>
          <a:p>
            <a:pPr marL="11206" marR="4483" algn="just">
              <a:spcBef>
                <a:spcPts val="88"/>
              </a:spcBef>
            </a:pPr>
            <a:r>
              <a:rPr sz="1765" dirty="0">
                <a:latin typeface="Arial"/>
                <a:cs typeface="Arial"/>
              </a:rPr>
              <a:t>The ability to modify a schema definition in one level without  affecting a </a:t>
            </a:r>
            <a:r>
              <a:rPr sz="1765" spc="-9" dirty="0">
                <a:latin typeface="Arial"/>
                <a:cs typeface="Arial"/>
              </a:rPr>
              <a:t>schema </a:t>
            </a:r>
            <a:r>
              <a:rPr sz="1765" dirty="0">
                <a:latin typeface="Arial"/>
                <a:cs typeface="Arial"/>
              </a:rPr>
              <a:t>definition in </a:t>
            </a:r>
            <a:r>
              <a:rPr sz="1765" spc="-13" dirty="0">
                <a:latin typeface="Arial"/>
                <a:cs typeface="Arial"/>
              </a:rPr>
              <a:t>the </a:t>
            </a:r>
            <a:r>
              <a:rPr sz="1765" dirty="0">
                <a:latin typeface="Arial"/>
                <a:cs typeface="Arial"/>
              </a:rPr>
              <a:t>next higher </a:t>
            </a:r>
            <a:r>
              <a:rPr sz="1765" spc="-9" dirty="0">
                <a:latin typeface="Arial"/>
                <a:cs typeface="Arial"/>
              </a:rPr>
              <a:t>level </a:t>
            </a:r>
            <a:r>
              <a:rPr sz="1765" dirty="0">
                <a:latin typeface="Arial"/>
                <a:cs typeface="Arial"/>
              </a:rPr>
              <a:t>is called  </a:t>
            </a:r>
            <a:r>
              <a:rPr sz="1765" b="1" dirty="0">
                <a:latin typeface="Arial"/>
                <a:cs typeface="Arial"/>
              </a:rPr>
              <a:t>data</a:t>
            </a:r>
            <a:r>
              <a:rPr sz="1765" b="1" spc="-4" dirty="0">
                <a:latin typeface="Arial"/>
                <a:cs typeface="Arial"/>
              </a:rPr>
              <a:t> </a:t>
            </a:r>
            <a:r>
              <a:rPr sz="1765" b="1" dirty="0">
                <a:latin typeface="Arial"/>
                <a:cs typeface="Arial"/>
              </a:rPr>
              <a:t>independence.</a:t>
            </a:r>
            <a:endParaRPr sz="1765">
              <a:latin typeface="Arial"/>
              <a:cs typeface="Arial"/>
            </a:endParaRPr>
          </a:p>
          <a:p>
            <a:pPr marL="2045743">
              <a:spcBef>
                <a:spcPts val="1063"/>
              </a:spcBef>
            </a:pPr>
            <a:r>
              <a:rPr sz="1765" dirty="0">
                <a:latin typeface="Arial"/>
                <a:cs typeface="Arial"/>
              </a:rPr>
              <a:t>Two levels of</a:t>
            </a:r>
            <a:r>
              <a:rPr sz="1765" spc="-4" dirty="0">
                <a:latin typeface="Arial"/>
                <a:cs typeface="Arial"/>
              </a:rPr>
              <a:t> independence:</a:t>
            </a:r>
            <a:endParaRPr sz="1765">
              <a:latin typeface="Arial"/>
              <a:cs typeface="Arial"/>
            </a:endParaRPr>
          </a:p>
        </p:txBody>
      </p:sp>
      <p:sp>
        <p:nvSpPr>
          <p:cNvPr id="4" name="object 4"/>
          <p:cNvSpPr txBox="1"/>
          <p:nvPr/>
        </p:nvSpPr>
        <p:spPr>
          <a:xfrm>
            <a:off x="2601994" y="2711863"/>
            <a:ext cx="2706781" cy="282928"/>
          </a:xfrm>
          <a:prstGeom prst="rect">
            <a:avLst/>
          </a:prstGeom>
        </p:spPr>
        <p:txBody>
          <a:bodyPr vert="horz" wrap="square" lIns="0" tIns="11206" rIns="0" bIns="0" rtlCol="0">
            <a:spAutoFit/>
          </a:bodyPr>
          <a:lstStyle/>
          <a:p>
            <a:pPr marL="11206">
              <a:spcBef>
                <a:spcPts val="88"/>
              </a:spcBef>
            </a:pPr>
            <a:r>
              <a:rPr sz="1765" dirty="0">
                <a:latin typeface="Arial"/>
                <a:cs typeface="Arial"/>
              </a:rPr>
              <a:t>Logical data</a:t>
            </a:r>
            <a:r>
              <a:rPr sz="1765" spc="-53" dirty="0">
                <a:latin typeface="Arial"/>
                <a:cs typeface="Arial"/>
              </a:rPr>
              <a:t> </a:t>
            </a:r>
            <a:r>
              <a:rPr sz="1765" dirty="0">
                <a:latin typeface="Arial"/>
                <a:cs typeface="Arial"/>
              </a:rPr>
              <a:t>independence</a:t>
            </a:r>
            <a:endParaRPr sz="1765">
              <a:latin typeface="Arial"/>
              <a:cs typeface="Arial"/>
            </a:endParaRPr>
          </a:p>
        </p:txBody>
      </p:sp>
      <p:sp>
        <p:nvSpPr>
          <p:cNvPr id="5" name="object 5"/>
          <p:cNvSpPr txBox="1"/>
          <p:nvPr/>
        </p:nvSpPr>
        <p:spPr>
          <a:xfrm>
            <a:off x="6367188" y="2779095"/>
            <a:ext cx="2831166" cy="282928"/>
          </a:xfrm>
          <a:prstGeom prst="rect">
            <a:avLst/>
          </a:prstGeom>
        </p:spPr>
        <p:txBody>
          <a:bodyPr vert="horz" wrap="square" lIns="0" tIns="11206" rIns="0" bIns="0" rtlCol="0">
            <a:spAutoFit/>
          </a:bodyPr>
          <a:lstStyle/>
          <a:p>
            <a:pPr marL="11206">
              <a:spcBef>
                <a:spcPts val="88"/>
              </a:spcBef>
            </a:pPr>
            <a:r>
              <a:rPr sz="1765" dirty="0">
                <a:latin typeface="Arial"/>
                <a:cs typeface="Arial"/>
              </a:rPr>
              <a:t>Physical data</a:t>
            </a:r>
            <a:r>
              <a:rPr sz="1765" spc="-49" dirty="0">
                <a:latin typeface="Arial"/>
                <a:cs typeface="Arial"/>
              </a:rPr>
              <a:t> </a:t>
            </a:r>
            <a:r>
              <a:rPr sz="1765" dirty="0">
                <a:latin typeface="Arial"/>
                <a:cs typeface="Arial"/>
              </a:rPr>
              <a:t>independence</a:t>
            </a:r>
            <a:endParaRPr sz="1765">
              <a:latin typeface="Arial"/>
              <a:cs typeface="Arial"/>
            </a:endParaRPr>
          </a:p>
        </p:txBody>
      </p:sp>
      <p:sp>
        <p:nvSpPr>
          <p:cNvPr id="6" name="object 6"/>
          <p:cNvSpPr txBox="1"/>
          <p:nvPr/>
        </p:nvSpPr>
        <p:spPr>
          <a:xfrm>
            <a:off x="2333065" y="3381566"/>
            <a:ext cx="7006478" cy="2068145"/>
          </a:xfrm>
          <a:prstGeom prst="rect">
            <a:avLst/>
          </a:prstGeom>
        </p:spPr>
        <p:txBody>
          <a:bodyPr vert="horz" wrap="square" lIns="0" tIns="148478" rIns="0" bIns="0" rtlCol="0">
            <a:spAutoFit/>
          </a:bodyPr>
          <a:lstStyle/>
          <a:p>
            <a:pPr marL="11206">
              <a:spcBef>
                <a:spcPts val="1169"/>
              </a:spcBef>
            </a:pPr>
            <a:r>
              <a:rPr sz="1765" b="1" dirty="0">
                <a:solidFill>
                  <a:srgbClr val="FF66CC"/>
                </a:solidFill>
                <a:latin typeface="Arial"/>
                <a:cs typeface="Arial"/>
              </a:rPr>
              <a:t>Physical data</a:t>
            </a:r>
            <a:r>
              <a:rPr sz="1765" b="1" spc="-4" dirty="0">
                <a:solidFill>
                  <a:srgbClr val="FF66CC"/>
                </a:solidFill>
                <a:latin typeface="Arial"/>
                <a:cs typeface="Arial"/>
              </a:rPr>
              <a:t> independence—</a:t>
            </a:r>
            <a:endParaRPr sz="1765">
              <a:latin typeface="Arial"/>
              <a:cs typeface="Arial"/>
            </a:endParaRPr>
          </a:p>
          <a:p>
            <a:pPr marL="11206" marR="4483">
              <a:spcBef>
                <a:spcPts val="971"/>
              </a:spcBef>
            </a:pPr>
            <a:r>
              <a:rPr sz="1588" spc="-4" dirty="0">
                <a:latin typeface="Arial"/>
                <a:cs typeface="Arial"/>
              </a:rPr>
              <a:t>The ability </a:t>
            </a:r>
            <a:r>
              <a:rPr sz="1588" dirty="0">
                <a:latin typeface="Arial"/>
                <a:cs typeface="Arial"/>
              </a:rPr>
              <a:t>to </a:t>
            </a:r>
            <a:r>
              <a:rPr sz="1588" spc="-4" dirty="0">
                <a:latin typeface="Arial"/>
                <a:cs typeface="Arial"/>
              </a:rPr>
              <a:t>modify physical level schema without </a:t>
            </a:r>
            <a:r>
              <a:rPr sz="1588" dirty="0">
                <a:latin typeface="Arial"/>
                <a:cs typeface="Arial"/>
              </a:rPr>
              <a:t>affecting the </a:t>
            </a:r>
            <a:r>
              <a:rPr sz="1588" spc="-4" dirty="0">
                <a:latin typeface="Arial"/>
                <a:cs typeface="Arial"/>
              </a:rPr>
              <a:t>logical or view  level </a:t>
            </a:r>
            <a:r>
              <a:rPr sz="1588" dirty="0">
                <a:latin typeface="Arial"/>
                <a:cs typeface="Arial"/>
              </a:rPr>
              <a:t>schema.</a:t>
            </a:r>
            <a:endParaRPr sz="1588">
              <a:latin typeface="Arial"/>
              <a:cs typeface="Arial"/>
            </a:endParaRPr>
          </a:p>
          <a:p>
            <a:pPr marL="11206">
              <a:spcBef>
                <a:spcPts val="1054"/>
              </a:spcBef>
            </a:pPr>
            <a:r>
              <a:rPr sz="1765" b="1" dirty="0">
                <a:solidFill>
                  <a:srgbClr val="FF66CC"/>
                </a:solidFill>
                <a:latin typeface="Arial"/>
                <a:cs typeface="Arial"/>
              </a:rPr>
              <a:t>Logical data</a:t>
            </a:r>
            <a:r>
              <a:rPr sz="1765" b="1" spc="-4" dirty="0">
                <a:solidFill>
                  <a:srgbClr val="FF66CC"/>
                </a:solidFill>
                <a:latin typeface="Arial"/>
                <a:cs typeface="Arial"/>
              </a:rPr>
              <a:t> independence---</a:t>
            </a:r>
            <a:endParaRPr sz="1765">
              <a:latin typeface="Arial"/>
              <a:cs typeface="Arial"/>
            </a:endParaRPr>
          </a:p>
          <a:p>
            <a:pPr marL="11206" marR="152408">
              <a:spcBef>
                <a:spcPts val="971"/>
              </a:spcBef>
            </a:pPr>
            <a:r>
              <a:rPr sz="1588" spc="-4" dirty="0">
                <a:latin typeface="Arial"/>
                <a:cs typeface="Arial"/>
              </a:rPr>
              <a:t>The ability </a:t>
            </a:r>
            <a:r>
              <a:rPr sz="1588" dirty="0">
                <a:latin typeface="Arial"/>
                <a:cs typeface="Arial"/>
              </a:rPr>
              <a:t>to </a:t>
            </a:r>
            <a:r>
              <a:rPr sz="1588" spc="-4" dirty="0">
                <a:latin typeface="Arial"/>
                <a:cs typeface="Arial"/>
              </a:rPr>
              <a:t>change </a:t>
            </a:r>
            <a:r>
              <a:rPr sz="1588" dirty="0">
                <a:latin typeface="Arial"/>
                <a:cs typeface="Arial"/>
              </a:rPr>
              <a:t>the </a:t>
            </a:r>
            <a:r>
              <a:rPr sz="1588" spc="-4" dirty="0">
                <a:latin typeface="Arial"/>
                <a:cs typeface="Arial"/>
              </a:rPr>
              <a:t>logical level scheme without </a:t>
            </a:r>
            <a:r>
              <a:rPr sz="1588" dirty="0">
                <a:latin typeface="Arial"/>
                <a:cs typeface="Arial"/>
              </a:rPr>
              <a:t>affecting the </a:t>
            </a:r>
            <a:r>
              <a:rPr sz="1588" spc="-4" dirty="0">
                <a:latin typeface="Arial"/>
                <a:cs typeface="Arial"/>
              </a:rPr>
              <a:t>view level  schemes or application</a:t>
            </a:r>
            <a:r>
              <a:rPr sz="1588" spc="9" dirty="0">
                <a:latin typeface="Arial"/>
                <a:cs typeface="Arial"/>
              </a:rPr>
              <a:t> </a:t>
            </a:r>
            <a:r>
              <a:rPr sz="1588" spc="-4" dirty="0">
                <a:latin typeface="Arial"/>
                <a:cs typeface="Arial"/>
              </a:rPr>
              <a:t>programs</a:t>
            </a:r>
            <a:endParaRPr sz="1588">
              <a:latin typeface="Arial"/>
              <a:cs typeface="Arial"/>
            </a:endParaRPr>
          </a:p>
        </p:txBody>
      </p:sp>
      <p:sp>
        <p:nvSpPr>
          <p:cNvPr id="7" name="object 7"/>
          <p:cNvSpPr/>
          <p:nvPr/>
        </p:nvSpPr>
        <p:spPr>
          <a:xfrm>
            <a:off x="2061883" y="403411"/>
            <a:ext cx="8068235" cy="6051176"/>
          </a:xfrm>
          <a:custGeom>
            <a:avLst/>
            <a:gdLst/>
            <a:ahLst/>
            <a:cxnLst/>
            <a:rect l="l" t="t" r="r" b="b"/>
            <a:pathLst>
              <a:path w="9144000" h="6858000">
                <a:moveTo>
                  <a:pt x="4271772" y="2284476"/>
                </a:moveTo>
                <a:lnTo>
                  <a:pt x="4268724" y="2281428"/>
                </a:lnTo>
                <a:lnTo>
                  <a:pt x="4265676" y="2281428"/>
                </a:lnTo>
                <a:lnTo>
                  <a:pt x="3496360" y="2631529"/>
                </a:lnTo>
                <a:lnTo>
                  <a:pt x="3482340" y="2601468"/>
                </a:lnTo>
                <a:lnTo>
                  <a:pt x="3429000" y="2667000"/>
                </a:lnTo>
                <a:lnTo>
                  <a:pt x="3514344" y="2670048"/>
                </a:lnTo>
                <a:lnTo>
                  <a:pt x="3502964" y="2645664"/>
                </a:lnTo>
                <a:lnTo>
                  <a:pt x="3500412" y="2640215"/>
                </a:lnTo>
                <a:lnTo>
                  <a:pt x="4268724" y="2290572"/>
                </a:lnTo>
                <a:lnTo>
                  <a:pt x="4271772" y="2287524"/>
                </a:lnTo>
                <a:lnTo>
                  <a:pt x="4271772" y="2284476"/>
                </a:lnTo>
                <a:close/>
              </a:path>
              <a:path w="9144000" h="6858000">
                <a:moveTo>
                  <a:pt x="5105400" y="2798064"/>
                </a:moveTo>
                <a:lnTo>
                  <a:pt x="5087531" y="2769108"/>
                </a:lnTo>
                <a:lnTo>
                  <a:pt x="5061204" y="2726436"/>
                </a:lnTo>
                <a:lnTo>
                  <a:pt x="5044122" y="2753004"/>
                </a:lnTo>
                <a:lnTo>
                  <a:pt x="4270248" y="2261616"/>
                </a:lnTo>
                <a:lnTo>
                  <a:pt x="4265676" y="2260092"/>
                </a:lnTo>
                <a:lnTo>
                  <a:pt x="4262628" y="2263140"/>
                </a:lnTo>
                <a:lnTo>
                  <a:pt x="4262628" y="2266188"/>
                </a:lnTo>
                <a:lnTo>
                  <a:pt x="4264152" y="2269236"/>
                </a:lnTo>
                <a:lnTo>
                  <a:pt x="5038191" y="2762224"/>
                </a:lnTo>
                <a:lnTo>
                  <a:pt x="5020056" y="2790444"/>
                </a:lnTo>
                <a:lnTo>
                  <a:pt x="5105400" y="2798064"/>
                </a:lnTo>
                <a:close/>
              </a:path>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2900690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77510" y="422688"/>
            <a:ext cx="3765176" cy="472415"/>
          </a:xfrm>
          <a:prstGeom prst="rect">
            <a:avLst/>
          </a:prstGeom>
        </p:spPr>
        <p:txBody>
          <a:bodyPr vert="horz" wrap="square" lIns="0" tIns="10646" rIns="0" bIns="0" rtlCol="0" anchor="ctr">
            <a:spAutoFit/>
          </a:bodyPr>
          <a:lstStyle/>
          <a:p>
            <a:pPr marL="11206">
              <a:lnSpc>
                <a:spcPct val="100000"/>
              </a:lnSpc>
              <a:spcBef>
                <a:spcPts val="84"/>
              </a:spcBef>
            </a:pPr>
            <a:r>
              <a:rPr sz="3000" b="1" spc="-4" dirty="0">
                <a:solidFill>
                  <a:srgbClr val="0000FF"/>
                </a:solidFill>
                <a:latin typeface="Times New Roman"/>
                <a:cs typeface="Times New Roman"/>
              </a:rPr>
              <a:t>Instances and</a:t>
            </a:r>
            <a:r>
              <a:rPr sz="3000" b="1" spc="-44" dirty="0">
                <a:solidFill>
                  <a:srgbClr val="0000FF"/>
                </a:solidFill>
                <a:latin typeface="Times New Roman"/>
                <a:cs typeface="Times New Roman"/>
              </a:rPr>
              <a:t> </a:t>
            </a:r>
            <a:r>
              <a:rPr sz="3000" b="1" spc="-4" dirty="0">
                <a:solidFill>
                  <a:srgbClr val="0000FF"/>
                </a:solidFill>
                <a:latin typeface="Times New Roman"/>
                <a:cs typeface="Times New Roman"/>
              </a:rPr>
              <a:t>Schemas</a:t>
            </a:r>
            <a:endParaRPr sz="3000">
              <a:latin typeface="Times New Roman"/>
              <a:cs typeface="Times New Roman"/>
            </a:endParaRPr>
          </a:p>
        </p:txBody>
      </p:sp>
      <p:sp>
        <p:nvSpPr>
          <p:cNvPr id="3" name="object 3"/>
          <p:cNvSpPr txBox="1"/>
          <p:nvPr/>
        </p:nvSpPr>
        <p:spPr>
          <a:xfrm>
            <a:off x="2283310" y="1112159"/>
            <a:ext cx="7390839" cy="4708182"/>
          </a:xfrm>
          <a:prstGeom prst="rect">
            <a:avLst/>
          </a:prstGeom>
        </p:spPr>
        <p:txBody>
          <a:bodyPr vert="horz" wrap="square" lIns="0" tIns="64994" rIns="0" bIns="0" rtlCol="0">
            <a:spAutoFit/>
          </a:bodyPr>
          <a:lstStyle/>
          <a:p>
            <a:pPr marL="11206">
              <a:spcBef>
                <a:spcPts val="512"/>
              </a:spcBef>
            </a:pPr>
            <a:r>
              <a:rPr sz="1765" dirty="0">
                <a:latin typeface="Arial"/>
                <a:cs typeface="Arial"/>
              </a:rPr>
              <a:t>Similar to types </a:t>
            </a:r>
            <a:r>
              <a:rPr sz="1765" spc="-13" dirty="0">
                <a:latin typeface="Arial"/>
                <a:cs typeface="Arial"/>
              </a:rPr>
              <a:t>and </a:t>
            </a:r>
            <a:r>
              <a:rPr sz="1765" dirty="0">
                <a:latin typeface="Arial"/>
                <a:cs typeface="Arial"/>
              </a:rPr>
              <a:t>variables in </a:t>
            </a:r>
            <a:r>
              <a:rPr sz="1765" spc="-4" dirty="0">
                <a:latin typeface="Arial"/>
                <a:cs typeface="Arial"/>
              </a:rPr>
              <a:t>programming</a:t>
            </a:r>
            <a:r>
              <a:rPr sz="1765" spc="9" dirty="0">
                <a:latin typeface="Arial"/>
                <a:cs typeface="Arial"/>
              </a:rPr>
              <a:t> </a:t>
            </a:r>
            <a:r>
              <a:rPr sz="1765" dirty="0">
                <a:latin typeface="Arial"/>
                <a:cs typeface="Arial"/>
              </a:rPr>
              <a:t>languages</a:t>
            </a:r>
            <a:endParaRPr sz="1765">
              <a:latin typeface="Arial"/>
              <a:cs typeface="Arial"/>
            </a:endParaRPr>
          </a:p>
          <a:p>
            <a:pPr marL="313781" indent="-302575">
              <a:spcBef>
                <a:spcPts val="424"/>
              </a:spcBef>
              <a:buClr>
                <a:srgbClr val="99CC00"/>
              </a:buClr>
              <a:buFont typeface="Wingdings"/>
              <a:buChar char=""/>
              <a:tabLst>
                <a:tab pos="313221" algn="l"/>
                <a:tab pos="313781" algn="l"/>
              </a:tabLst>
            </a:pPr>
            <a:r>
              <a:rPr sz="1765" b="1" dirty="0">
                <a:solidFill>
                  <a:srgbClr val="FF66CC"/>
                </a:solidFill>
                <a:latin typeface="Arial"/>
                <a:cs typeface="Arial"/>
              </a:rPr>
              <a:t>Schema </a:t>
            </a:r>
            <a:r>
              <a:rPr sz="1765" dirty="0">
                <a:solidFill>
                  <a:srgbClr val="FF66CC"/>
                </a:solidFill>
                <a:latin typeface="Arial"/>
                <a:cs typeface="Arial"/>
              </a:rPr>
              <a:t>– </a:t>
            </a:r>
            <a:r>
              <a:rPr sz="1765" dirty="0">
                <a:latin typeface="Arial"/>
                <a:cs typeface="Arial"/>
              </a:rPr>
              <a:t>The logical </a:t>
            </a:r>
            <a:r>
              <a:rPr sz="1765" spc="-4" dirty="0">
                <a:latin typeface="Arial"/>
                <a:cs typeface="Arial"/>
              </a:rPr>
              <a:t>structure </a:t>
            </a:r>
            <a:r>
              <a:rPr sz="1765" dirty="0">
                <a:latin typeface="Arial"/>
                <a:cs typeface="Arial"/>
              </a:rPr>
              <a:t>of the</a:t>
            </a:r>
            <a:r>
              <a:rPr sz="1765" spc="-53" dirty="0">
                <a:latin typeface="Arial"/>
                <a:cs typeface="Arial"/>
              </a:rPr>
              <a:t> </a:t>
            </a:r>
            <a:r>
              <a:rPr sz="1765" dirty="0">
                <a:latin typeface="Arial"/>
                <a:cs typeface="Arial"/>
              </a:rPr>
              <a:t>database</a:t>
            </a:r>
            <a:endParaRPr sz="1765">
              <a:latin typeface="Arial"/>
              <a:cs typeface="Arial"/>
            </a:endParaRPr>
          </a:p>
          <a:p>
            <a:pPr marL="313781" marR="77885" indent="-303135">
              <a:spcBef>
                <a:spcPts val="410"/>
              </a:spcBef>
            </a:pPr>
            <a:r>
              <a:rPr sz="1765" dirty="0">
                <a:latin typeface="Arial"/>
                <a:cs typeface="Arial"/>
              </a:rPr>
              <a:t>The overall design of a database ( i.e., the </a:t>
            </a:r>
            <a:r>
              <a:rPr sz="1765" spc="-4" dirty="0">
                <a:latin typeface="Arial"/>
                <a:cs typeface="Arial"/>
              </a:rPr>
              <a:t>description </a:t>
            </a:r>
            <a:r>
              <a:rPr sz="1765" dirty="0">
                <a:latin typeface="Arial"/>
                <a:cs typeface="Arial"/>
              </a:rPr>
              <a:t>of the </a:t>
            </a:r>
            <a:r>
              <a:rPr sz="1765" spc="-4" dirty="0">
                <a:latin typeface="Arial"/>
                <a:cs typeface="Arial"/>
              </a:rPr>
              <a:t>database </a:t>
            </a:r>
            <a:r>
              <a:rPr sz="1765" dirty="0">
                <a:latin typeface="Arial"/>
                <a:cs typeface="Arial"/>
              </a:rPr>
              <a:t>)</a:t>
            </a:r>
            <a:r>
              <a:rPr sz="1765" spc="-75" dirty="0">
                <a:latin typeface="Arial"/>
                <a:cs typeface="Arial"/>
              </a:rPr>
              <a:t> </a:t>
            </a:r>
            <a:r>
              <a:rPr sz="1765" dirty="0">
                <a:latin typeface="Arial"/>
                <a:cs typeface="Arial"/>
              </a:rPr>
              <a:t>is  called the database</a:t>
            </a:r>
            <a:r>
              <a:rPr sz="1765" spc="-31" dirty="0">
                <a:latin typeface="Arial"/>
                <a:cs typeface="Arial"/>
              </a:rPr>
              <a:t> </a:t>
            </a:r>
            <a:r>
              <a:rPr sz="1765" b="1" dirty="0">
                <a:latin typeface="Arial"/>
                <a:cs typeface="Arial"/>
              </a:rPr>
              <a:t>schema</a:t>
            </a:r>
            <a:endParaRPr sz="1765">
              <a:latin typeface="Arial"/>
              <a:cs typeface="Arial"/>
            </a:endParaRPr>
          </a:p>
          <a:p>
            <a:pPr marL="667346" marR="513257" lvl="1" indent="-253266">
              <a:lnSpc>
                <a:spcPct val="145200"/>
              </a:lnSpc>
              <a:spcBef>
                <a:spcPts val="243"/>
              </a:spcBef>
              <a:buClr>
                <a:srgbClr val="009999"/>
              </a:buClr>
              <a:buChar char="•"/>
              <a:tabLst>
                <a:tab pos="667346" algn="l"/>
                <a:tab pos="667906" algn="l"/>
              </a:tabLst>
            </a:pPr>
            <a:r>
              <a:rPr sz="1853" dirty="0">
                <a:latin typeface="Arial"/>
                <a:cs typeface="Arial"/>
              </a:rPr>
              <a:t>e.g., the </a:t>
            </a:r>
            <a:r>
              <a:rPr sz="1853" spc="-4" dirty="0">
                <a:latin typeface="Arial"/>
                <a:cs typeface="Arial"/>
              </a:rPr>
              <a:t>database </a:t>
            </a:r>
            <a:r>
              <a:rPr sz="1853" dirty="0">
                <a:latin typeface="Arial"/>
                <a:cs typeface="Arial"/>
              </a:rPr>
              <a:t>consists of </a:t>
            </a:r>
            <a:r>
              <a:rPr sz="1853" spc="-4" dirty="0">
                <a:latin typeface="Arial"/>
                <a:cs typeface="Arial"/>
              </a:rPr>
              <a:t>information </a:t>
            </a:r>
            <a:r>
              <a:rPr sz="1853" spc="-13" dirty="0">
                <a:latin typeface="Arial"/>
                <a:cs typeface="Arial"/>
              </a:rPr>
              <a:t>about </a:t>
            </a:r>
            <a:r>
              <a:rPr sz="1853" spc="-4" dirty="0">
                <a:latin typeface="Arial"/>
                <a:cs typeface="Arial"/>
              </a:rPr>
              <a:t>a </a:t>
            </a:r>
            <a:r>
              <a:rPr sz="1853" dirty="0">
                <a:latin typeface="Arial"/>
                <a:cs typeface="Arial"/>
              </a:rPr>
              <a:t>set of  customers </a:t>
            </a:r>
            <a:r>
              <a:rPr sz="1853" spc="-4" dirty="0">
                <a:latin typeface="Arial"/>
                <a:cs typeface="Arial"/>
              </a:rPr>
              <a:t>and accounts and </a:t>
            </a:r>
            <a:r>
              <a:rPr sz="1853" dirty="0">
                <a:latin typeface="Arial"/>
                <a:cs typeface="Arial"/>
              </a:rPr>
              <a:t>the </a:t>
            </a:r>
            <a:r>
              <a:rPr sz="1853" spc="-4" dirty="0">
                <a:latin typeface="Arial"/>
                <a:cs typeface="Arial"/>
              </a:rPr>
              <a:t>relationship </a:t>
            </a:r>
            <a:r>
              <a:rPr sz="1853" spc="-9" dirty="0">
                <a:latin typeface="Arial"/>
                <a:cs typeface="Arial"/>
              </a:rPr>
              <a:t>between</a:t>
            </a:r>
            <a:r>
              <a:rPr sz="1853" spc="9" dirty="0">
                <a:latin typeface="Arial"/>
                <a:cs typeface="Arial"/>
              </a:rPr>
              <a:t> </a:t>
            </a:r>
            <a:r>
              <a:rPr sz="1853" dirty="0">
                <a:latin typeface="Arial"/>
                <a:cs typeface="Arial"/>
              </a:rPr>
              <a:t>them</a:t>
            </a:r>
            <a:endParaRPr sz="1853">
              <a:latin typeface="Arial"/>
              <a:cs typeface="Arial"/>
            </a:endParaRPr>
          </a:p>
          <a:p>
            <a:pPr lvl="1">
              <a:spcBef>
                <a:spcPts val="49"/>
              </a:spcBef>
              <a:buClr>
                <a:srgbClr val="009999"/>
              </a:buClr>
              <a:buFont typeface="Arial"/>
              <a:buChar char="•"/>
            </a:pPr>
            <a:endParaRPr sz="2691">
              <a:latin typeface="Arial"/>
              <a:cs typeface="Arial"/>
            </a:endParaRPr>
          </a:p>
          <a:p>
            <a:pPr marL="313781" marR="155770" indent="-302575">
              <a:lnSpc>
                <a:spcPct val="145000"/>
              </a:lnSpc>
              <a:buClr>
                <a:srgbClr val="99CC00"/>
              </a:buClr>
              <a:buFont typeface="Wingdings"/>
              <a:buChar char=""/>
              <a:tabLst>
                <a:tab pos="313221" algn="l"/>
                <a:tab pos="313781" algn="l"/>
              </a:tabLst>
            </a:pPr>
            <a:r>
              <a:rPr sz="1765" b="1" dirty="0">
                <a:solidFill>
                  <a:srgbClr val="FF66CC"/>
                </a:solidFill>
                <a:latin typeface="Arial"/>
                <a:cs typeface="Arial"/>
              </a:rPr>
              <a:t>Instance </a:t>
            </a:r>
            <a:r>
              <a:rPr sz="1765" dirty="0">
                <a:solidFill>
                  <a:srgbClr val="FF66CC"/>
                </a:solidFill>
                <a:latin typeface="Arial"/>
                <a:cs typeface="Arial"/>
              </a:rPr>
              <a:t>– </a:t>
            </a:r>
            <a:r>
              <a:rPr sz="2118" dirty="0">
                <a:latin typeface="Arial"/>
                <a:cs typeface="Arial"/>
              </a:rPr>
              <a:t>the </a:t>
            </a:r>
            <a:r>
              <a:rPr sz="2118" spc="-4" dirty="0">
                <a:latin typeface="Arial"/>
                <a:cs typeface="Arial"/>
              </a:rPr>
              <a:t>actual </a:t>
            </a:r>
            <a:r>
              <a:rPr sz="2118" dirty="0">
                <a:latin typeface="Arial"/>
                <a:cs typeface="Arial"/>
              </a:rPr>
              <a:t>content of the </a:t>
            </a:r>
            <a:r>
              <a:rPr sz="2118" spc="-4" dirty="0">
                <a:latin typeface="Arial"/>
                <a:cs typeface="Arial"/>
              </a:rPr>
              <a:t>database </a:t>
            </a:r>
            <a:r>
              <a:rPr sz="2118" dirty="0">
                <a:latin typeface="Arial"/>
                <a:cs typeface="Arial"/>
              </a:rPr>
              <a:t>at </a:t>
            </a:r>
            <a:r>
              <a:rPr sz="2118" spc="-4" dirty="0">
                <a:latin typeface="Arial"/>
                <a:cs typeface="Arial"/>
              </a:rPr>
              <a:t>a particular  point in</a:t>
            </a:r>
            <a:r>
              <a:rPr sz="2118" dirty="0">
                <a:latin typeface="Arial"/>
                <a:cs typeface="Arial"/>
              </a:rPr>
              <a:t> time</a:t>
            </a:r>
            <a:endParaRPr sz="2118">
              <a:latin typeface="Arial"/>
              <a:cs typeface="Arial"/>
            </a:endParaRPr>
          </a:p>
          <a:p>
            <a:pPr marL="313781" marR="4483" indent="-303135">
              <a:spcBef>
                <a:spcPts val="1297"/>
              </a:spcBef>
            </a:pPr>
            <a:r>
              <a:rPr sz="1765" dirty="0">
                <a:latin typeface="Arial"/>
                <a:cs typeface="Arial"/>
              </a:rPr>
              <a:t>The collection of </a:t>
            </a:r>
            <a:r>
              <a:rPr sz="1765" spc="-4" dirty="0">
                <a:latin typeface="Arial"/>
                <a:cs typeface="Arial"/>
              </a:rPr>
              <a:t>information </a:t>
            </a:r>
            <a:r>
              <a:rPr sz="1765" dirty="0">
                <a:latin typeface="Arial"/>
                <a:cs typeface="Arial"/>
              </a:rPr>
              <a:t>stored in the database at a </a:t>
            </a:r>
            <a:r>
              <a:rPr sz="1765" spc="-4" dirty="0">
                <a:latin typeface="Arial"/>
                <a:cs typeface="Arial"/>
              </a:rPr>
              <a:t>particular</a:t>
            </a:r>
            <a:r>
              <a:rPr sz="1765" spc="-71" dirty="0">
                <a:latin typeface="Arial"/>
                <a:cs typeface="Arial"/>
              </a:rPr>
              <a:t> </a:t>
            </a:r>
            <a:r>
              <a:rPr sz="1765" dirty="0">
                <a:latin typeface="Arial"/>
                <a:cs typeface="Arial"/>
              </a:rPr>
              <a:t>moment  is called an </a:t>
            </a:r>
            <a:r>
              <a:rPr sz="1765" b="1" dirty="0">
                <a:latin typeface="Arial"/>
                <a:cs typeface="Arial"/>
              </a:rPr>
              <a:t>instance </a:t>
            </a:r>
            <a:r>
              <a:rPr sz="1765" dirty="0">
                <a:latin typeface="Arial"/>
                <a:cs typeface="Arial"/>
              </a:rPr>
              <a:t>of</a:t>
            </a:r>
            <a:r>
              <a:rPr sz="1765" spc="-35" dirty="0">
                <a:latin typeface="Arial"/>
                <a:cs typeface="Arial"/>
              </a:rPr>
              <a:t> </a:t>
            </a:r>
            <a:r>
              <a:rPr sz="1765" dirty="0">
                <a:latin typeface="Arial"/>
                <a:cs typeface="Arial"/>
              </a:rPr>
              <a:t>database.</a:t>
            </a:r>
            <a:endParaRPr sz="1765">
              <a:latin typeface="Arial"/>
              <a:cs typeface="Arial"/>
            </a:endParaRPr>
          </a:p>
          <a:p>
            <a:pPr marL="637649">
              <a:spcBef>
                <a:spcPts val="1496"/>
              </a:spcBef>
            </a:pPr>
            <a:r>
              <a:rPr sz="2206" spc="-4" dirty="0">
                <a:latin typeface="Arial"/>
                <a:cs typeface="Arial"/>
              </a:rPr>
              <a:t>Analogous to the value </a:t>
            </a:r>
            <a:r>
              <a:rPr sz="2206" spc="18" dirty="0">
                <a:latin typeface="Arial"/>
                <a:cs typeface="Arial"/>
              </a:rPr>
              <a:t>of </a:t>
            </a:r>
            <a:r>
              <a:rPr sz="2206" spc="-4" dirty="0">
                <a:latin typeface="Arial"/>
                <a:cs typeface="Arial"/>
              </a:rPr>
              <a:t>a</a:t>
            </a:r>
            <a:r>
              <a:rPr sz="2206" spc="-31" dirty="0">
                <a:latin typeface="Arial"/>
                <a:cs typeface="Arial"/>
              </a:rPr>
              <a:t> </a:t>
            </a:r>
            <a:r>
              <a:rPr sz="2206" spc="-4" dirty="0">
                <a:latin typeface="Arial"/>
                <a:cs typeface="Arial"/>
              </a:rPr>
              <a:t>variable</a:t>
            </a:r>
            <a:endParaRPr sz="2206">
              <a:latin typeface="Arial"/>
              <a:cs typeface="Arial"/>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99877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76612" y="1938477"/>
            <a:ext cx="5074024" cy="2790825"/>
            <a:chOff x="2967227" y="2196940"/>
            <a:chExt cx="5750560" cy="3162935"/>
          </a:xfrm>
        </p:grpSpPr>
        <p:sp>
          <p:nvSpPr>
            <p:cNvPr id="3" name="object 3"/>
            <p:cNvSpPr/>
            <p:nvPr/>
          </p:nvSpPr>
          <p:spPr>
            <a:xfrm>
              <a:off x="3908440" y="2196940"/>
              <a:ext cx="4809167" cy="3162779"/>
            </a:xfrm>
            <a:prstGeom prst="rect">
              <a:avLst/>
            </a:prstGeom>
            <a:blipFill>
              <a:blip r:embed="rId2" cstate="print"/>
              <a:stretch>
                <a:fillRect/>
              </a:stretch>
            </a:blipFill>
          </p:spPr>
          <p:txBody>
            <a:bodyPr wrap="square" lIns="0" tIns="0" rIns="0" bIns="0" rtlCol="0"/>
            <a:lstStyle/>
            <a:p>
              <a:endParaRPr sz="1588"/>
            </a:p>
          </p:txBody>
        </p:sp>
        <p:sp>
          <p:nvSpPr>
            <p:cNvPr id="4" name="object 4"/>
            <p:cNvSpPr/>
            <p:nvPr/>
          </p:nvSpPr>
          <p:spPr>
            <a:xfrm>
              <a:off x="2967228" y="2285999"/>
              <a:ext cx="919480" cy="2667000"/>
            </a:xfrm>
            <a:custGeom>
              <a:avLst/>
              <a:gdLst/>
              <a:ahLst/>
              <a:cxnLst/>
              <a:rect l="l" t="t" r="r" b="b"/>
              <a:pathLst>
                <a:path w="919479" h="2667000">
                  <a:moveTo>
                    <a:pt x="918972" y="685800"/>
                  </a:moveTo>
                  <a:lnTo>
                    <a:pt x="836676" y="708660"/>
                  </a:lnTo>
                  <a:lnTo>
                    <a:pt x="859663" y="733691"/>
                  </a:lnTo>
                  <a:lnTo>
                    <a:pt x="21996" y="1502181"/>
                  </a:lnTo>
                  <a:lnTo>
                    <a:pt x="810526" y="69430"/>
                  </a:lnTo>
                  <a:lnTo>
                    <a:pt x="839724" y="85344"/>
                  </a:lnTo>
                  <a:lnTo>
                    <a:pt x="840968" y="50292"/>
                  </a:lnTo>
                  <a:lnTo>
                    <a:pt x="842772" y="0"/>
                  </a:lnTo>
                  <a:lnTo>
                    <a:pt x="772668" y="48768"/>
                  </a:lnTo>
                  <a:lnTo>
                    <a:pt x="801560" y="64528"/>
                  </a:lnTo>
                  <a:lnTo>
                    <a:pt x="0" y="1520952"/>
                  </a:lnTo>
                  <a:lnTo>
                    <a:pt x="0" y="1522476"/>
                  </a:lnTo>
                  <a:lnTo>
                    <a:pt x="0" y="1524000"/>
                  </a:lnTo>
                  <a:lnTo>
                    <a:pt x="0" y="1525524"/>
                  </a:lnTo>
                  <a:lnTo>
                    <a:pt x="0" y="1527048"/>
                  </a:lnTo>
                  <a:lnTo>
                    <a:pt x="794054" y="2607945"/>
                  </a:lnTo>
                  <a:lnTo>
                    <a:pt x="766572" y="2627376"/>
                  </a:lnTo>
                  <a:lnTo>
                    <a:pt x="842772" y="2667000"/>
                  </a:lnTo>
                  <a:lnTo>
                    <a:pt x="835037" y="2619756"/>
                  </a:lnTo>
                  <a:lnTo>
                    <a:pt x="829056" y="2583180"/>
                  </a:lnTo>
                  <a:lnTo>
                    <a:pt x="801293" y="2602814"/>
                  </a:lnTo>
                  <a:lnTo>
                    <a:pt x="26187" y="1544243"/>
                  </a:lnTo>
                  <a:lnTo>
                    <a:pt x="775550" y="2020049"/>
                  </a:lnTo>
                  <a:lnTo>
                    <a:pt x="757428" y="2048256"/>
                  </a:lnTo>
                  <a:lnTo>
                    <a:pt x="842772" y="2057400"/>
                  </a:lnTo>
                  <a:lnTo>
                    <a:pt x="825271" y="2028444"/>
                  </a:lnTo>
                  <a:lnTo>
                    <a:pt x="798576" y="1984248"/>
                  </a:lnTo>
                  <a:lnTo>
                    <a:pt x="780808" y="2011883"/>
                  </a:lnTo>
                  <a:lnTo>
                    <a:pt x="18681" y="1526476"/>
                  </a:lnTo>
                  <a:lnTo>
                    <a:pt x="844981" y="1388757"/>
                  </a:lnTo>
                  <a:lnTo>
                    <a:pt x="850392" y="1421892"/>
                  </a:lnTo>
                  <a:lnTo>
                    <a:pt x="910653" y="1377696"/>
                  </a:lnTo>
                  <a:lnTo>
                    <a:pt x="918972" y="1371600"/>
                  </a:lnTo>
                  <a:lnTo>
                    <a:pt x="838200" y="1347216"/>
                  </a:lnTo>
                  <a:lnTo>
                    <a:pt x="843483" y="1379613"/>
                  </a:lnTo>
                  <a:lnTo>
                    <a:pt x="18770" y="1516811"/>
                  </a:lnTo>
                  <a:lnTo>
                    <a:pt x="865492" y="740029"/>
                  </a:lnTo>
                  <a:lnTo>
                    <a:pt x="888492" y="765048"/>
                  </a:lnTo>
                  <a:lnTo>
                    <a:pt x="904316" y="723900"/>
                  </a:lnTo>
                  <a:lnTo>
                    <a:pt x="918972" y="685800"/>
                  </a:lnTo>
                  <a:close/>
                </a:path>
              </a:pathLst>
            </a:custGeom>
            <a:solidFill>
              <a:srgbClr val="000000"/>
            </a:solidFill>
          </p:spPr>
          <p:txBody>
            <a:bodyPr wrap="square" lIns="0" tIns="0" rIns="0" bIns="0" rtlCol="0"/>
            <a:lstStyle/>
            <a:p>
              <a:endParaRPr sz="1588"/>
            </a:p>
          </p:txBody>
        </p:sp>
      </p:grpSp>
      <p:sp>
        <p:nvSpPr>
          <p:cNvPr id="5" name="object 5"/>
          <p:cNvSpPr txBox="1"/>
          <p:nvPr/>
        </p:nvSpPr>
        <p:spPr>
          <a:xfrm>
            <a:off x="3051137" y="955648"/>
            <a:ext cx="4068856" cy="282928"/>
          </a:xfrm>
          <a:prstGeom prst="rect">
            <a:avLst/>
          </a:prstGeom>
        </p:spPr>
        <p:txBody>
          <a:bodyPr vert="horz" wrap="square" lIns="0" tIns="11206" rIns="0" bIns="0" rtlCol="0">
            <a:spAutoFit/>
          </a:bodyPr>
          <a:lstStyle/>
          <a:p>
            <a:pPr marL="11206">
              <a:spcBef>
                <a:spcPts val="88"/>
              </a:spcBef>
            </a:pPr>
            <a:r>
              <a:rPr sz="1765" dirty="0">
                <a:solidFill>
                  <a:srgbClr val="0000FF"/>
                </a:solidFill>
                <a:latin typeface="Times New Roman"/>
                <a:cs typeface="Times New Roman"/>
              </a:rPr>
              <a:t>Schema </a:t>
            </a:r>
            <a:r>
              <a:rPr sz="1765" spc="-4" dirty="0">
                <a:solidFill>
                  <a:srgbClr val="0000FF"/>
                </a:solidFill>
                <a:latin typeface="Times New Roman"/>
                <a:cs typeface="Times New Roman"/>
              </a:rPr>
              <a:t>diagram </a:t>
            </a:r>
            <a:r>
              <a:rPr sz="1765" dirty="0">
                <a:solidFill>
                  <a:srgbClr val="0000FF"/>
                </a:solidFill>
                <a:latin typeface="Times New Roman"/>
                <a:cs typeface="Times New Roman"/>
              </a:rPr>
              <a:t>for </a:t>
            </a:r>
            <a:r>
              <a:rPr sz="1765" dirty="0">
                <a:solidFill>
                  <a:srgbClr val="008000"/>
                </a:solidFill>
                <a:latin typeface="Times New Roman"/>
                <a:cs typeface="Times New Roman"/>
              </a:rPr>
              <a:t>UNIVERSITY</a:t>
            </a:r>
            <a:r>
              <a:rPr sz="1765" spc="-53" dirty="0">
                <a:solidFill>
                  <a:srgbClr val="008000"/>
                </a:solidFill>
                <a:latin typeface="Times New Roman"/>
                <a:cs typeface="Times New Roman"/>
              </a:rPr>
              <a:t> </a:t>
            </a:r>
            <a:r>
              <a:rPr sz="1765" dirty="0">
                <a:solidFill>
                  <a:srgbClr val="0000FF"/>
                </a:solidFill>
                <a:latin typeface="Times New Roman"/>
                <a:cs typeface="Times New Roman"/>
              </a:rPr>
              <a:t>database</a:t>
            </a:r>
            <a:endParaRPr sz="1765">
              <a:latin typeface="Times New Roman"/>
              <a:cs typeface="Times New Roman"/>
            </a:endParaRPr>
          </a:p>
        </p:txBody>
      </p:sp>
      <p:sp>
        <p:nvSpPr>
          <p:cNvPr id="6" name="object 6"/>
          <p:cNvSpPr txBox="1"/>
          <p:nvPr/>
        </p:nvSpPr>
        <p:spPr>
          <a:xfrm>
            <a:off x="2669241" y="3174412"/>
            <a:ext cx="1570504" cy="282928"/>
          </a:xfrm>
          <a:prstGeom prst="rect">
            <a:avLst/>
          </a:prstGeom>
        </p:spPr>
        <p:txBody>
          <a:bodyPr vert="horz" wrap="square" lIns="0" tIns="11206" rIns="0" bIns="0" rtlCol="0">
            <a:spAutoFit/>
          </a:bodyPr>
          <a:lstStyle/>
          <a:p>
            <a:pPr marL="11206">
              <a:spcBef>
                <a:spcPts val="88"/>
              </a:spcBef>
            </a:pPr>
            <a:r>
              <a:rPr sz="1765" dirty="0">
                <a:solidFill>
                  <a:srgbClr val="0000FF"/>
                </a:solidFill>
                <a:latin typeface="Times New Roman"/>
                <a:cs typeface="Times New Roman"/>
              </a:rPr>
              <a:t>schema</a:t>
            </a:r>
            <a:r>
              <a:rPr sz="1765" spc="-57" dirty="0">
                <a:solidFill>
                  <a:srgbClr val="0000FF"/>
                </a:solidFill>
                <a:latin typeface="Times New Roman"/>
                <a:cs typeface="Times New Roman"/>
              </a:rPr>
              <a:t> </a:t>
            </a:r>
            <a:r>
              <a:rPr sz="1765" spc="-4" dirty="0">
                <a:solidFill>
                  <a:srgbClr val="0000FF"/>
                </a:solidFill>
                <a:latin typeface="Times New Roman"/>
                <a:cs typeface="Times New Roman"/>
              </a:rPr>
              <a:t>construct</a:t>
            </a:r>
            <a:endParaRPr sz="1765">
              <a:latin typeface="Times New Roman"/>
              <a:cs typeface="Times New Roman"/>
            </a:endParaRPr>
          </a:p>
        </p:txBody>
      </p:sp>
      <p:sp>
        <p:nvSpPr>
          <p:cNvPr id="7" name="object 7"/>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2678252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67000" y="537882"/>
            <a:ext cx="6454588" cy="5916706"/>
          </a:xfrm>
          <a:prstGeom prst="rect">
            <a:avLst/>
          </a:prstGeom>
          <a:blipFill>
            <a:blip r:embed="rId2" cstate="print"/>
            <a:stretch>
              <a:fillRect/>
            </a:stretch>
          </a:blipFill>
        </p:spPr>
        <p:txBody>
          <a:bodyPr wrap="square" lIns="0" tIns="0" rIns="0" bIns="0" rtlCol="0"/>
          <a:lstStyle/>
          <a:p>
            <a:endParaRPr sz="1588"/>
          </a:p>
        </p:txBody>
      </p:sp>
      <p:sp>
        <p:nvSpPr>
          <p:cNvPr id="3" name="object 3"/>
          <p:cNvSpPr txBox="1"/>
          <p:nvPr/>
        </p:nvSpPr>
        <p:spPr>
          <a:xfrm>
            <a:off x="7106771" y="624830"/>
            <a:ext cx="1795743" cy="445356"/>
          </a:xfrm>
          <a:prstGeom prst="rect">
            <a:avLst/>
          </a:prstGeom>
        </p:spPr>
        <p:txBody>
          <a:bodyPr vert="horz" wrap="square" lIns="0" tIns="10646" rIns="0" bIns="0" rtlCol="0">
            <a:spAutoFit/>
          </a:bodyPr>
          <a:lstStyle/>
          <a:p>
            <a:pPr marL="11206" marR="4483">
              <a:spcBef>
                <a:spcPts val="84"/>
              </a:spcBef>
            </a:pPr>
            <a:r>
              <a:rPr sz="1412" spc="-4" dirty="0">
                <a:latin typeface="Times New Roman"/>
                <a:cs typeface="Times New Roman"/>
              </a:rPr>
              <a:t>Figure 1.2  UNIVERSITY</a:t>
            </a:r>
            <a:r>
              <a:rPr sz="1412" spc="-49" dirty="0">
                <a:latin typeface="Times New Roman"/>
                <a:cs typeface="Times New Roman"/>
              </a:rPr>
              <a:t> </a:t>
            </a:r>
            <a:r>
              <a:rPr sz="1412" spc="-4" dirty="0">
                <a:latin typeface="Times New Roman"/>
                <a:cs typeface="Times New Roman"/>
              </a:rPr>
              <a:t>Database</a:t>
            </a:r>
            <a:endParaRPr sz="1412">
              <a:latin typeface="Times New Roman"/>
              <a:cs typeface="Times New Roman"/>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2229468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Database Users</a:t>
            </a:r>
            <a:br>
              <a:rPr lang="en-IN" b="1" dirty="0" smtClean="0"/>
            </a:br>
            <a:endParaRPr lang="en-IN" dirty="0"/>
          </a:p>
        </p:txBody>
      </p:sp>
      <p:sp>
        <p:nvSpPr>
          <p:cNvPr id="3" name="Content Placeholder 2"/>
          <p:cNvSpPr>
            <a:spLocks noGrp="1"/>
          </p:cNvSpPr>
          <p:nvPr>
            <p:ph idx="1"/>
          </p:nvPr>
        </p:nvSpPr>
        <p:spPr>
          <a:xfrm>
            <a:off x="838200" y="1085850"/>
            <a:ext cx="10515600" cy="5337810"/>
          </a:xfrm>
        </p:spPr>
        <p:txBody>
          <a:bodyPr>
            <a:normAutofit fontScale="92500" lnSpcReduction="10000"/>
          </a:bodyPr>
          <a:lstStyle/>
          <a:p>
            <a:pPr algn="just"/>
            <a:r>
              <a:rPr lang="en-IN" sz="2600" dirty="0" smtClean="0">
                <a:latin typeface="Times New Roman" panose="02020603050405020304" pitchFamily="18" charset="0"/>
                <a:cs typeface="Times New Roman" panose="02020603050405020304" pitchFamily="18" charset="0"/>
              </a:rPr>
              <a:t>A typical DBMS has users with different rights and permissions who use it for different purposes. Some users retrieve data and some back it up. The users of a DBMS can be broadly categorized as follows −</a:t>
            </a:r>
          </a:p>
          <a:p>
            <a:pPr algn="just"/>
            <a:r>
              <a:rPr lang="en-IN" sz="2600" b="1" dirty="0" smtClean="0">
                <a:latin typeface="Times New Roman" panose="02020603050405020304" pitchFamily="18" charset="0"/>
                <a:cs typeface="Times New Roman" panose="02020603050405020304" pitchFamily="18" charset="0"/>
              </a:rPr>
              <a:t>Administrators</a:t>
            </a:r>
            <a:r>
              <a:rPr lang="en-IN" sz="2600" dirty="0" smtClean="0">
                <a:latin typeface="Times New Roman" panose="02020603050405020304" pitchFamily="18" charset="0"/>
                <a:cs typeface="Times New Roman" panose="02020603050405020304" pitchFamily="18" charset="0"/>
              </a:rPr>
              <a:t> − Administrators maintain the DBMS and are responsible for administrating the database. They are responsible to look after its usage and by whom it should be used. They create access profiles for users and apply limitations to maintain isolation and force security. Administrators also look after DBMS resources like system license, required tools, and other software and hardware related maintenance.</a:t>
            </a:r>
          </a:p>
          <a:p>
            <a:pPr algn="just"/>
            <a:r>
              <a:rPr lang="en-IN" sz="2600" b="1" dirty="0" smtClean="0">
                <a:latin typeface="Times New Roman" panose="02020603050405020304" pitchFamily="18" charset="0"/>
                <a:cs typeface="Times New Roman" panose="02020603050405020304" pitchFamily="18" charset="0"/>
              </a:rPr>
              <a:t>Designers</a:t>
            </a:r>
            <a:r>
              <a:rPr lang="en-IN" sz="2600" dirty="0" smtClean="0">
                <a:latin typeface="Times New Roman" panose="02020603050405020304" pitchFamily="18" charset="0"/>
                <a:cs typeface="Times New Roman" panose="02020603050405020304" pitchFamily="18" charset="0"/>
              </a:rPr>
              <a:t> − Designers are the group of people who actually work on the designing part of the database. They keep a close watch on what data should be kept and in what format. They identify and design the whole set of entities, relations, constraints, and views.</a:t>
            </a:r>
          </a:p>
          <a:p>
            <a:pPr algn="just"/>
            <a:r>
              <a:rPr lang="en-IN" sz="2600" b="1" dirty="0" smtClean="0">
                <a:latin typeface="Times New Roman" panose="02020603050405020304" pitchFamily="18" charset="0"/>
                <a:cs typeface="Times New Roman" panose="02020603050405020304" pitchFamily="18" charset="0"/>
              </a:rPr>
              <a:t>End Users</a:t>
            </a:r>
            <a:r>
              <a:rPr lang="en-IN" sz="2600" dirty="0" smtClean="0">
                <a:latin typeface="Times New Roman" panose="02020603050405020304" pitchFamily="18" charset="0"/>
                <a:cs typeface="Times New Roman" panose="02020603050405020304" pitchFamily="18" charset="0"/>
              </a:rPr>
              <a:t> − End users are those who actually reap the benefits of having a DBMS. End users can range from simple viewers who pay attention to the logs or market rates to sophisticated users such as business analysts.</a:t>
            </a:r>
          </a:p>
          <a:p>
            <a:endParaRPr lang="en-IN" dirty="0"/>
          </a:p>
        </p:txBody>
      </p:sp>
    </p:spTree>
    <p:extLst>
      <p:ext uri="{BB962C8B-B14F-4D97-AF65-F5344CB8AC3E}">
        <p14:creationId xmlns:p14="http://schemas.microsoft.com/office/powerpoint/2010/main" val="6481473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805940" y="2068831"/>
            <a:ext cx="5985510" cy="2851626"/>
          </a:xfrm>
          <a:prstGeom prst="rect">
            <a:avLst/>
          </a:prstGeom>
        </p:spPr>
      </p:pic>
    </p:spTree>
    <p:extLst>
      <p:ext uri="{BB962C8B-B14F-4D97-AF65-F5344CB8AC3E}">
        <p14:creationId xmlns:p14="http://schemas.microsoft.com/office/powerpoint/2010/main" val="37255301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Data model Schema and Instance</a:t>
            </a:r>
            <a:br>
              <a:rPr lang="en-IN" b="1" dirty="0" smtClean="0"/>
            </a:br>
            <a:endParaRPr lang="en-IN" dirty="0"/>
          </a:p>
        </p:txBody>
      </p:sp>
      <p:sp>
        <p:nvSpPr>
          <p:cNvPr id="3" name="Content Placeholder 2"/>
          <p:cNvSpPr>
            <a:spLocks noGrp="1"/>
          </p:cNvSpPr>
          <p:nvPr>
            <p:ph idx="1"/>
          </p:nvPr>
        </p:nvSpPr>
        <p:spPr>
          <a:xfrm>
            <a:off x="838200" y="1040130"/>
            <a:ext cx="10515600" cy="5136833"/>
          </a:xfrm>
        </p:spPr>
        <p:txBody>
          <a:bodyPr>
            <a:normAutofit fontScale="92500"/>
          </a:bodyPr>
          <a:lstStyle/>
          <a:p>
            <a:pPr algn="just"/>
            <a:r>
              <a:rPr lang="en-IN" dirty="0" smtClean="0"/>
              <a:t>The data which is stored in the database at a particular moment of time is called an instance of the database.</a:t>
            </a:r>
          </a:p>
          <a:p>
            <a:pPr algn="just"/>
            <a:r>
              <a:rPr lang="en-IN" dirty="0" smtClean="0"/>
              <a:t>The overall design of a database is called schema.</a:t>
            </a:r>
          </a:p>
          <a:p>
            <a:pPr algn="just"/>
            <a:r>
              <a:rPr lang="en-IN" dirty="0" smtClean="0"/>
              <a:t>A database schema is the skeleton structure of the database. It represents the logical view of the entire database. </a:t>
            </a:r>
          </a:p>
          <a:p>
            <a:pPr algn="just"/>
            <a:r>
              <a:rPr lang="en-IN" dirty="0" smtClean="0"/>
              <a:t>A schema contains schema objects like table, foreign key, primary key, views, columns, data types, stored procedure, etc.</a:t>
            </a:r>
          </a:p>
          <a:p>
            <a:pPr algn="just"/>
            <a:r>
              <a:rPr lang="en-IN" dirty="0" smtClean="0"/>
              <a:t>A database schema can be represented by using the visual diagram. That diagram shows the database objects and relationship with each other. </a:t>
            </a:r>
          </a:p>
          <a:p>
            <a:pPr algn="just"/>
            <a:r>
              <a:rPr lang="en-IN" dirty="0" smtClean="0"/>
              <a:t>A database schema is designed by the database designers to help programmers whose software will interact with the database. The process of database creation is called data </a:t>
            </a:r>
            <a:r>
              <a:rPr lang="en-IN" dirty="0" err="1" smtClean="0"/>
              <a:t>modeling</a:t>
            </a:r>
            <a:r>
              <a:rPr lang="en-IN" dirty="0" smtClean="0"/>
              <a:t>.</a:t>
            </a:r>
          </a:p>
          <a:p>
            <a:endParaRPr lang="en-IN" dirty="0"/>
          </a:p>
        </p:txBody>
      </p:sp>
    </p:spTree>
    <p:extLst>
      <p:ext uri="{BB962C8B-B14F-4D97-AF65-F5344CB8AC3E}">
        <p14:creationId xmlns:p14="http://schemas.microsoft.com/office/powerpoint/2010/main" val="7003710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4360"/>
            <a:ext cx="10515600" cy="5582603"/>
          </a:xfrm>
        </p:spPr>
        <p:txBody>
          <a:bodyPr/>
          <a:lstStyle/>
          <a:p>
            <a:r>
              <a:rPr lang="en-IN" dirty="0" smtClean="0"/>
              <a:t>A schema diagram can display only some aspects of a schema like the name of record type, data type, and constraints. Other aspects can't be specified through the schema diagram. For example, the given figure neither show the data type of each data item nor the relationship among various files. </a:t>
            </a:r>
          </a:p>
          <a:p>
            <a:r>
              <a:rPr lang="en-IN" dirty="0" smtClean="0"/>
              <a:t>In the database, actual data changes quite frequently. For example, in the given figure, the database changes whenever we add a new grade or add a student. The data at a particular moment of time is called the instance of the database.</a:t>
            </a:r>
          </a:p>
          <a:p>
            <a:endParaRPr lang="en-IN" dirty="0"/>
          </a:p>
        </p:txBody>
      </p:sp>
    </p:spTree>
    <p:extLst>
      <p:ext uri="{BB962C8B-B14F-4D97-AF65-F5344CB8AC3E}">
        <p14:creationId xmlns:p14="http://schemas.microsoft.com/office/powerpoint/2010/main" val="26754653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03070" y="457200"/>
            <a:ext cx="8972549" cy="5719763"/>
          </a:xfrm>
          <a:prstGeom prst="rect">
            <a:avLst/>
          </a:prstGeom>
        </p:spPr>
      </p:pic>
    </p:spTree>
    <p:extLst>
      <p:ext uri="{BB962C8B-B14F-4D97-AF65-F5344CB8AC3E}">
        <p14:creationId xmlns:p14="http://schemas.microsoft.com/office/powerpoint/2010/main" val="29145836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Data Independence</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Data independence can be explained using the three-schema architecture.</a:t>
            </a:r>
          </a:p>
          <a:p>
            <a:pPr algn="just"/>
            <a:r>
              <a:rPr lang="en-IN" dirty="0" smtClean="0"/>
              <a:t>Data independence refers characteristic of being able to modify the schema at one level of the database system without altering the schema at the next higher level.</a:t>
            </a:r>
          </a:p>
          <a:p>
            <a:pPr algn="just"/>
            <a:r>
              <a:rPr lang="en-IN" dirty="0" smtClean="0"/>
              <a:t>There are two types of data independence:</a:t>
            </a:r>
          </a:p>
          <a:p>
            <a:endParaRPr lang="en-IN" dirty="0"/>
          </a:p>
        </p:txBody>
      </p:sp>
    </p:spTree>
    <p:extLst>
      <p:ext uri="{BB962C8B-B14F-4D97-AF65-F5344CB8AC3E}">
        <p14:creationId xmlns:p14="http://schemas.microsoft.com/office/powerpoint/2010/main" val="4065196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1. Logical Data Independence</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Logical data independence refers characteristic of being able to change the conceptual schema without having to change the external schema.</a:t>
            </a:r>
          </a:p>
          <a:p>
            <a:pPr algn="just"/>
            <a:r>
              <a:rPr lang="en-IN" dirty="0" smtClean="0"/>
              <a:t>Logical data independence is used to separate the external level from the conceptual view.</a:t>
            </a:r>
          </a:p>
          <a:p>
            <a:pPr algn="just"/>
            <a:r>
              <a:rPr lang="en-IN" dirty="0" smtClean="0"/>
              <a:t>If we do any changes in the conceptual view of the data, then the user view of the data would not be affected.</a:t>
            </a:r>
          </a:p>
          <a:p>
            <a:pPr algn="just"/>
            <a:r>
              <a:rPr lang="en-IN" dirty="0" smtClean="0"/>
              <a:t>Logical data independence occurs at the user interface level.</a:t>
            </a:r>
          </a:p>
          <a:p>
            <a:endParaRPr lang="en-IN" dirty="0"/>
          </a:p>
        </p:txBody>
      </p:sp>
    </p:spTree>
    <p:extLst>
      <p:ext uri="{BB962C8B-B14F-4D97-AF65-F5344CB8AC3E}">
        <p14:creationId xmlns:p14="http://schemas.microsoft.com/office/powerpoint/2010/main" val="41834602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2. Physical Data Independence</a:t>
            </a:r>
            <a:endParaRPr lang="en-IN" dirty="0"/>
          </a:p>
        </p:txBody>
      </p:sp>
      <p:sp>
        <p:nvSpPr>
          <p:cNvPr id="3" name="Content Placeholder 2"/>
          <p:cNvSpPr>
            <a:spLocks noGrp="1"/>
          </p:cNvSpPr>
          <p:nvPr>
            <p:ph sz="half" idx="1"/>
          </p:nvPr>
        </p:nvSpPr>
        <p:spPr/>
        <p:txBody>
          <a:bodyPr>
            <a:normAutofit fontScale="92500" lnSpcReduction="20000"/>
          </a:bodyPr>
          <a:lstStyle/>
          <a:p>
            <a:pPr algn="just"/>
            <a:r>
              <a:rPr lang="en-IN" dirty="0" smtClean="0"/>
              <a:t>Physical data independence can be defined as the capacity to change the internal schema without having to change the conceptual schema.</a:t>
            </a:r>
          </a:p>
          <a:p>
            <a:pPr algn="just"/>
            <a:r>
              <a:rPr lang="en-IN" dirty="0" smtClean="0"/>
              <a:t>If we do any changes in the storage size of the database system server, then the Conceptual structure of the database will not be affected.</a:t>
            </a:r>
          </a:p>
          <a:p>
            <a:pPr algn="just"/>
            <a:r>
              <a:rPr lang="en-IN" dirty="0" smtClean="0"/>
              <a:t>Physical data independence is used to separate conceptual levels from the internal levels.</a:t>
            </a:r>
          </a:p>
          <a:p>
            <a:pPr algn="just"/>
            <a:r>
              <a:rPr lang="en-IN" dirty="0" smtClean="0"/>
              <a:t>Physical data independence occurs at the logical interface level.</a:t>
            </a:r>
          </a:p>
          <a:p>
            <a:endParaRPr lang="en-IN" dirty="0"/>
          </a:p>
        </p:txBody>
      </p:sp>
      <p:pic>
        <p:nvPicPr>
          <p:cNvPr id="5" name="Content Placeholder 4"/>
          <p:cNvPicPr>
            <a:picLocks noGrp="1" noChangeAspect="1"/>
          </p:cNvPicPr>
          <p:nvPr>
            <p:ph sz="half" idx="2"/>
          </p:nvPr>
        </p:nvPicPr>
        <p:blipFill>
          <a:blip r:embed="rId2"/>
          <a:stretch>
            <a:fillRect/>
          </a:stretch>
        </p:blipFill>
        <p:spPr>
          <a:xfrm>
            <a:off x="6272212" y="1839119"/>
            <a:ext cx="4981575" cy="4324350"/>
          </a:xfrm>
          <a:prstGeom prst="rect">
            <a:avLst/>
          </a:prstGeom>
        </p:spPr>
      </p:pic>
    </p:spTree>
    <p:extLst>
      <p:ext uri="{BB962C8B-B14F-4D97-AF65-F5344CB8AC3E}">
        <p14:creationId xmlns:p14="http://schemas.microsoft.com/office/powerpoint/2010/main" val="28583248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Database Language</a:t>
            </a:r>
            <a:br>
              <a:rPr lang="en-IN" b="1" dirty="0"/>
            </a:br>
            <a:endParaRPr lang="en-IN" dirty="0"/>
          </a:p>
        </p:txBody>
      </p:sp>
      <p:sp>
        <p:nvSpPr>
          <p:cNvPr id="3" name="Content Placeholder 2"/>
          <p:cNvSpPr>
            <a:spLocks noGrp="1"/>
          </p:cNvSpPr>
          <p:nvPr>
            <p:ph sz="half" idx="1"/>
          </p:nvPr>
        </p:nvSpPr>
        <p:spPr/>
        <p:txBody>
          <a:bodyPr/>
          <a:lstStyle/>
          <a:p>
            <a:r>
              <a:rPr lang="en-IN" dirty="0"/>
              <a:t>A DBMS has appropriate languages and interfaces to express database queries and updates.</a:t>
            </a:r>
          </a:p>
          <a:p>
            <a:r>
              <a:rPr lang="en-IN" dirty="0"/>
              <a:t>Database languages can be used to read, store and update the data in the database. </a:t>
            </a:r>
          </a:p>
          <a:p>
            <a:endParaRPr lang="en-IN" dirty="0"/>
          </a:p>
        </p:txBody>
      </p:sp>
      <p:pic>
        <p:nvPicPr>
          <p:cNvPr id="5" name="Content Placeholder 4"/>
          <p:cNvPicPr>
            <a:picLocks noGrp="1" noChangeAspect="1"/>
          </p:cNvPicPr>
          <p:nvPr>
            <p:ph sz="half" idx="2"/>
          </p:nvPr>
        </p:nvPicPr>
        <p:blipFill>
          <a:blip r:embed="rId2"/>
          <a:stretch>
            <a:fillRect/>
          </a:stretch>
        </p:blipFill>
        <p:spPr>
          <a:xfrm>
            <a:off x="6172200" y="2238434"/>
            <a:ext cx="5181600" cy="3525720"/>
          </a:xfrm>
          <a:prstGeom prst="rect">
            <a:avLst/>
          </a:prstGeom>
        </p:spPr>
      </p:pic>
    </p:spTree>
    <p:extLst>
      <p:ext uri="{BB962C8B-B14F-4D97-AF65-F5344CB8AC3E}">
        <p14:creationId xmlns:p14="http://schemas.microsoft.com/office/powerpoint/2010/main" val="30077936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1. Data Definition Language</a:t>
            </a:r>
            <a:br>
              <a:rPr lang="en-IN" b="1" dirty="0"/>
            </a:br>
            <a:endParaRPr lang="en-IN" dirty="0"/>
          </a:p>
        </p:txBody>
      </p:sp>
      <p:sp>
        <p:nvSpPr>
          <p:cNvPr id="3" name="Content Placeholder 2"/>
          <p:cNvSpPr>
            <a:spLocks noGrp="1"/>
          </p:cNvSpPr>
          <p:nvPr>
            <p:ph idx="1"/>
          </p:nvPr>
        </p:nvSpPr>
        <p:spPr/>
        <p:txBody>
          <a:bodyPr/>
          <a:lstStyle/>
          <a:p>
            <a:r>
              <a:rPr lang="en-IN" b="1" dirty="0"/>
              <a:t>DDL</a:t>
            </a:r>
            <a:r>
              <a:rPr lang="en-IN" dirty="0"/>
              <a:t> stands for </a:t>
            </a:r>
            <a:r>
              <a:rPr lang="en-IN" b="1" dirty="0"/>
              <a:t>D</a:t>
            </a:r>
            <a:r>
              <a:rPr lang="en-IN" dirty="0"/>
              <a:t>ata </a:t>
            </a:r>
            <a:r>
              <a:rPr lang="en-IN" b="1" dirty="0"/>
              <a:t>D</a:t>
            </a:r>
            <a:r>
              <a:rPr lang="en-IN" dirty="0"/>
              <a:t>efinition </a:t>
            </a:r>
            <a:r>
              <a:rPr lang="en-IN" b="1" dirty="0"/>
              <a:t>L</a:t>
            </a:r>
            <a:r>
              <a:rPr lang="en-IN" dirty="0"/>
              <a:t>anguage. It is used to define database structure or pattern. </a:t>
            </a:r>
          </a:p>
          <a:p>
            <a:r>
              <a:rPr lang="en-IN" dirty="0"/>
              <a:t>It is used to create schema, tables, indexes, constraints, etc. in the database.</a:t>
            </a:r>
          </a:p>
          <a:p>
            <a:r>
              <a:rPr lang="en-IN" dirty="0"/>
              <a:t>Using the DDL statements, you can create the skeleton of the database.</a:t>
            </a:r>
          </a:p>
          <a:p>
            <a:r>
              <a:rPr lang="en-IN" dirty="0"/>
              <a:t>Data definition language is used to store the information of metadata like the number of tables and schemas, their names, indexes, columns in each table, constraints, etc.</a:t>
            </a:r>
          </a:p>
          <a:p>
            <a:endParaRPr lang="en-IN" dirty="0"/>
          </a:p>
        </p:txBody>
      </p:sp>
    </p:spTree>
    <p:extLst>
      <p:ext uri="{BB962C8B-B14F-4D97-AF65-F5344CB8AC3E}">
        <p14:creationId xmlns:p14="http://schemas.microsoft.com/office/powerpoint/2010/main" val="591537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5517"/>
            <a:ext cx="10515600" cy="5651446"/>
          </a:xfrm>
        </p:spPr>
        <p:txBody>
          <a:bodyPr>
            <a:normAutofit/>
          </a:bodyPr>
          <a:lstStyle/>
          <a:p>
            <a:r>
              <a:rPr lang="en-IN" dirty="0"/>
              <a:t>Here are some tasks that come under DDL:</a:t>
            </a:r>
          </a:p>
          <a:p>
            <a:r>
              <a:rPr lang="en-IN" b="1" dirty="0"/>
              <a:t>Create:</a:t>
            </a:r>
            <a:r>
              <a:rPr lang="en-IN" dirty="0"/>
              <a:t> It is used to create objects in the database.</a:t>
            </a:r>
          </a:p>
          <a:p>
            <a:r>
              <a:rPr lang="en-IN" b="1" dirty="0"/>
              <a:t>Alter:</a:t>
            </a:r>
            <a:r>
              <a:rPr lang="en-IN" dirty="0"/>
              <a:t> It is used to alter the structure of the database.</a:t>
            </a:r>
          </a:p>
          <a:p>
            <a:r>
              <a:rPr lang="en-IN" b="1" dirty="0"/>
              <a:t>Drop:</a:t>
            </a:r>
            <a:r>
              <a:rPr lang="en-IN" dirty="0"/>
              <a:t> It is used to delete objects from the database.</a:t>
            </a:r>
          </a:p>
          <a:p>
            <a:r>
              <a:rPr lang="en-IN" b="1" dirty="0"/>
              <a:t>Truncate:</a:t>
            </a:r>
            <a:r>
              <a:rPr lang="en-IN" dirty="0"/>
              <a:t> It is used to remove all records from a table.</a:t>
            </a:r>
          </a:p>
          <a:p>
            <a:r>
              <a:rPr lang="en-IN" b="1" dirty="0"/>
              <a:t>Rename:</a:t>
            </a:r>
            <a:r>
              <a:rPr lang="en-IN" dirty="0"/>
              <a:t> It is used to rename an object.</a:t>
            </a:r>
          </a:p>
          <a:p>
            <a:r>
              <a:rPr lang="en-IN" b="1" dirty="0"/>
              <a:t>Comment:</a:t>
            </a:r>
            <a:r>
              <a:rPr lang="en-IN" dirty="0"/>
              <a:t> It is used to comment on the data dictionary.</a:t>
            </a:r>
          </a:p>
          <a:p>
            <a:r>
              <a:rPr lang="en-IN" dirty="0"/>
              <a:t>These commands are used to update the database schema that's why they come under Data definition language. </a:t>
            </a:r>
          </a:p>
          <a:p>
            <a:endParaRPr lang="en-IN" dirty="0"/>
          </a:p>
        </p:txBody>
      </p:sp>
    </p:spTree>
    <p:extLst>
      <p:ext uri="{BB962C8B-B14F-4D97-AF65-F5344CB8AC3E}">
        <p14:creationId xmlns:p14="http://schemas.microsoft.com/office/powerpoint/2010/main" val="809339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2. Data Manipulation Language</a:t>
            </a:r>
            <a:br>
              <a:rPr lang="en-IN" b="1" dirty="0"/>
            </a:br>
            <a:endParaRPr lang="en-IN" dirty="0"/>
          </a:p>
        </p:txBody>
      </p:sp>
      <p:sp>
        <p:nvSpPr>
          <p:cNvPr id="3" name="Content Placeholder 2"/>
          <p:cNvSpPr>
            <a:spLocks noGrp="1"/>
          </p:cNvSpPr>
          <p:nvPr>
            <p:ph idx="1"/>
          </p:nvPr>
        </p:nvSpPr>
        <p:spPr>
          <a:xfrm>
            <a:off x="838200" y="1825625"/>
            <a:ext cx="10515600" cy="4785382"/>
          </a:xfrm>
        </p:spPr>
        <p:txBody>
          <a:bodyPr>
            <a:normAutofit fontScale="92500" lnSpcReduction="10000"/>
          </a:bodyPr>
          <a:lstStyle/>
          <a:p>
            <a:r>
              <a:rPr lang="en-IN" b="1" dirty="0"/>
              <a:t>DML</a:t>
            </a:r>
            <a:r>
              <a:rPr lang="en-IN" dirty="0"/>
              <a:t> stands for </a:t>
            </a:r>
            <a:r>
              <a:rPr lang="en-IN" b="1" dirty="0"/>
              <a:t>D</a:t>
            </a:r>
            <a:r>
              <a:rPr lang="en-IN" dirty="0"/>
              <a:t>ata </a:t>
            </a:r>
            <a:r>
              <a:rPr lang="en-IN" b="1" dirty="0"/>
              <a:t>M</a:t>
            </a:r>
            <a:r>
              <a:rPr lang="en-IN" dirty="0"/>
              <a:t>anipulation </a:t>
            </a:r>
            <a:r>
              <a:rPr lang="en-IN" b="1" dirty="0"/>
              <a:t>L</a:t>
            </a:r>
            <a:r>
              <a:rPr lang="en-IN" dirty="0"/>
              <a:t>anguage. It is used for accessing and manipulating data in a database. It handles user requests</a:t>
            </a:r>
            <a:r>
              <a:rPr lang="en-IN" dirty="0" smtClean="0"/>
              <a:t>.</a:t>
            </a:r>
          </a:p>
          <a:p>
            <a:r>
              <a:rPr lang="en-IN" dirty="0"/>
              <a:t>Here are some tasks that come under DML:</a:t>
            </a:r>
          </a:p>
          <a:p>
            <a:r>
              <a:rPr lang="en-IN" b="1" dirty="0"/>
              <a:t>Select:</a:t>
            </a:r>
            <a:r>
              <a:rPr lang="en-IN" dirty="0"/>
              <a:t> It is used to retrieve data from a database.</a:t>
            </a:r>
          </a:p>
          <a:p>
            <a:r>
              <a:rPr lang="en-IN" b="1" dirty="0"/>
              <a:t>Insert:</a:t>
            </a:r>
            <a:r>
              <a:rPr lang="en-IN" dirty="0"/>
              <a:t> It is used to insert data into a table.</a:t>
            </a:r>
          </a:p>
          <a:p>
            <a:r>
              <a:rPr lang="en-IN" b="1" dirty="0"/>
              <a:t>Update:</a:t>
            </a:r>
            <a:r>
              <a:rPr lang="en-IN" dirty="0"/>
              <a:t> It is used to update existing data within a table.</a:t>
            </a:r>
          </a:p>
          <a:p>
            <a:r>
              <a:rPr lang="en-IN" b="1" dirty="0"/>
              <a:t>Delete:</a:t>
            </a:r>
            <a:r>
              <a:rPr lang="en-IN" dirty="0"/>
              <a:t> It is used to delete all records from a table.</a:t>
            </a:r>
          </a:p>
          <a:p>
            <a:r>
              <a:rPr lang="en-IN" b="1" dirty="0"/>
              <a:t>Merge:</a:t>
            </a:r>
            <a:r>
              <a:rPr lang="en-IN" dirty="0"/>
              <a:t> It performs UPSERT operation, i.e., insert or update operations.</a:t>
            </a:r>
          </a:p>
          <a:p>
            <a:r>
              <a:rPr lang="en-IN" b="1" dirty="0"/>
              <a:t>Call:</a:t>
            </a:r>
            <a:r>
              <a:rPr lang="en-IN" dirty="0"/>
              <a:t> It is used to call a structured query language or a Java subprogram.</a:t>
            </a:r>
          </a:p>
          <a:p>
            <a:r>
              <a:rPr lang="en-IN" b="1" dirty="0"/>
              <a:t>Explain Plan:</a:t>
            </a:r>
            <a:r>
              <a:rPr lang="en-IN" dirty="0"/>
              <a:t> It has the parameter of explaining data.</a:t>
            </a:r>
          </a:p>
          <a:p>
            <a:r>
              <a:rPr lang="en-IN" b="1" dirty="0"/>
              <a:t>Lock Table:</a:t>
            </a:r>
            <a:r>
              <a:rPr lang="en-IN" dirty="0"/>
              <a:t> It controls concurrency.</a:t>
            </a:r>
          </a:p>
          <a:p>
            <a:endParaRPr lang="en-IN" dirty="0"/>
          </a:p>
        </p:txBody>
      </p:sp>
    </p:spTree>
    <p:extLst>
      <p:ext uri="{BB962C8B-B14F-4D97-AF65-F5344CB8AC3E}">
        <p14:creationId xmlns:p14="http://schemas.microsoft.com/office/powerpoint/2010/main" val="3600823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3. Data Control Language</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IN" b="1" dirty="0"/>
              <a:t>DCL</a:t>
            </a:r>
            <a:r>
              <a:rPr lang="en-IN" dirty="0"/>
              <a:t> stands for </a:t>
            </a:r>
            <a:r>
              <a:rPr lang="en-IN" b="1" dirty="0"/>
              <a:t>D</a:t>
            </a:r>
            <a:r>
              <a:rPr lang="en-IN" dirty="0"/>
              <a:t>ata </a:t>
            </a:r>
            <a:r>
              <a:rPr lang="en-IN" b="1" dirty="0"/>
              <a:t>C</a:t>
            </a:r>
            <a:r>
              <a:rPr lang="en-IN" dirty="0"/>
              <a:t>ontrol </a:t>
            </a:r>
            <a:r>
              <a:rPr lang="en-IN" b="1" dirty="0"/>
              <a:t>L</a:t>
            </a:r>
            <a:r>
              <a:rPr lang="en-IN" dirty="0"/>
              <a:t>anguage. It is used to retrieve the stored or saved data.</a:t>
            </a:r>
          </a:p>
          <a:p>
            <a:r>
              <a:rPr lang="en-IN" dirty="0"/>
              <a:t>The DCL execution is transactional. It also has rollback parameters.</a:t>
            </a:r>
          </a:p>
          <a:p>
            <a:r>
              <a:rPr lang="en-IN" dirty="0"/>
              <a:t>(But in Oracle database, the execution of data control language does not have the feature of rolling back.)</a:t>
            </a:r>
          </a:p>
          <a:p>
            <a:r>
              <a:rPr lang="en-IN" dirty="0"/>
              <a:t>Here are some tasks that come under DCL:</a:t>
            </a:r>
          </a:p>
          <a:p>
            <a:r>
              <a:rPr lang="en-IN" b="1" dirty="0"/>
              <a:t>Grant:</a:t>
            </a:r>
            <a:r>
              <a:rPr lang="en-IN" dirty="0"/>
              <a:t> It is used to give user access privileges to a database.</a:t>
            </a:r>
          </a:p>
          <a:p>
            <a:r>
              <a:rPr lang="en-IN" b="1" dirty="0"/>
              <a:t>Revoke:</a:t>
            </a:r>
            <a:r>
              <a:rPr lang="en-IN" dirty="0"/>
              <a:t> It is used to take back permissions from the user.</a:t>
            </a:r>
          </a:p>
          <a:p>
            <a:r>
              <a:rPr lang="en-IN" dirty="0"/>
              <a:t>There are the following operations which have the authorization of Revoke: </a:t>
            </a:r>
          </a:p>
          <a:p>
            <a:r>
              <a:rPr lang="en-IN" dirty="0"/>
              <a:t>CONNECT, INSERT, USAGE, EXECUTE, DELETE, UPDATE and SELECT.</a:t>
            </a:r>
          </a:p>
          <a:p>
            <a:endParaRPr lang="en-IN" dirty="0"/>
          </a:p>
        </p:txBody>
      </p:sp>
    </p:spTree>
    <p:extLst>
      <p:ext uri="{BB962C8B-B14F-4D97-AF65-F5344CB8AC3E}">
        <p14:creationId xmlns:p14="http://schemas.microsoft.com/office/powerpoint/2010/main" val="2691742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4. Transaction Control Language</a:t>
            </a:r>
            <a:br>
              <a:rPr lang="en-IN" b="1" dirty="0"/>
            </a:br>
            <a:endParaRPr lang="en-IN" dirty="0"/>
          </a:p>
        </p:txBody>
      </p:sp>
      <p:sp>
        <p:nvSpPr>
          <p:cNvPr id="3" name="Content Placeholder 2"/>
          <p:cNvSpPr>
            <a:spLocks noGrp="1"/>
          </p:cNvSpPr>
          <p:nvPr>
            <p:ph idx="1"/>
          </p:nvPr>
        </p:nvSpPr>
        <p:spPr/>
        <p:txBody>
          <a:bodyPr/>
          <a:lstStyle/>
          <a:p>
            <a:r>
              <a:rPr lang="en-IN" dirty="0"/>
              <a:t>TCL is used to run the changes made by the DML statement. TCL can be grouped into a logical transaction.</a:t>
            </a:r>
          </a:p>
          <a:p>
            <a:r>
              <a:rPr lang="en-IN" dirty="0"/>
              <a:t>Here are some tasks that come under TCL:</a:t>
            </a:r>
          </a:p>
          <a:p>
            <a:r>
              <a:rPr lang="en-IN" b="1" dirty="0"/>
              <a:t>Commit:</a:t>
            </a:r>
            <a:r>
              <a:rPr lang="en-IN" dirty="0"/>
              <a:t> It is used to save the transaction on the database.</a:t>
            </a:r>
          </a:p>
          <a:p>
            <a:r>
              <a:rPr lang="en-IN" b="1" dirty="0"/>
              <a:t>Rollback:</a:t>
            </a:r>
            <a:r>
              <a:rPr lang="en-IN" dirty="0"/>
              <a:t> It is used to restore the database to original since the last Commit. </a:t>
            </a:r>
          </a:p>
          <a:p>
            <a:endParaRPr lang="en-IN" dirty="0"/>
          </a:p>
        </p:txBody>
      </p:sp>
    </p:spTree>
    <p:extLst>
      <p:ext uri="{BB962C8B-B14F-4D97-AF65-F5344CB8AC3E}">
        <p14:creationId xmlns:p14="http://schemas.microsoft.com/office/powerpoint/2010/main" val="4182811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Database Applications</a:t>
            </a:r>
            <a:r>
              <a:rPr lang="en-IN" dirty="0"/>
              <a:t> </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pPr>
              <a:buFont typeface="Wingdings" panose="05000000000000000000" pitchFamily="2" charset="2"/>
              <a:buChar char="§"/>
            </a:pPr>
            <a:r>
              <a:rPr lang="en-IN" dirty="0"/>
              <a:t>DBMS contains information about a particular </a:t>
            </a:r>
            <a:r>
              <a:rPr lang="en-IN" dirty="0" smtClean="0"/>
              <a:t>enterprise</a:t>
            </a:r>
            <a:br>
              <a:rPr lang="en-IN" dirty="0" smtClean="0"/>
            </a:br>
            <a:endParaRPr lang="en-IN" dirty="0" smtClean="0"/>
          </a:p>
          <a:p>
            <a:pPr>
              <a:buFont typeface="Wingdings" panose="05000000000000000000" pitchFamily="2" charset="2"/>
              <a:buChar char="§"/>
            </a:pPr>
            <a:r>
              <a:rPr lang="en-IN" dirty="0" smtClean="0"/>
              <a:t>DBMS </a:t>
            </a:r>
            <a:r>
              <a:rPr lang="en-IN" dirty="0"/>
              <a:t>provides an environment that is both </a:t>
            </a:r>
            <a:r>
              <a:rPr lang="en-IN" i="1" dirty="0"/>
              <a:t>convenient </a:t>
            </a:r>
            <a:r>
              <a:rPr lang="en-IN" dirty="0"/>
              <a:t>and </a:t>
            </a:r>
            <a:r>
              <a:rPr lang="en-IN" i="1" dirty="0"/>
              <a:t>efficient</a:t>
            </a:r>
            <a:br>
              <a:rPr lang="en-IN" i="1" dirty="0"/>
            </a:br>
            <a:r>
              <a:rPr lang="en-IN" dirty="0"/>
              <a:t>to </a:t>
            </a:r>
            <a:r>
              <a:rPr lang="en-IN" dirty="0" smtClean="0"/>
              <a:t>use.</a:t>
            </a:r>
            <a:endParaRPr lang="en-IN" dirty="0"/>
          </a:p>
          <a:p>
            <a:pPr>
              <a:buFont typeface="Wingdings" panose="05000000000000000000" pitchFamily="2" charset="2"/>
              <a:buChar char="Ø"/>
            </a:pPr>
            <a:r>
              <a:rPr lang="en-IN" dirty="0" smtClean="0"/>
              <a:t>Database Applications:</a:t>
            </a:r>
            <a:endParaRPr lang="en-IN" dirty="0"/>
          </a:p>
          <a:p>
            <a:pPr>
              <a:buFont typeface="Wingdings" panose="05000000000000000000" pitchFamily="2" charset="2"/>
              <a:buChar char="Ø"/>
            </a:pPr>
            <a:r>
              <a:rPr lang="en-IN" dirty="0" smtClean="0"/>
              <a:t>Banking</a:t>
            </a:r>
            <a:r>
              <a:rPr lang="en-IN" dirty="0"/>
              <a:t>: all </a:t>
            </a:r>
            <a:r>
              <a:rPr lang="en-IN" dirty="0" smtClean="0"/>
              <a:t>transaction</a:t>
            </a:r>
            <a:endParaRPr lang="en-IN" dirty="0"/>
          </a:p>
          <a:p>
            <a:pPr>
              <a:buFont typeface="Wingdings" panose="05000000000000000000" pitchFamily="2" charset="2"/>
              <a:buChar char="Ø"/>
            </a:pPr>
            <a:r>
              <a:rPr lang="en-IN" dirty="0" smtClean="0"/>
              <a:t>Airlines</a:t>
            </a:r>
            <a:r>
              <a:rPr lang="en-IN" dirty="0"/>
              <a:t>: reservations, </a:t>
            </a:r>
            <a:r>
              <a:rPr lang="en-IN" dirty="0" smtClean="0"/>
              <a:t>schedules</a:t>
            </a:r>
            <a:endParaRPr lang="en-IN" dirty="0"/>
          </a:p>
          <a:p>
            <a:pPr>
              <a:buFont typeface="Wingdings" panose="05000000000000000000" pitchFamily="2" charset="2"/>
              <a:buChar char="Ø"/>
            </a:pPr>
            <a:r>
              <a:rPr lang="en-IN" dirty="0" smtClean="0"/>
              <a:t>Universities</a:t>
            </a:r>
            <a:r>
              <a:rPr lang="en-IN" dirty="0"/>
              <a:t>: registration, </a:t>
            </a:r>
            <a:r>
              <a:rPr lang="en-IN" dirty="0" smtClean="0"/>
              <a:t>grades</a:t>
            </a:r>
          </a:p>
          <a:p>
            <a:pPr>
              <a:buFont typeface="Wingdings" panose="05000000000000000000" pitchFamily="2" charset="2"/>
              <a:buChar char="Ø"/>
            </a:pPr>
            <a:r>
              <a:rPr lang="en-IN" dirty="0" smtClean="0"/>
              <a:t>Sales</a:t>
            </a:r>
            <a:r>
              <a:rPr lang="en-IN" dirty="0"/>
              <a:t>: customers, products, </a:t>
            </a:r>
            <a:r>
              <a:rPr lang="en-IN" dirty="0" smtClean="0"/>
              <a:t>purchases</a:t>
            </a:r>
            <a:endParaRPr lang="en-IN" dirty="0"/>
          </a:p>
          <a:p>
            <a:pPr>
              <a:buFont typeface="Wingdings" panose="05000000000000000000" pitchFamily="2" charset="2"/>
              <a:buChar char="Ø"/>
            </a:pPr>
            <a:r>
              <a:rPr lang="en-IN" dirty="0" smtClean="0"/>
              <a:t>Manufacturing</a:t>
            </a:r>
            <a:r>
              <a:rPr lang="en-IN" dirty="0"/>
              <a:t>: production, inventory, orders, supply </a:t>
            </a:r>
            <a:r>
              <a:rPr lang="en-IN" dirty="0" smtClean="0"/>
              <a:t>chain</a:t>
            </a:r>
            <a:endParaRPr lang="en-IN" dirty="0"/>
          </a:p>
          <a:p>
            <a:pPr>
              <a:buFont typeface="Wingdings" panose="05000000000000000000" pitchFamily="2" charset="2"/>
              <a:buChar char="Ø"/>
            </a:pPr>
            <a:r>
              <a:rPr lang="en-IN" dirty="0" smtClean="0"/>
              <a:t>Human </a:t>
            </a:r>
            <a:r>
              <a:rPr lang="en-IN" dirty="0"/>
              <a:t>resources: employee records, salaries, tax deductions</a:t>
            </a:r>
            <a:br>
              <a:rPr lang="en-IN" dirty="0"/>
            </a:br>
            <a:r>
              <a:rPr lang="en-IN" dirty="0" smtClean="0"/>
              <a:t> </a:t>
            </a:r>
          </a:p>
          <a:p>
            <a:pPr marL="0" indent="0">
              <a:buNone/>
            </a:pPr>
            <a:r>
              <a:rPr lang="en-IN" dirty="0" smtClean="0"/>
              <a:t>Databases </a:t>
            </a:r>
            <a:r>
              <a:rPr lang="en-IN" dirty="0"/>
              <a:t>touch all aspects of our lives </a:t>
            </a:r>
            <a:br>
              <a:rPr lang="en-IN" dirty="0"/>
            </a:br>
            <a:endParaRPr lang="en-IN" dirty="0"/>
          </a:p>
        </p:txBody>
      </p:sp>
    </p:spTree>
    <p:extLst>
      <p:ext uri="{BB962C8B-B14F-4D97-AF65-F5344CB8AC3E}">
        <p14:creationId xmlns:p14="http://schemas.microsoft.com/office/powerpoint/2010/main" val="3928782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Models </a:t>
            </a:r>
            <a:br>
              <a:rPr lang="en-IN" dirty="0"/>
            </a:br>
            <a:endParaRPr lang="en-IN" dirty="0"/>
          </a:p>
        </p:txBody>
      </p:sp>
      <p:sp>
        <p:nvSpPr>
          <p:cNvPr id="3" name="Content Placeholder 2"/>
          <p:cNvSpPr>
            <a:spLocks noGrp="1"/>
          </p:cNvSpPr>
          <p:nvPr>
            <p:ph idx="1"/>
          </p:nvPr>
        </p:nvSpPr>
        <p:spPr/>
        <p:txBody>
          <a:bodyPr/>
          <a:lstStyle/>
          <a:p>
            <a:r>
              <a:rPr lang="en-IN" dirty="0"/>
              <a:t>It is a collection of conceptual tools for describing data, data relationship, data</a:t>
            </a:r>
            <a:br>
              <a:rPr lang="en-IN" dirty="0"/>
            </a:br>
            <a:r>
              <a:rPr lang="en-IN" dirty="0"/>
              <a:t>semantics &amp; consistency constraints.</a:t>
            </a:r>
            <a:br>
              <a:rPr lang="en-IN" dirty="0"/>
            </a:br>
            <a:r>
              <a:rPr lang="en-IN" b="1" dirty="0"/>
              <a:t>Different types of data models:</a:t>
            </a:r>
            <a:br>
              <a:rPr lang="en-IN" b="1" dirty="0"/>
            </a:br>
            <a:r>
              <a:rPr lang="en-IN" dirty="0"/>
              <a:t>• Entity-Relationship model</a:t>
            </a:r>
            <a:br>
              <a:rPr lang="en-IN" dirty="0"/>
            </a:br>
            <a:r>
              <a:rPr lang="en-IN" dirty="0"/>
              <a:t>• Relational model</a:t>
            </a:r>
            <a:br>
              <a:rPr lang="en-IN" dirty="0"/>
            </a:br>
            <a:r>
              <a:rPr lang="en-IN" dirty="0"/>
              <a:t>• Hierarchical model</a:t>
            </a:r>
            <a:br>
              <a:rPr lang="en-IN" dirty="0"/>
            </a:br>
            <a:r>
              <a:rPr lang="en-IN" dirty="0"/>
              <a:t>• Network model</a:t>
            </a:r>
            <a:br>
              <a:rPr lang="en-IN" dirty="0"/>
            </a:br>
            <a:r>
              <a:rPr lang="en-IN" dirty="0"/>
              <a:t>• object-oriented model </a:t>
            </a:r>
            <a:br>
              <a:rPr lang="en-IN" dirty="0"/>
            </a:br>
            <a:endParaRPr lang="en-IN" dirty="0"/>
          </a:p>
        </p:txBody>
      </p:sp>
    </p:spTree>
    <p:extLst>
      <p:ext uri="{BB962C8B-B14F-4D97-AF65-F5344CB8AC3E}">
        <p14:creationId xmlns:p14="http://schemas.microsoft.com/office/powerpoint/2010/main" val="2468772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Entity-Relationship model</a:t>
            </a:r>
            <a:r>
              <a:rPr lang="en-IN" dirty="0"/>
              <a:t> </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It consist </a:t>
            </a:r>
            <a:r>
              <a:rPr lang="en-IN" dirty="0" smtClean="0"/>
              <a:t>of </a:t>
            </a:r>
          </a:p>
          <a:p>
            <a:r>
              <a:rPr lang="en-IN" b="1" dirty="0" smtClean="0"/>
              <a:t>Entities </a:t>
            </a:r>
            <a:r>
              <a:rPr lang="en-IN" b="1" dirty="0"/>
              <a:t>(objects) : </a:t>
            </a:r>
            <a:r>
              <a:rPr lang="en-IN" dirty="0"/>
              <a:t>ex. customer ,bank </a:t>
            </a:r>
            <a:r>
              <a:rPr lang="en-IN" dirty="0" smtClean="0"/>
              <a:t>account.</a:t>
            </a:r>
          </a:p>
          <a:p>
            <a:r>
              <a:rPr lang="en-IN" b="1" dirty="0" smtClean="0"/>
              <a:t>Relationships </a:t>
            </a:r>
            <a:r>
              <a:rPr lang="en-IN" b="1" dirty="0"/>
              <a:t>between entities: </a:t>
            </a:r>
            <a:r>
              <a:rPr lang="en-IN" dirty="0"/>
              <a:t>ex. John having account no. S15751</a:t>
            </a:r>
            <a:br>
              <a:rPr lang="en-IN" dirty="0"/>
            </a:br>
            <a:endParaRPr lang="en-IN" dirty="0" smtClean="0"/>
          </a:p>
          <a:p>
            <a:r>
              <a:rPr lang="en-IN" dirty="0" smtClean="0"/>
              <a:t>The </a:t>
            </a:r>
            <a:r>
              <a:rPr lang="en-IN" dirty="0"/>
              <a:t>set of all entities of same type &amp; the set of all relationship of the same </a:t>
            </a:r>
            <a:r>
              <a:rPr lang="en-IN" dirty="0" smtClean="0"/>
              <a:t>type are </a:t>
            </a:r>
            <a:r>
              <a:rPr lang="en-IN" dirty="0"/>
              <a:t>termed as an </a:t>
            </a:r>
            <a:r>
              <a:rPr lang="en-IN" b="1" dirty="0"/>
              <a:t>entity set </a:t>
            </a:r>
            <a:r>
              <a:rPr lang="en-IN" dirty="0"/>
              <a:t>&amp; </a:t>
            </a:r>
            <a:r>
              <a:rPr lang="en-IN" b="1" dirty="0"/>
              <a:t>relationship set </a:t>
            </a:r>
            <a:r>
              <a:rPr lang="en-IN" dirty="0"/>
              <a:t>respectively .</a:t>
            </a:r>
            <a:br>
              <a:rPr lang="en-IN" dirty="0"/>
            </a:br>
            <a:r>
              <a:rPr lang="en-IN" b="1" dirty="0"/>
              <a:t>E-R diagram consist of following components</a:t>
            </a:r>
            <a:r>
              <a:rPr lang="en-IN" dirty="0"/>
              <a:t>:</a:t>
            </a:r>
            <a:br>
              <a:rPr lang="en-IN" dirty="0"/>
            </a:br>
            <a:r>
              <a:rPr lang="en-IN" b="1" dirty="0"/>
              <a:t>Rectangles: </a:t>
            </a:r>
            <a:r>
              <a:rPr lang="en-IN" dirty="0"/>
              <a:t>which represent entity set.</a:t>
            </a:r>
            <a:br>
              <a:rPr lang="en-IN" dirty="0"/>
            </a:br>
            <a:r>
              <a:rPr lang="en-IN" b="1" dirty="0"/>
              <a:t>Ellipses: </a:t>
            </a:r>
            <a:r>
              <a:rPr lang="en-IN" dirty="0"/>
              <a:t>which represent attributes</a:t>
            </a:r>
            <a:br>
              <a:rPr lang="en-IN" dirty="0"/>
            </a:br>
            <a:r>
              <a:rPr lang="en-IN" b="1" dirty="0"/>
              <a:t>Diamonds: </a:t>
            </a:r>
            <a:r>
              <a:rPr lang="en-IN" dirty="0"/>
              <a:t>which represent relationship among entity sets</a:t>
            </a:r>
            <a:br>
              <a:rPr lang="en-IN" dirty="0"/>
            </a:br>
            <a:r>
              <a:rPr lang="en-IN" b="1" dirty="0"/>
              <a:t>Lines </a:t>
            </a:r>
            <a:r>
              <a:rPr lang="en-IN" dirty="0"/>
              <a:t>:which link attributes to entity sets and entity sets to relationships </a:t>
            </a:r>
            <a:br>
              <a:rPr lang="en-IN" dirty="0"/>
            </a:br>
            <a:endParaRPr lang="en-IN" dirty="0"/>
          </a:p>
        </p:txBody>
      </p:sp>
    </p:spTree>
    <p:extLst>
      <p:ext uri="{BB962C8B-B14F-4D97-AF65-F5344CB8AC3E}">
        <p14:creationId xmlns:p14="http://schemas.microsoft.com/office/powerpoint/2010/main" val="3901689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8687" y="455855"/>
            <a:ext cx="2287121" cy="500232"/>
          </a:xfrm>
          <a:prstGeom prst="rect">
            <a:avLst/>
          </a:prstGeom>
        </p:spPr>
        <p:txBody>
          <a:bodyPr vert="horz" wrap="square" lIns="0" tIns="11206" rIns="0" bIns="0" rtlCol="0" anchor="ctr">
            <a:spAutoFit/>
          </a:bodyPr>
          <a:lstStyle/>
          <a:p>
            <a:pPr marL="11206">
              <a:lnSpc>
                <a:spcPct val="100000"/>
              </a:lnSpc>
              <a:spcBef>
                <a:spcPts val="88"/>
              </a:spcBef>
            </a:pPr>
            <a:r>
              <a:rPr sz="3177" spc="-4" dirty="0">
                <a:solidFill>
                  <a:srgbClr val="0000FF"/>
                </a:solidFill>
              </a:rPr>
              <a:t>Data</a:t>
            </a:r>
            <a:r>
              <a:rPr sz="3177" spc="-44" dirty="0">
                <a:solidFill>
                  <a:srgbClr val="0000FF"/>
                </a:solidFill>
              </a:rPr>
              <a:t> </a:t>
            </a:r>
            <a:r>
              <a:rPr sz="3177" spc="-4" dirty="0">
                <a:solidFill>
                  <a:srgbClr val="0000FF"/>
                </a:solidFill>
              </a:rPr>
              <a:t>Models</a:t>
            </a:r>
            <a:endParaRPr sz="3177"/>
          </a:p>
        </p:txBody>
      </p:sp>
      <p:sp>
        <p:nvSpPr>
          <p:cNvPr id="3" name="object 3"/>
          <p:cNvSpPr txBox="1"/>
          <p:nvPr/>
        </p:nvSpPr>
        <p:spPr>
          <a:xfrm>
            <a:off x="2534770" y="1368462"/>
            <a:ext cx="6951008" cy="3476336"/>
          </a:xfrm>
          <a:prstGeom prst="rect">
            <a:avLst/>
          </a:prstGeom>
        </p:spPr>
        <p:txBody>
          <a:bodyPr vert="horz" wrap="square" lIns="0" tIns="9525" rIns="0" bIns="0" rtlCol="0">
            <a:spAutoFit/>
          </a:bodyPr>
          <a:lstStyle/>
          <a:p>
            <a:pPr marL="11206" marR="4483">
              <a:lnSpc>
                <a:spcPct val="100600"/>
              </a:lnSpc>
              <a:spcBef>
                <a:spcPts val="75"/>
              </a:spcBef>
            </a:pPr>
            <a:r>
              <a:rPr sz="1588" dirty="0">
                <a:latin typeface="Arial"/>
                <a:cs typeface="Arial"/>
              </a:rPr>
              <a:t>It </a:t>
            </a:r>
            <a:r>
              <a:rPr sz="1588" spc="-4" dirty="0">
                <a:latin typeface="Arial"/>
                <a:cs typeface="Arial"/>
              </a:rPr>
              <a:t>is a collection </a:t>
            </a:r>
            <a:r>
              <a:rPr sz="1588" dirty="0">
                <a:latin typeface="Arial"/>
                <a:cs typeface="Arial"/>
              </a:rPr>
              <a:t>of </a:t>
            </a:r>
            <a:r>
              <a:rPr sz="1588" spc="-4" dirty="0">
                <a:latin typeface="Arial"/>
                <a:cs typeface="Arial"/>
              </a:rPr>
              <a:t>conceptual tools </a:t>
            </a:r>
            <a:r>
              <a:rPr sz="1588" dirty="0">
                <a:latin typeface="Arial"/>
                <a:cs typeface="Arial"/>
              </a:rPr>
              <a:t>for </a:t>
            </a:r>
            <a:r>
              <a:rPr sz="1588" spc="-4" dirty="0">
                <a:latin typeface="Arial"/>
                <a:cs typeface="Arial"/>
              </a:rPr>
              <a:t>describing </a:t>
            </a:r>
            <a:r>
              <a:rPr sz="1588" dirty="0">
                <a:latin typeface="Arial"/>
                <a:cs typeface="Arial"/>
              </a:rPr>
              <a:t>data, </a:t>
            </a:r>
            <a:r>
              <a:rPr sz="1588" spc="-4" dirty="0">
                <a:latin typeface="Arial"/>
                <a:cs typeface="Arial"/>
              </a:rPr>
              <a:t>data relationship, data  semantics </a:t>
            </a:r>
            <a:r>
              <a:rPr sz="1588" dirty="0">
                <a:latin typeface="Arial"/>
                <a:cs typeface="Arial"/>
              </a:rPr>
              <a:t>&amp; </a:t>
            </a:r>
            <a:r>
              <a:rPr sz="1588" spc="-4" dirty="0">
                <a:latin typeface="Arial"/>
                <a:cs typeface="Arial"/>
              </a:rPr>
              <a:t>consistency</a:t>
            </a:r>
            <a:r>
              <a:rPr sz="1588" dirty="0">
                <a:latin typeface="Arial"/>
                <a:cs typeface="Arial"/>
              </a:rPr>
              <a:t> constraints.</a:t>
            </a:r>
            <a:endParaRPr sz="1588">
              <a:latin typeface="Arial"/>
              <a:cs typeface="Arial"/>
            </a:endParaRPr>
          </a:p>
          <a:p>
            <a:pPr>
              <a:spcBef>
                <a:spcPts val="26"/>
              </a:spcBef>
            </a:pPr>
            <a:endParaRPr sz="1632">
              <a:latin typeface="Arial"/>
              <a:cs typeface="Arial"/>
            </a:endParaRPr>
          </a:p>
          <a:p>
            <a:pPr marL="11206">
              <a:spcBef>
                <a:spcPts val="4"/>
              </a:spcBef>
            </a:pPr>
            <a:r>
              <a:rPr sz="1588" b="1" spc="-4" dirty="0">
                <a:solidFill>
                  <a:srgbClr val="FF33CC"/>
                </a:solidFill>
                <a:latin typeface="Arial"/>
                <a:cs typeface="Arial"/>
              </a:rPr>
              <a:t>Different types </a:t>
            </a:r>
            <a:r>
              <a:rPr sz="1588" b="1" dirty="0">
                <a:solidFill>
                  <a:srgbClr val="FF33CC"/>
                </a:solidFill>
                <a:latin typeface="Arial"/>
                <a:cs typeface="Arial"/>
              </a:rPr>
              <a:t>of data</a:t>
            </a:r>
            <a:r>
              <a:rPr sz="1588" b="1" spc="4" dirty="0">
                <a:solidFill>
                  <a:srgbClr val="FF33CC"/>
                </a:solidFill>
                <a:latin typeface="Arial"/>
                <a:cs typeface="Arial"/>
              </a:rPr>
              <a:t> </a:t>
            </a:r>
            <a:r>
              <a:rPr sz="1588" b="1" dirty="0">
                <a:solidFill>
                  <a:srgbClr val="FF33CC"/>
                </a:solidFill>
                <a:latin typeface="Arial"/>
                <a:cs typeface="Arial"/>
              </a:rPr>
              <a:t>models:</a:t>
            </a:r>
            <a:endParaRPr sz="1588">
              <a:latin typeface="Arial"/>
              <a:cs typeface="Arial"/>
            </a:endParaRPr>
          </a:p>
          <a:p>
            <a:pPr>
              <a:spcBef>
                <a:spcPts val="26"/>
              </a:spcBef>
            </a:pPr>
            <a:endParaRPr sz="1632">
              <a:latin typeface="Arial"/>
              <a:cs typeface="Arial"/>
            </a:endParaRPr>
          </a:p>
          <a:p>
            <a:pPr marL="137279" indent="-126633">
              <a:buClr>
                <a:srgbClr val="FF33CC"/>
              </a:buClr>
              <a:buChar char="•"/>
              <a:tabLst>
                <a:tab pos="137840" algn="l"/>
              </a:tabLst>
            </a:pPr>
            <a:r>
              <a:rPr sz="1588" spc="-4" dirty="0">
                <a:latin typeface="Arial"/>
                <a:cs typeface="Arial"/>
              </a:rPr>
              <a:t>Entity-Relationship</a:t>
            </a:r>
            <a:r>
              <a:rPr sz="1588" dirty="0">
                <a:latin typeface="Arial"/>
                <a:cs typeface="Arial"/>
              </a:rPr>
              <a:t> </a:t>
            </a:r>
            <a:r>
              <a:rPr sz="1588" spc="-4" dirty="0">
                <a:latin typeface="Arial"/>
                <a:cs typeface="Arial"/>
              </a:rPr>
              <a:t>model</a:t>
            </a:r>
            <a:endParaRPr sz="1588">
              <a:latin typeface="Arial"/>
              <a:cs typeface="Arial"/>
            </a:endParaRPr>
          </a:p>
          <a:p>
            <a:pPr>
              <a:spcBef>
                <a:spcPts val="40"/>
              </a:spcBef>
              <a:buClr>
                <a:srgbClr val="FF33CC"/>
              </a:buClr>
              <a:buFont typeface="Arial"/>
              <a:buChar char="•"/>
            </a:pPr>
            <a:endParaRPr sz="1632">
              <a:latin typeface="Arial"/>
              <a:cs typeface="Arial"/>
            </a:endParaRPr>
          </a:p>
          <a:p>
            <a:pPr marL="137279" indent="-126633">
              <a:buClr>
                <a:srgbClr val="FF33CC"/>
              </a:buClr>
              <a:buChar char="•"/>
              <a:tabLst>
                <a:tab pos="137840" algn="l"/>
              </a:tabLst>
            </a:pPr>
            <a:r>
              <a:rPr sz="1588" spc="-4" dirty="0">
                <a:latin typeface="Arial"/>
                <a:cs typeface="Arial"/>
              </a:rPr>
              <a:t>Relational model</a:t>
            </a:r>
            <a:endParaRPr sz="1588">
              <a:latin typeface="Arial"/>
              <a:cs typeface="Arial"/>
            </a:endParaRPr>
          </a:p>
          <a:p>
            <a:pPr>
              <a:spcBef>
                <a:spcPts val="26"/>
              </a:spcBef>
              <a:buClr>
                <a:srgbClr val="FF33CC"/>
              </a:buClr>
              <a:buFont typeface="Arial"/>
              <a:buChar char="•"/>
            </a:pPr>
            <a:endParaRPr sz="1632">
              <a:latin typeface="Arial"/>
              <a:cs typeface="Arial"/>
            </a:endParaRPr>
          </a:p>
          <a:p>
            <a:pPr marL="137279" indent="-126633">
              <a:spcBef>
                <a:spcPts val="4"/>
              </a:spcBef>
              <a:buClr>
                <a:srgbClr val="FF33CC"/>
              </a:buClr>
              <a:buChar char="•"/>
              <a:tabLst>
                <a:tab pos="137840" algn="l"/>
              </a:tabLst>
            </a:pPr>
            <a:r>
              <a:rPr sz="1588" spc="-4" dirty="0">
                <a:latin typeface="Arial"/>
                <a:cs typeface="Arial"/>
              </a:rPr>
              <a:t>Hierarchical model</a:t>
            </a:r>
            <a:endParaRPr sz="1588">
              <a:latin typeface="Arial"/>
              <a:cs typeface="Arial"/>
            </a:endParaRPr>
          </a:p>
          <a:p>
            <a:pPr>
              <a:spcBef>
                <a:spcPts val="35"/>
              </a:spcBef>
              <a:buClr>
                <a:srgbClr val="FF33CC"/>
              </a:buClr>
              <a:buFont typeface="Arial"/>
              <a:buChar char="•"/>
            </a:pPr>
            <a:endParaRPr sz="1632">
              <a:latin typeface="Arial"/>
              <a:cs typeface="Arial"/>
            </a:endParaRPr>
          </a:p>
          <a:p>
            <a:pPr marL="137279" indent="-126633">
              <a:spcBef>
                <a:spcPts val="4"/>
              </a:spcBef>
              <a:buClr>
                <a:srgbClr val="FF33CC"/>
              </a:buClr>
              <a:buChar char="•"/>
              <a:tabLst>
                <a:tab pos="137840" algn="l"/>
              </a:tabLst>
            </a:pPr>
            <a:r>
              <a:rPr sz="1588" spc="-4" dirty="0">
                <a:latin typeface="Arial"/>
                <a:cs typeface="Arial"/>
              </a:rPr>
              <a:t>Network model</a:t>
            </a:r>
            <a:endParaRPr sz="1588">
              <a:latin typeface="Arial"/>
              <a:cs typeface="Arial"/>
            </a:endParaRPr>
          </a:p>
          <a:p>
            <a:pPr>
              <a:spcBef>
                <a:spcPts val="26"/>
              </a:spcBef>
              <a:buClr>
                <a:srgbClr val="FF33CC"/>
              </a:buClr>
              <a:buFont typeface="Arial"/>
              <a:buChar char="•"/>
            </a:pPr>
            <a:endParaRPr sz="1632">
              <a:latin typeface="Arial"/>
              <a:cs typeface="Arial"/>
            </a:endParaRPr>
          </a:p>
          <a:p>
            <a:pPr marL="137279" indent="-126633">
              <a:buClr>
                <a:srgbClr val="FF33CC"/>
              </a:buClr>
              <a:buChar char="•"/>
              <a:tabLst>
                <a:tab pos="137840" algn="l"/>
              </a:tabLst>
            </a:pPr>
            <a:r>
              <a:rPr sz="1588" spc="-4" dirty="0">
                <a:latin typeface="Arial"/>
                <a:cs typeface="Arial"/>
              </a:rPr>
              <a:t>object-oriented</a:t>
            </a:r>
            <a:r>
              <a:rPr sz="1588" dirty="0">
                <a:latin typeface="Arial"/>
                <a:cs typeface="Arial"/>
              </a:rPr>
              <a:t> </a:t>
            </a:r>
            <a:r>
              <a:rPr sz="1588" spc="-4" dirty="0">
                <a:latin typeface="Arial"/>
                <a:cs typeface="Arial"/>
              </a:rPr>
              <a:t>model</a:t>
            </a:r>
            <a:endParaRPr sz="1588">
              <a:latin typeface="Arial"/>
              <a:cs typeface="Arial"/>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63267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67535" y="427167"/>
            <a:ext cx="7163360" cy="3707007"/>
          </a:xfrm>
          <a:prstGeom prst="rect">
            <a:avLst/>
          </a:prstGeom>
        </p:spPr>
        <p:txBody>
          <a:bodyPr vert="horz" wrap="square" lIns="0" tIns="11206" rIns="0" bIns="0" rtlCol="0">
            <a:spAutoFit/>
          </a:bodyPr>
          <a:lstStyle/>
          <a:p>
            <a:pPr marL="137279" indent="-126633">
              <a:spcBef>
                <a:spcPts val="88"/>
              </a:spcBef>
              <a:buClr>
                <a:srgbClr val="FF33CC"/>
              </a:buClr>
              <a:buFont typeface="Arial"/>
              <a:buChar char="•"/>
              <a:tabLst>
                <a:tab pos="137840" algn="l"/>
              </a:tabLst>
            </a:pPr>
            <a:r>
              <a:rPr sz="1588" b="1" dirty="0">
                <a:solidFill>
                  <a:srgbClr val="FF0000"/>
                </a:solidFill>
                <a:latin typeface="Arial"/>
                <a:cs typeface="Arial"/>
              </a:rPr>
              <a:t>Entity-Relationship</a:t>
            </a:r>
            <a:r>
              <a:rPr sz="1588" b="1" spc="-4" dirty="0">
                <a:solidFill>
                  <a:srgbClr val="FF0000"/>
                </a:solidFill>
                <a:latin typeface="Arial"/>
                <a:cs typeface="Arial"/>
              </a:rPr>
              <a:t> </a:t>
            </a:r>
            <a:r>
              <a:rPr sz="1588" b="1" dirty="0">
                <a:solidFill>
                  <a:srgbClr val="FF0000"/>
                </a:solidFill>
                <a:latin typeface="Arial"/>
                <a:cs typeface="Arial"/>
              </a:rPr>
              <a:t>model:-</a:t>
            </a:r>
            <a:endParaRPr sz="1588">
              <a:latin typeface="Arial"/>
              <a:cs typeface="Arial"/>
            </a:endParaRPr>
          </a:p>
          <a:p>
            <a:pPr marL="180424">
              <a:spcBef>
                <a:spcPts val="9"/>
              </a:spcBef>
            </a:pPr>
            <a:r>
              <a:rPr sz="1588" dirty="0">
                <a:latin typeface="Arial"/>
                <a:cs typeface="Arial"/>
              </a:rPr>
              <a:t>It consist</a:t>
            </a:r>
            <a:r>
              <a:rPr sz="1588" spc="-4" dirty="0">
                <a:latin typeface="Arial"/>
                <a:cs typeface="Arial"/>
              </a:rPr>
              <a:t> </a:t>
            </a:r>
            <a:r>
              <a:rPr sz="1588" dirty="0">
                <a:latin typeface="Arial"/>
                <a:cs typeface="Arial"/>
              </a:rPr>
              <a:t>of</a:t>
            </a:r>
            <a:endParaRPr sz="1588">
              <a:latin typeface="Arial"/>
              <a:cs typeface="Arial"/>
            </a:endParaRPr>
          </a:p>
          <a:p>
            <a:pPr marL="414640">
              <a:spcBef>
                <a:spcPts val="666"/>
              </a:spcBef>
            </a:pPr>
            <a:r>
              <a:rPr sz="1588" b="1" dirty="0">
                <a:solidFill>
                  <a:srgbClr val="FF33CC"/>
                </a:solidFill>
                <a:latin typeface="Arial"/>
                <a:cs typeface="Arial"/>
              </a:rPr>
              <a:t>Entities (objects) </a:t>
            </a:r>
            <a:r>
              <a:rPr sz="1588" b="1" dirty="0">
                <a:latin typeface="Arial"/>
                <a:cs typeface="Arial"/>
              </a:rPr>
              <a:t>: </a:t>
            </a:r>
            <a:r>
              <a:rPr sz="1588" dirty="0">
                <a:latin typeface="Arial"/>
                <a:cs typeface="Arial"/>
              </a:rPr>
              <a:t>ex. </a:t>
            </a:r>
            <a:r>
              <a:rPr sz="1588" spc="-4" dirty="0">
                <a:latin typeface="Arial"/>
                <a:cs typeface="Arial"/>
              </a:rPr>
              <a:t>customer ,bank</a:t>
            </a:r>
            <a:r>
              <a:rPr sz="1588" dirty="0">
                <a:latin typeface="Arial"/>
                <a:cs typeface="Arial"/>
              </a:rPr>
              <a:t> </a:t>
            </a:r>
            <a:r>
              <a:rPr sz="1588" spc="-4" dirty="0">
                <a:latin typeface="Arial"/>
                <a:cs typeface="Arial"/>
              </a:rPr>
              <a:t>account.</a:t>
            </a:r>
            <a:endParaRPr sz="1588">
              <a:latin typeface="Arial"/>
              <a:cs typeface="Arial"/>
            </a:endParaRPr>
          </a:p>
          <a:p>
            <a:pPr marL="414079">
              <a:spcBef>
                <a:spcPts val="679"/>
              </a:spcBef>
            </a:pPr>
            <a:r>
              <a:rPr sz="1588" b="1" dirty="0">
                <a:solidFill>
                  <a:srgbClr val="FF33CC"/>
                </a:solidFill>
                <a:latin typeface="Arial"/>
                <a:cs typeface="Arial"/>
              </a:rPr>
              <a:t>Relationships between entities: </a:t>
            </a:r>
            <a:r>
              <a:rPr sz="1588" dirty="0">
                <a:latin typeface="Arial"/>
                <a:cs typeface="Arial"/>
              </a:rPr>
              <a:t>ex. </a:t>
            </a:r>
            <a:r>
              <a:rPr sz="1588" spc="-4" dirty="0">
                <a:latin typeface="Arial"/>
                <a:cs typeface="Arial"/>
              </a:rPr>
              <a:t>John having account </a:t>
            </a:r>
            <a:r>
              <a:rPr sz="1588" dirty="0">
                <a:latin typeface="Arial"/>
                <a:cs typeface="Arial"/>
              </a:rPr>
              <a:t>no.</a:t>
            </a:r>
            <a:r>
              <a:rPr sz="1588" spc="-9" dirty="0">
                <a:latin typeface="Arial"/>
                <a:cs typeface="Arial"/>
              </a:rPr>
              <a:t> </a:t>
            </a:r>
            <a:r>
              <a:rPr sz="1588" spc="-4" dirty="0">
                <a:latin typeface="Arial"/>
                <a:cs typeface="Arial"/>
              </a:rPr>
              <a:t>S15751</a:t>
            </a:r>
            <a:endParaRPr sz="1588">
              <a:latin typeface="Arial"/>
              <a:cs typeface="Arial"/>
            </a:endParaRPr>
          </a:p>
          <a:p>
            <a:pPr>
              <a:spcBef>
                <a:spcPts val="44"/>
              </a:spcBef>
            </a:pPr>
            <a:endParaRPr sz="2206">
              <a:latin typeface="Arial"/>
              <a:cs typeface="Arial"/>
            </a:endParaRPr>
          </a:p>
          <a:p>
            <a:pPr marL="11206" marR="4483" indent="54912">
              <a:spcBef>
                <a:spcPts val="4"/>
              </a:spcBef>
              <a:tabLst>
                <a:tab pos="1333011" algn="l"/>
              </a:tabLst>
            </a:pPr>
            <a:r>
              <a:rPr sz="1588" spc="-4" dirty="0">
                <a:latin typeface="Arial"/>
                <a:cs typeface="Arial"/>
              </a:rPr>
              <a:t>The set</a:t>
            </a:r>
            <a:r>
              <a:rPr sz="1588" spc="22" dirty="0">
                <a:latin typeface="Arial"/>
                <a:cs typeface="Arial"/>
              </a:rPr>
              <a:t> </a:t>
            </a:r>
            <a:r>
              <a:rPr sz="1588" spc="-4" dirty="0">
                <a:latin typeface="Arial"/>
                <a:cs typeface="Arial"/>
              </a:rPr>
              <a:t>of</a:t>
            </a:r>
            <a:r>
              <a:rPr sz="1588" spc="9" dirty="0">
                <a:latin typeface="Arial"/>
                <a:cs typeface="Arial"/>
              </a:rPr>
              <a:t> </a:t>
            </a:r>
            <a:r>
              <a:rPr sz="1588" spc="-4" dirty="0">
                <a:latin typeface="Arial"/>
                <a:cs typeface="Arial"/>
              </a:rPr>
              <a:t>all	entities </a:t>
            </a:r>
            <a:r>
              <a:rPr sz="1588" dirty="0">
                <a:latin typeface="Arial"/>
                <a:cs typeface="Arial"/>
              </a:rPr>
              <a:t>of </a:t>
            </a:r>
            <a:r>
              <a:rPr sz="1588" spc="-4" dirty="0">
                <a:latin typeface="Arial"/>
                <a:cs typeface="Arial"/>
              </a:rPr>
              <a:t>same </a:t>
            </a:r>
            <a:r>
              <a:rPr sz="1588" dirty="0">
                <a:latin typeface="Arial"/>
                <a:cs typeface="Arial"/>
              </a:rPr>
              <a:t>type &amp; the set of </a:t>
            </a:r>
            <a:r>
              <a:rPr sz="1588" spc="-4" dirty="0">
                <a:latin typeface="Arial"/>
                <a:cs typeface="Arial"/>
              </a:rPr>
              <a:t>all relationship </a:t>
            </a:r>
            <a:r>
              <a:rPr sz="1588" dirty="0">
                <a:latin typeface="Arial"/>
                <a:cs typeface="Arial"/>
              </a:rPr>
              <a:t>of the </a:t>
            </a:r>
            <a:r>
              <a:rPr sz="1588" spc="-4" dirty="0">
                <a:latin typeface="Arial"/>
                <a:cs typeface="Arial"/>
              </a:rPr>
              <a:t>same </a:t>
            </a:r>
            <a:r>
              <a:rPr sz="1588" dirty="0">
                <a:latin typeface="Arial"/>
                <a:cs typeface="Arial"/>
              </a:rPr>
              <a:t>type  </a:t>
            </a:r>
            <a:r>
              <a:rPr sz="1588" spc="-4" dirty="0">
                <a:latin typeface="Arial"/>
                <a:cs typeface="Arial"/>
              </a:rPr>
              <a:t>are </a:t>
            </a:r>
            <a:r>
              <a:rPr sz="1588" dirty="0">
                <a:latin typeface="Arial"/>
                <a:cs typeface="Arial"/>
              </a:rPr>
              <a:t>termed </a:t>
            </a:r>
            <a:r>
              <a:rPr sz="1588" spc="-4" dirty="0">
                <a:latin typeface="Arial"/>
                <a:cs typeface="Arial"/>
              </a:rPr>
              <a:t>as an </a:t>
            </a:r>
            <a:r>
              <a:rPr sz="1588" b="1" dirty="0">
                <a:solidFill>
                  <a:srgbClr val="FF33CC"/>
                </a:solidFill>
                <a:latin typeface="Arial"/>
                <a:cs typeface="Arial"/>
              </a:rPr>
              <a:t>entity </a:t>
            </a:r>
            <a:r>
              <a:rPr sz="1588" b="1" spc="-4" dirty="0">
                <a:solidFill>
                  <a:srgbClr val="FF33CC"/>
                </a:solidFill>
                <a:latin typeface="Arial"/>
                <a:cs typeface="Arial"/>
              </a:rPr>
              <a:t>set </a:t>
            </a:r>
            <a:r>
              <a:rPr sz="1588" dirty="0">
                <a:latin typeface="Arial"/>
                <a:cs typeface="Arial"/>
              </a:rPr>
              <a:t>&amp; </a:t>
            </a:r>
            <a:r>
              <a:rPr sz="1588" b="1" dirty="0">
                <a:solidFill>
                  <a:srgbClr val="FF33CC"/>
                </a:solidFill>
                <a:latin typeface="Arial"/>
                <a:cs typeface="Arial"/>
              </a:rPr>
              <a:t>relationship </a:t>
            </a:r>
            <a:r>
              <a:rPr sz="1588" b="1" spc="-4" dirty="0">
                <a:solidFill>
                  <a:srgbClr val="FF33CC"/>
                </a:solidFill>
                <a:latin typeface="Arial"/>
                <a:cs typeface="Arial"/>
              </a:rPr>
              <a:t>set </a:t>
            </a:r>
            <a:r>
              <a:rPr sz="1588" spc="-4" dirty="0">
                <a:latin typeface="Arial"/>
                <a:cs typeface="Arial"/>
              </a:rPr>
              <a:t>respectively</a:t>
            </a:r>
            <a:r>
              <a:rPr sz="1588" spc="9" dirty="0">
                <a:latin typeface="Arial"/>
                <a:cs typeface="Arial"/>
              </a:rPr>
              <a:t> </a:t>
            </a:r>
            <a:r>
              <a:rPr sz="1588" dirty="0">
                <a:latin typeface="Arial"/>
                <a:cs typeface="Arial"/>
              </a:rPr>
              <a:t>.</a:t>
            </a:r>
            <a:endParaRPr sz="1588">
              <a:latin typeface="Arial"/>
              <a:cs typeface="Arial"/>
            </a:endParaRPr>
          </a:p>
          <a:p>
            <a:pPr marL="67239" marR="2697400" indent="-56593">
              <a:lnSpc>
                <a:spcPct val="200000"/>
              </a:lnSpc>
              <a:spcBef>
                <a:spcPts val="9"/>
              </a:spcBef>
            </a:pPr>
            <a:r>
              <a:rPr sz="1588" b="1" spc="-4" dirty="0">
                <a:latin typeface="Arial"/>
                <a:cs typeface="Arial"/>
              </a:rPr>
              <a:t>E-R </a:t>
            </a:r>
            <a:r>
              <a:rPr sz="1588" b="1" dirty="0">
                <a:latin typeface="Arial"/>
                <a:cs typeface="Arial"/>
              </a:rPr>
              <a:t>diagram consist of following</a:t>
            </a:r>
            <a:r>
              <a:rPr sz="1588" b="1" spc="-35" dirty="0">
                <a:latin typeface="Arial"/>
                <a:cs typeface="Arial"/>
              </a:rPr>
              <a:t> </a:t>
            </a:r>
            <a:r>
              <a:rPr sz="1588" b="1" spc="-4" dirty="0">
                <a:latin typeface="Arial"/>
                <a:cs typeface="Arial"/>
              </a:rPr>
              <a:t>components</a:t>
            </a:r>
            <a:r>
              <a:rPr sz="1588" spc="-4" dirty="0">
                <a:latin typeface="Arial"/>
                <a:cs typeface="Arial"/>
              </a:rPr>
              <a:t>: </a:t>
            </a:r>
            <a:r>
              <a:rPr sz="1588" spc="-4" dirty="0">
                <a:solidFill>
                  <a:srgbClr val="FF33CC"/>
                </a:solidFill>
                <a:latin typeface="Arial"/>
                <a:cs typeface="Arial"/>
              </a:rPr>
              <a:t> </a:t>
            </a:r>
            <a:r>
              <a:rPr sz="1588" b="1" spc="-4" dirty="0">
                <a:solidFill>
                  <a:srgbClr val="FF33CC"/>
                </a:solidFill>
                <a:latin typeface="Arial"/>
                <a:cs typeface="Arial"/>
              </a:rPr>
              <a:t>Rectangles: </a:t>
            </a:r>
            <a:r>
              <a:rPr sz="1588" spc="-4" dirty="0">
                <a:latin typeface="Arial"/>
                <a:cs typeface="Arial"/>
              </a:rPr>
              <a:t>which represent </a:t>
            </a:r>
            <a:r>
              <a:rPr sz="1588" dirty="0">
                <a:latin typeface="Arial"/>
                <a:cs typeface="Arial"/>
              </a:rPr>
              <a:t>entity set.</a:t>
            </a:r>
            <a:endParaRPr sz="1588">
              <a:latin typeface="Arial"/>
              <a:cs typeface="Arial"/>
            </a:endParaRPr>
          </a:p>
          <a:p>
            <a:pPr marL="67239"/>
            <a:r>
              <a:rPr sz="1588" b="1" dirty="0">
                <a:solidFill>
                  <a:srgbClr val="FF33CC"/>
                </a:solidFill>
                <a:latin typeface="Arial"/>
                <a:cs typeface="Arial"/>
              </a:rPr>
              <a:t>Ellipses: </a:t>
            </a:r>
            <a:r>
              <a:rPr sz="1588" spc="-4" dirty="0">
                <a:latin typeface="Arial"/>
                <a:cs typeface="Arial"/>
              </a:rPr>
              <a:t>which represent</a:t>
            </a:r>
            <a:r>
              <a:rPr sz="1588" dirty="0">
                <a:latin typeface="Arial"/>
                <a:cs typeface="Arial"/>
              </a:rPr>
              <a:t> attributes</a:t>
            </a:r>
            <a:endParaRPr sz="1588">
              <a:latin typeface="Arial"/>
              <a:cs typeface="Arial"/>
            </a:endParaRPr>
          </a:p>
          <a:p>
            <a:pPr marL="67239">
              <a:spcBef>
                <a:spcPts val="9"/>
              </a:spcBef>
            </a:pPr>
            <a:r>
              <a:rPr sz="1588" b="1" dirty="0">
                <a:solidFill>
                  <a:srgbClr val="FF33CC"/>
                </a:solidFill>
                <a:latin typeface="Arial"/>
                <a:cs typeface="Arial"/>
              </a:rPr>
              <a:t>Diamonds: </a:t>
            </a:r>
            <a:r>
              <a:rPr sz="1588" spc="-4" dirty="0">
                <a:latin typeface="Arial"/>
                <a:cs typeface="Arial"/>
              </a:rPr>
              <a:t>which represent relationship among </a:t>
            </a:r>
            <a:r>
              <a:rPr sz="1588" dirty="0">
                <a:latin typeface="Arial"/>
                <a:cs typeface="Arial"/>
              </a:rPr>
              <a:t>entity</a:t>
            </a:r>
            <a:r>
              <a:rPr sz="1588" spc="35" dirty="0">
                <a:latin typeface="Arial"/>
                <a:cs typeface="Arial"/>
              </a:rPr>
              <a:t> </a:t>
            </a:r>
            <a:r>
              <a:rPr sz="1588" dirty="0">
                <a:latin typeface="Arial"/>
                <a:cs typeface="Arial"/>
              </a:rPr>
              <a:t>sets</a:t>
            </a:r>
            <a:endParaRPr sz="1588">
              <a:latin typeface="Arial"/>
              <a:cs typeface="Arial"/>
            </a:endParaRPr>
          </a:p>
          <a:p>
            <a:pPr marL="67239"/>
            <a:r>
              <a:rPr sz="1588" b="1" dirty="0">
                <a:solidFill>
                  <a:srgbClr val="FF33CC"/>
                </a:solidFill>
                <a:latin typeface="Arial"/>
                <a:cs typeface="Arial"/>
              </a:rPr>
              <a:t>Lines </a:t>
            </a:r>
            <a:r>
              <a:rPr sz="1588" spc="-4" dirty="0">
                <a:solidFill>
                  <a:srgbClr val="FF33CC"/>
                </a:solidFill>
                <a:latin typeface="Arial"/>
                <a:cs typeface="Arial"/>
              </a:rPr>
              <a:t>:</a:t>
            </a:r>
            <a:r>
              <a:rPr sz="1588" spc="-4" dirty="0">
                <a:latin typeface="Arial"/>
                <a:cs typeface="Arial"/>
              </a:rPr>
              <a:t>which link </a:t>
            </a:r>
            <a:r>
              <a:rPr sz="1588" dirty="0">
                <a:latin typeface="Arial"/>
                <a:cs typeface="Arial"/>
              </a:rPr>
              <a:t>attributes to entity sets </a:t>
            </a:r>
            <a:r>
              <a:rPr sz="1588" spc="-4" dirty="0">
                <a:latin typeface="Arial"/>
                <a:cs typeface="Arial"/>
              </a:rPr>
              <a:t>and </a:t>
            </a:r>
            <a:r>
              <a:rPr sz="1588" dirty="0">
                <a:latin typeface="Arial"/>
                <a:cs typeface="Arial"/>
              </a:rPr>
              <a:t>entity sets to</a:t>
            </a:r>
            <a:r>
              <a:rPr sz="1588" spc="18" dirty="0">
                <a:latin typeface="Arial"/>
                <a:cs typeface="Arial"/>
              </a:rPr>
              <a:t> </a:t>
            </a:r>
            <a:r>
              <a:rPr sz="1588" spc="-4" dirty="0">
                <a:latin typeface="Arial"/>
                <a:cs typeface="Arial"/>
              </a:rPr>
              <a:t>relationships.</a:t>
            </a:r>
            <a:endParaRPr sz="1588">
              <a:latin typeface="Arial"/>
              <a:cs typeface="Arial"/>
            </a:endParaRPr>
          </a:p>
        </p:txBody>
      </p:sp>
      <p:sp>
        <p:nvSpPr>
          <p:cNvPr id="3" name="object 3"/>
          <p:cNvSpPr/>
          <p:nvPr/>
        </p:nvSpPr>
        <p:spPr>
          <a:xfrm>
            <a:off x="2723612" y="4370294"/>
            <a:ext cx="5722934" cy="1534309"/>
          </a:xfrm>
          <a:prstGeom prst="rect">
            <a:avLst/>
          </a:prstGeom>
          <a:blipFill>
            <a:blip r:embed="rId2" cstate="print"/>
            <a:stretch>
              <a:fillRect/>
            </a:stretch>
          </a:blipFill>
        </p:spPr>
        <p:txBody>
          <a:bodyPr wrap="square" lIns="0" tIns="0" rIns="0" bIns="0" rtlCol="0"/>
          <a:lstStyle/>
          <a:p>
            <a:endParaRPr sz="1588"/>
          </a:p>
        </p:txBody>
      </p:sp>
      <p:sp>
        <p:nvSpPr>
          <p:cNvPr id="4" name="object 4"/>
          <p:cNvSpPr txBox="1"/>
          <p:nvPr/>
        </p:nvSpPr>
        <p:spPr>
          <a:xfrm>
            <a:off x="3745005" y="5851712"/>
            <a:ext cx="2315135" cy="255678"/>
          </a:xfrm>
          <a:prstGeom prst="rect">
            <a:avLst/>
          </a:prstGeom>
        </p:spPr>
        <p:txBody>
          <a:bodyPr vert="horz" wrap="square" lIns="0" tIns="11206" rIns="0" bIns="0" rtlCol="0">
            <a:spAutoFit/>
          </a:bodyPr>
          <a:lstStyle/>
          <a:p>
            <a:pPr marL="11206">
              <a:spcBef>
                <a:spcPts val="88"/>
              </a:spcBef>
            </a:pPr>
            <a:r>
              <a:rPr sz="1588" i="1" spc="-119" dirty="0">
                <a:latin typeface="Arial"/>
                <a:cs typeface="Arial"/>
              </a:rPr>
              <a:t>E-R </a:t>
            </a:r>
            <a:r>
              <a:rPr sz="1588" i="1" spc="-180" dirty="0">
                <a:latin typeface="Arial"/>
                <a:cs typeface="Arial"/>
              </a:rPr>
              <a:t>diagram </a:t>
            </a:r>
            <a:r>
              <a:rPr sz="1588" i="1" spc="-93" dirty="0">
                <a:latin typeface="Arial"/>
                <a:cs typeface="Arial"/>
              </a:rPr>
              <a:t>for </a:t>
            </a:r>
            <a:r>
              <a:rPr sz="1588" i="1" spc="-159" dirty="0">
                <a:latin typeface="Arial"/>
                <a:cs typeface="Arial"/>
              </a:rPr>
              <a:t>banking</a:t>
            </a:r>
            <a:r>
              <a:rPr sz="1588" i="1" spc="-216" dirty="0">
                <a:latin typeface="Arial"/>
                <a:cs typeface="Arial"/>
              </a:rPr>
              <a:t> </a:t>
            </a:r>
            <a:r>
              <a:rPr sz="1588" i="1" spc="-229" dirty="0">
                <a:latin typeface="Arial"/>
                <a:cs typeface="Arial"/>
              </a:rPr>
              <a:t>system</a:t>
            </a:r>
            <a:endParaRPr sz="1588">
              <a:latin typeface="Arial"/>
              <a:cs typeface="Arial"/>
            </a:endParaRPr>
          </a:p>
        </p:txBody>
      </p:sp>
      <p:sp>
        <p:nvSpPr>
          <p:cNvPr id="5" name="object 5"/>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3887941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36476" y="1025562"/>
            <a:ext cx="5190004" cy="1858552"/>
          </a:xfrm>
          <a:prstGeom prst="rect">
            <a:avLst/>
          </a:prstGeom>
        </p:spPr>
        <p:txBody>
          <a:bodyPr vert="horz" wrap="square" lIns="0" tIns="11206" rIns="0" bIns="0" rtlCol="0">
            <a:spAutoFit/>
          </a:bodyPr>
          <a:lstStyle/>
          <a:p>
            <a:pPr marL="11206">
              <a:spcBef>
                <a:spcPts val="88"/>
              </a:spcBef>
            </a:pPr>
            <a:r>
              <a:rPr sz="1588" b="1" spc="-4" dirty="0">
                <a:solidFill>
                  <a:srgbClr val="FF33CC"/>
                </a:solidFill>
                <a:latin typeface="Arial"/>
                <a:cs typeface="Arial"/>
              </a:rPr>
              <a:t>Advantages:-</a:t>
            </a:r>
            <a:endParaRPr sz="1588">
              <a:latin typeface="Arial"/>
              <a:cs typeface="Arial"/>
            </a:endParaRPr>
          </a:p>
          <a:p>
            <a:pPr marL="11206" marR="4483">
              <a:lnSpc>
                <a:spcPct val="165000"/>
              </a:lnSpc>
            </a:pPr>
            <a:r>
              <a:rPr sz="1588" b="1" dirty="0">
                <a:latin typeface="Arial"/>
                <a:cs typeface="Arial"/>
              </a:rPr>
              <a:t>It is </a:t>
            </a:r>
            <a:r>
              <a:rPr sz="1588" b="1" spc="-4" dirty="0">
                <a:latin typeface="Arial"/>
                <a:cs typeface="Arial"/>
              </a:rPr>
              <a:t>easy </a:t>
            </a:r>
            <a:r>
              <a:rPr sz="1588" b="1" dirty="0">
                <a:latin typeface="Arial"/>
                <a:cs typeface="Arial"/>
              </a:rPr>
              <a:t>to develop relational model using E-R</a:t>
            </a:r>
            <a:r>
              <a:rPr sz="1588" b="1" spc="-66" dirty="0">
                <a:latin typeface="Arial"/>
                <a:cs typeface="Arial"/>
              </a:rPr>
              <a:t> </a:t>
            </a:r>
            <a:r>
              <a:rPr sz="1588" b="1" dirty="0">
                <a:latin typeface="Arial"/>
                <a:cs typeface="Arial"/>
              </a:rPr>
              <a:t>model  It specify mapping</a:t>
            </a:r>
            <a:r>
              <a:rPr sz="1588" b="1" spc="-9" dirty="0">
                <a:latin typeface="Arial"/>
                <a:cs typeface="Arial"/>
              </a:rPr>
              <a:t> </a:t>
            </a:r>
            <a:r>
              <a:rPr sz="1588" b="1" dirty="0">
                <a:latin typeface="Arial"/>
                <a:cs typeface="Arial"/>
              </a:rPr>
              <a:t>cardinalities</a:t>
            </a:r>
            <a:endParaRPr sz="1588">
              <a:latin typeface="Arial"/>
              <a:cs typeface="Arial"/>
            </a:endParaRPr>
          </a:p>
          <a:p>
            <a:pPr marL="11206">
              <a:spcBef>
                <a:spcPts val="1240"/>
              </a:spcBef>
            </a:pPr>
            <a:r>
              <a:rPr sz="1588" b="1" dirty="0">
                <a:latin typeface="Arial"/>
                <a:cs typeface="Arial"/>
              </a:rPr>
              <a:t>It specifies </a:t>
            </a:r>
            <a:r>
              <a:rPr sz="1588" b="1" spc="-4" dirty="0">
                <a:latin typeface="Arial"/>
                <a:cs typeface="Arial"/>
              </a:rPr>
              <a:t>key </a:t>
            </a:r>
            <a:r>
              <a:rPr sz="1588" b="1" dirty="0">
                <a:latin typeface="Arial"/>
                <a:cs typeface="Arial"/>
              </a:rPr>
              <a:t>like </a:t>
            </a:r>
            <a:r>
              <a:rPr sz="1588" b="1" spc="-4" dirty="0">
                <a:latin typeface="Arial"/>
                <a:cs typeface="Arial"/>
              </a:rPr>
              <a:t>primary</a:t>
            </a:r>
            <a:r>
              <a:rPr sz="1588" b="1" spc="-31" dirty="0">
                <a:latin typeface="Arial"/>
                <a:cs typeface="Arial"/>
              </a:rPr>
              <a:t> </a:t>
            </a:r>
            <a:r>
              <a:rPr sz="1588" b="1" spc="-4" dirty="0">
                <a:latin typeface="Arial"/>
                <a:cs typeface="Arial"/>
              </a:rPr>
              <a:t>key</a:t>
            </a:r>
            <a:endParaRPr sz="1588">
              <a:latin typeface="Arial"/>
              <a:cs typeface="Arial"/>
            </a:endParaRPr>
          </a:p>
          <a:p>
            <a:pPr marL="11206">
              <a:spcBef>
                <a:spcPts val="1235"/>
              </a:spcBef>
            </a:pPr>
            <a:r>
              <a:rPr sz="1588" b="1" dirty="0">
                <a:latin typeface="Arial"/>
                <a:cs typeface="Arial"/>
              </a:rPr>
              <a:t>We can specify generalization </a:t>
            </a:r>
            <a:r>
              <a:rPr sz="1588" b="1" spc="-4" dirty="0">
                <a:latin typeface="Arial"/>
                <a:cs typeface="Arial"/>
              </a:rPr>
              <a:t>&amp;</a:t>
            </a:r>
            <a:r>
              <a:rPr sz="1588" b="1" spc="-26" dirty="0">
                <a:latin typeface="Arial"/>
                <a:cs typeface="Arial"/>
              </a:rPr>
              <a:t> </a:t>
            </a:r>
            <a:r>
              <a:rPr sz="1588" b="1" dirty="0">
                <a:latin typeface="Arial"/>
                <a:cs typeface="Arial"/>
              </a:rPr>
              <a:t>specialization</a:t>
            </a:r>
            <a:endParaRPr sz="1588">
              <a:latin typeface="Arial"/>
              <a:cs typeface="Arial"/>
            </a:endParaRPr>
          </a:p>
        </p:txBody>
      </p:sp>
      <p:sp>
        <p:nvSpPr>
          <p:cNvPr id="3" name="object 3"/>
          <p:cNvSpPr txBox="1"/>
          <p:nvPr/>
        </p:nvSpPr>
        <p:spPr>
          <a:xfrm>
            <a:off x="2736476" y="3819854"/>
            <a:ext cx="4169709" cy="653927"/>
          </a:xfrm>
          <a:prstGeom prst="rect">
            <a:avLst/>
          </a:prstGeom>
        </p:spPr>
        <p:txBody>
          <a:bodyPr vert="horz" wrap="square" lIns="0" tIns="11206" rIns="0" bIns="0" rtlCol="0">
            <a:spAutoFit/>
          </a:bodyPr>
          <a:lstStyle/>
          <a:p>
            <a:pPr marL="11206">
              <a:spcBef>
                <a:spcPts val="88"/>
              </a:spcBef>
            </a:pPr>
            <a:r>
              <a:rPr sz="1588" b="1" spc="-4" dirty="0">
                <a:solidFill>
                  <a:srgbClr val="FF33CC"/>
                </a:solidFill>
                <a:latin typeface="Arial"/>
                <a:cs typeface="Arial"/>
              </a:rPr>
              <a:t>Disadvantages:-</a:t>
            </a:r>
            <a:endParaRPr sz="1588">
              <a:latin typeface="Arial"/>
              <a:cs typeface="Arial"/>
            </a:endParaRPr>
          </a:p>
          <a:p>
            <a:pPr marL="11206">
              <a:spcBef>
                <a:spcPts val="1235"/>
              </a:spcBef>
            </a:pPr>
            <a:r>
              <a:rPr sz="1588" b="1" dirty="0">
                <a:latin typeface="Arial"/>
                <a:cs typeface="Arial"/>
              </a:rPr>
              <a:t>It is used for design not for</a:t>
            </a:r>
            <a:r>
              <a:rPr sz="1588" b="1" spc="-88" dirty="0">
                <a:latin typeface="Arial"/>
                <a:cs typeface="Arial"/>
              </a:rPr>
              <a:t> </a:t>
            </a:r>
            <a:r>
              <a:rPr sz="1588" b="1" dirty="0">
                <a:latin typeface="Arial"/>
                <a:cs typeface="Arial"/>
              </a:rPr>
              <a:t>implementation</a:t>
            </a:r>
            <a:endParaRPr sz="1588">
              <a:latin typeface="Arial"/>
              <a:cs typeface="Arial"/>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8146561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3711" y="900973"/>
            <a:ext cx="1876985" cy="282928"/>
          </a:xfrm>
          <a:prstGeom prst="rect">
            <a:avLst/>
          </a:prstGeom>
        </p:spPr>
        <p:txBody>
          <a:bodyPr vert="horz" wrap="square" lIns="0" tIns="11206" rIns="0" bIns="0" rtlCol="0" anchor="ctr">
            <a:spAutoFit/>
          </a:bodyPr>
          <a:lstStyle/>
          <a:p>
            <a:pPr marL="11206">
              <a:lnSpc>
                <a:spcPct val="100000"/>
              </a:lnSpc>
              <a:spcBef>
                <a:spcPts val="88"/>
              </a:spcBef>
            </a:pPr>
            <a:r>
              <a:rPr sz="1765" b="1" dirty="0">
                <a:solidFill>
                  <a:srgbClr val="FF0000"/>
                </a:solidFill>
                <a:latin typeface="Arial"/>
                <a:cs typeface="Arial"/>
              </a:rPr>
              <a:t>Relational</a:t>
            </a:r>
            <a:r>
              <a:rPr sz="1765" b="1" spc="-40" dirty="0">
                <a:solidFill>
                  <a:srgbClr val="FF0000"/>
                </a:solidFill>
                <a:latin typeface="Arial"/>
                <a:cs typeface="Arial"/>
              </a:rPr>
              <a:t> </a:t>
            </a:r>
            <a:r>
              <a:rPr sz="1765" b="1" spc="-9" dirty="0">
                <a:solidFill>
                  <a:srgbClr val="FF0000"/>
                </a:solidFill>
                <a:latin typeface="Arial"/>
                <a:cs typeface="Arial"/>
              </a:rPr>
              <a:t>Model-</a:t>
            </a:r>
            <a:endParaRPr sz="1765">
              <a:latin typeface="Arial"/>
              <a:cs typeface="Arial"/>
            </a:endParaRPr>
          </a:p>
        </p:txBody>
      </p:sp>
      <p:sp>
        <p:nvSpPr>
          <p:cNvPr id="3" name="object 3"/>
          <p:cNvSpPr txBox="1"/>
          <p:nvPr/>
        </p:nvSpPr>
        <p:spPr>
          <a:xfrm>
            <a:off x="2803711" y="1289125"/>
            <a:ext cx="6442822" cy="4443939"/>
          </a:xfrm>
          <a:prstGeom prst="rect">
            <a:avLst/>
          </a:prstGeom>
        </p:spPr>
        <p:txBody>
          <a:bodyPr vert="horz" wrap="square" lIns="0" tIns="11206" rIns="0" bIns="0" rtlCol="0">
            <a:spAutoFit/>
          </a:bodyPr>
          <a:lstStyle/>
          <a:p>
            <a:pPr marL="313781" marR="93574" indent="-302575">
              <a:spcBef>
                <a:spcPts val="88"/>
              </a:spcBef>
              <a:tabLst>
                <a:tab pos="1143061" algn="l"/>
              </a:tabLst>
            </a:pPr>
            <a:r>
              <a:rPr sz="1588" dirty="0">
                <a:latin typeface="Arial"/>
                <a:cs typeface="Arial"/>
              </a:rPr>
              <a:t>It</a:t>
            </a:r>
            <a:r>
              <a:rPr sz="1588" spc="35" dirty="0">
                <a:latin typeface="Arial"/>
                <a:cs typeface="Arial"/>
              </a:rPr>
              <a:t> </a:t>
            </a:r>
            <a:r>
              <a:rPr sz="1588" spc="-4" dirty="0">
                <a:latin typeface="Arial"/>
                <a:cs typeface="Arial"/>
              </a:rPr>
              <a:t>represent	data and relationships among those data by a collection </a:t>
            </a:r>
            <a:r>
              <a:rPr sz="1588" dirty="0">
                <a:latin typeface="Arial"/>
                <a:cs typeface="Arial"/>
              </a:rPr>
              <a:t>of  tables.</a:t>
            </a:r>
            <a:endParaRPr sz="1588">
              <a:latin typeface="Arial"/>
              <a:cs typeface="Arial"/>
            </a:endParaRPr>
          </a:p>
          <a:p>
            <a:pPr marL="67239">
              <a:spcBef>
                <a:spcPts val="962"/>
              </a:spcBef>
              <a:tabLst>
                <a:tab pos="639330" algn="l"/>
              </a:tabLst>
            </a:pPr>
            <a:r>
              <a:rPr sz="1588" spc="-4" dirty="0">
                <a:latin typeface="Arial"/>
                <a:cs typeface="Arial"/>
              </a:rPr>
              <a:t>Each	table has multiple columns and each column has a unique</a:t>
            </a:r>
            <a:r>
              <a:rPr sz="1588" spc="124" dirty="0">
                <a:latin typeface="Arial"/>
                <a:cs typeface="Arial"/>
              </a:rPr>
              <a:t> </a:t>
            </a:r>
            <a:r>
              <a:rPr sz="1588" spc="-4" dirty="0">
                <a:latin typeface="Arial"/>
                <a:cs typeface="Arial"/>
              </a:rPr>
              <a:t>name.</a:t>
            </a:r>
            <a:endParaRPr sz="1588">
              <a:latin typeface="Arial"/>
              <a:cs typeface="Arial"/>
            </a:endParaRPr>
          </a:p>
          <a:p>
            <a:pPr marL="313781" marR="150167" indent="-302575">
              <a:spcBef>
                <a:spcPts val="966"/>
              </a:spcBef>
            </a:pPr>
            <a:r>
              <a:rPr sz="1588" spc="-4" dirty="0">
                <a:latin typeface="Arial"/>
                <a:cs typeface="Arial"/>
              </a:rPr>
              <a:t>Each table contains records </a:t>
            </a:r>
            <a:r>
              <a:rPr sz="1588" dirty="0">
                <a:latin typeface="Arial"/>
                <a:cs typeface="Arial"/>
              </a:rPr>
              <a:t>of </a:t>
            </a:r>
            <a:r>
              <a:rPr sz="1588" spc="-4" dirty="0">
                <a:latin typeface="Arial"/>
                <a:cs typeface="Arial"/>
              </a:rPr>
              <a:t>a particular </a:t>
            </a:r>
            <a:r>
              <a:rPr sz="1588" dirty="0">
                <a:latin typeface="Arial"/>
                <a:cs typeface="Arial"/>
              </a:rPr>
              <a:t>type. </a:t>
            </a:r>
            <a:r>
              <a:rPr sz="1588" spc="-4" dirty="0">
                <a:latin typeface="Arial"/>
                <a:cs typeface="Arial"/>
              </a:rPr>
              <a:t>Each </a:t>
            </a:r>
            <a:r>
              <a:rPr sz="1588" spc="-9" dirty="0">
                <a:latin typeface="Arial"/>
                <a:cs typeface="Arial"/>
              </a:rPr>
              <a:t>record </a:t>
            </a:r>
            <a:r>
              <a:rPr sz="1588" spc="-4" dirty="0">
                <a:latin typeface="Arial"/>
                <a:cs typeface="Arial"/>
              </a:rPr>
              <a:t>defines a  fixed number </a:t>
            </a:r>
            <a:r>
              <a:rPr sz="1588" dirty="0">
                <a:latin typeface="Arial"/>
                <a:cs typeface="Arial"/>
              </a:rPr>
              <a:t>of </a:t>
            </a:r>
            <a:r>
              <a:rPr sz="1588" spc="-4" dirty="0">
                <a:latin typeface="Arial"/>
                <a:cs typeface="Arial"/>
              </a:rPr>
              <a:t>fields or</a:t>
            </a:r>
            <a:r>
              <a:rPr sz="1588" spc="9" dirty="0">
                <a:latin typeface="Arial"/>
                <a:cs typeface="Arial"/>
              </a:rPr>
              <a:t> </a:t>
            </a:r>
            <a:r>
              <a:rPr sz="1588" dirty="0">
                <a:latin typeface="Arial"/>
                <a:cs typeface="Arial"/>
              </a:rPr>
              <a:t>attributes.</a:t>
            </a:r>
            <a:endParaRPr sz="1588">
              <a:latin typeface="Arial"/>
              <a:cs typeface="Arial"/>
            </a:endParaRPr>
          </a:p>
          <a:p>
            <a:pPr marL="11206" marR="3252681">
              <a:lnSpc>
                <a:spcPct val="150600"/>
              </a:lnSpc>
              <a:tabLst>
                <a:tab pos="1625500" algn="l"/>
              </a:tabLst>
            </a:pPr>
            <a:r>
              <a:rPr sz="1588" dirty="0">
                <a:latin typeface="Arial"/>
                <a:cs typeface="Arial"/>
              </a:rPr>
              <a:t>A</a:t>
            </a:r>
            <a:r>
              <a:rPr sz="1588" spc="13" dirty="0">
                <a:latin typeface="Arial"/>
                <a:cs typeface="Arial"/>
              </a:rPr>
              <a:t> </a:t>
            </a:r>
            <a:r>
              <a:rPr sz="1588" spc="-4" dirty="0">
                <a:latin typeface="Arial"/>
                <a:cs typeface="Arial"/>
              </a:rPr>
              <a:t>relation</a:t>
            </a:r>
            <a:r>
              <a:rPr sz="1588" spc="13" dirty="0">
                <a:latin typeface="Arial"/>
                <a:cs typeface="Arial"/>
              </a:rPr>
              <a:t> </a:t>
            </a:r>
            <a:r>
              <a:rPr sz="1588" spc="-4" dirty="0">
                <a:latin typeface="Arial"/>
                <a:cs typeface="Arial"/>
              </a:rPr>
              <a:t>having	following rules----  Relation is a two-dimensional</a:t>
            </a:r>
            <a:r>
              <a:rPr sz="1588" spc="57" dirty="0">
                <a:latin typeface="Arial"/>
                <a:cs typeface="Arial"/>
              </a:rPr>
              <a:t> </a:t>
            </a:r>
            <a:r>
              <a:rPr sz="1588" spc="-4" dirty="0">
                <a:latin typeface="Arial"/>
                <a:cs typeface="Arial"/>
              </a:rPr>
              <a:t>table.</a:t>
            </a:r>
            <a:endParaRPr sz="1588">
              <a:latin typeface="Arial"/>
              <a:cs typeface="Arial"/>
            </a:endParaRPr>
          </a:p>
          <a:p>
            <a:pPr marL="313781" indent="-302575">
              <a:spcBef>
                <a:spcPts val="962"/>
              </a:spcBef>
              <a:buAutoNum type="arabicPeriod" startAt="2"/>
              <a:tabLst>
                <a:tab pos="313221" algn="l"/>
                <a:tab pos="313781" algn="l"/>
                <a:tab pos="1053409" algn="l"/>
              </a:tabLst>
            </a:pPr>
            <a:r>
              <a:rPr sz="1588" dirty="0">
                <a:latin typeface="Arial"/>
                <a:cs typeface="Arial"/>
              </a:rPr>
              <a:t>A</a:t>
            </a:r>
            <a:r>
              <a:rPr sz="1588" spc="4" dirty="0">
                <a:latin typeface="Arial"/>
                <a:cs typeface="Arial"/>
              </a:rPr>
              <a:t> </a:t>
            </a:r>
            <a:r>
              <a:rPr sz="1588" spc="-4" dirty="0">
                <a:latin typeface="Arial"/>
                <a:cs typeface="Arial"/>
              </a:rPr>
              <a:t>tuple	is a row in </a:t>
            </a:r>
            <a:r>
              <a:rPr sz="1588" dirty="0">
                <a:latin typeface="Arial"/>
                <a:cs typeface="Arial"/>
              </a:rPr>
              <a:t>the</a:t>
            </a:r>
            <a:r>
              <a:rPr sz="1588" spc="18" dirty="0">
                <a:latin typeface="Arial"/>
                <a:cs typeface="Arial"/>
              </a:rPr>
              <a:t> </a:t>
            </a:r>
            <a:r>
              <a:rPr sz="1588" spc="-4" dirty="0">
                <a:latin typeface="Arial"/>
                <a:cs typeface="Arial"/>
              </a:rPr>
              <a:t>table.</a:t>
            </a:r>
            <a:endParaRPr sz="1588">
              <a:latin typeface="Arial"/>
              <a:cs typeface="Arial"/>
            </a:endParaRPr>
          </a:p>
          <a:p>
            <a:pPr marL="313781" indent="-302575">
              <a:spcBef>
                <a:spcPts val="953"/>
              </a:spcBef>
              <a:buAutoNum type="arabicPeriod" startAt="2"/>
              <a:tabLst>
                <a:tab pos="313221" algn="l"/>
                <a:tab pos="313781" algn="l"/>
                <a:tab pos="1176680" algn="l"/>
              </a:tabLst>
            </a:pPr>
            <a:r>
              <a:rPr sz="1588" dirty="0">
                <a:latin typeface="Arial"/>
                <a:cs typeface="Arial"/>
              </a:rPr>
              <a:t>Attribute	</a:t>
            </a:r>
            <a:r>
              <a:rPr sz="1588" spc="-4" dirty="0">
                <a:latin typeface="Arial"/>
                <a:cs typeface="Arial"/>
              </a:rPr>
              <a:t>is a column in </a:t>
            </a:r>
            <a:r>
              <a:rPr sz="1588" dirty="0">
                <a:latin typeface="Arial"/>
                <a:cs typeface="Arial"/>
              </a:rPr>
              <a:t>the</a:t>
            </a:r>
            <a:r>
              <a:rPr sz="1588" spc="13" dirty="0">
                <a:latin typeface="Arial"/>
                <a:cs typeface="Arial"/>
              </a:rPr>
              <a:t> </a:t>
            </a:r>
            <a:r>
              <a:rPr sz="1588" spc="-4" dirty="0">
                <a:latin typeface="Arial"/>
                <a:cs typeface="Arial"/>
              </a:rPr>
              <a:t>table.</a:t>
            </a:r>
            <a:endParaRPr sz="1588">
              <a:latin typeface="Arial"/>
              <a:cs typeface="Arial"/>
            </a:endParaRPr>
          </a:p>
          <a:p>
            <a:pPr marL="11206" marR="564807">
              <a:lnSpc>
                <a:spcPct val="150600"/>
              </a:lnSpc>
              <a:buAutoNum type="arabicPeriod" startAt="2"/>
              <a:tabLst>
                <a:tab pos="313221" algn="l"/>
                <a:tab pos="313781" algn="l"/>
                <a:tab pos="3498102" algn="l"/>
              </a:tabLst>
            </a:pPr>
            <a:r>
              <a:rPr sz="1588" spc="-4" dirty="0">
                <a:latin typeface="Arial"/>
                <a:cs typeface="Arial"/>
              </a:rPr>
              <a:t>Each column in </a:t>
            </a:r>
            <a:r>
              <a:rPr sz="1588" dirty="0">
                <a:latin typeface="Arial"/>
                <a:cs typeface="Arial"/>
              </a:rPr>
              <a:t>the </a:t>
            </a:r>
            <a:r>
              <a:rPr sz="1588" spc="-4" dirty="0">
                <a:latin typeface="Arial"/>
                <a:cs typeface="Arial"/>
              </a:rPr>
              <a:t>table has a unique name </a:t>
            </a:r>
            <a:r>
              <a:rPr sz="1588" spc="-9" dirty="0">
                <a:latin typeface="Arial"/>
                <a:cs typeface="Arial"/>
              </a:rPr>
              <a:t>within </a:t>
            </a:r>
            <a:r>
              <a:rPr sz="1588" dirty="0">
                <a:latin typeface="Arial"/>
                <a:cs typeface="Arial"/>
              </a:rPr>
              <a:t>the </a:t>
            </a:r>
            <a:r>
              <a:rPr sz="1588" spc="-4" dirty="0">
                <a:latin typeface="Arial"/>
                <a:cs typeface="Arial"/>
              </a:rPr>
              <a:t>table.  5.Each column has a domain </a:t>
            </a:r>
            <a:r>
              <a:rPr sz="1588" dirty="0">
                <a:latin typeface="Arial"/>
                <a:cs typeface="Arial"/>
              </a:rPr>
              <a:t>,</a:t>
            </a:r>
            <a:r>
              <a:rPr sz="1588" spc="101" dirty="0">
                <a:latin typeface="Arial"/>
                <a:cs typeface="Arial"/>
              </a:rPr>
              <a:t> </a:t>
            </a:r>
            <a:r>
              <a:rPr sz="1588" dirty="0">
                <a:latin typeface="Arial"/>
                <a:cs typeface="Arial"/>
              </a:rPr>
              <a:t>the</a:t>
            </a:r>
            <a:r>
              <a:rPr sz="1588" spc="13" dirty="0">
                <a:latin typeface="Arial"/>
                <a:cs typeface="Arial"/>
              </a:rPr>
              <a:t> </a:t>
            </a:r>
            <a:r>
              <a:rPr sz="1588" dirty="0">
                <a:latin typeface="Arial"/>
                <a:cs typeface="Arial"/>
              </a:rPr>
              <a:t>set	of </a:t>
            </a:r>
            <a:r>
              <a:rPr sz="1588" spc="-4" dirty="0">
                <a:latin typeface="Arial"/>
                <a:cs typeface="Arial"/>
              </a:rPr>
              <a:t>possible </a:t>
            </a:r>
            <a:r>
              <a:rPr sz="1588" spc="-9" dirty="0">
                <a:latin typeface="Arial"/>
                <a:cs typeface="Arial"/>
              </a:rPr>
              <a:t>values </a:t>
            </a:r>
            <a:r>
              <a:rPr sz="1588" dirty="0">
                <a:latin typeface="Arial"/>
                <a:cs typeface="Arial"/>
              </a:rPr>
              <a:t>that</a:t>
            </a:r>
            <a:r>
              <a:rPr sz="1588" spc="-13" dirty="0">
                <a:latin typeface="Arial"/>
                <a:cs typeface="Arial"/>
              </a:rPr>
              <a:t> </a:t>
            </a:r>
            <a:r>
              <a:rPr sz="1588" spc="-4" dirty="0">
                <a:latin typeface="Arial"/>
                <a:cs typeface="Arial"/>
              </a:rPr>
              <a:t>can</a:t>
            </a:r>
            <a:endParaRPr sz="1588">
              <a:latin typeface="Arial"/>
              <a:cs typeface="Arial"/>
            </a:endParaRPr>
          </a:p>
          <a:p>
            <a:pPr marL="313781"/>
            <a:r>
              <a:rPr sz="1588" spc="-4" dirty="0">
                <a:latin typeface="Arial"/>
                <a:cs typeface="Arial"/>
              </a:rPr>
              <a:t>appear in </a:t>
            </a:r>
            <a:r>
              <a:rPr sz="1588" dirty="0">
                <a:latin typeface="Arial"/>
                <a:cs typeface="Arial"/>
              </a:rPr>
              <a:t>that</a:t>
            </a:r>
            <a:r>
              <a:rPr sz="1588" spc="4" dirty="0">
                <a:latin typeface="Arial"/>
                <a:cs typeface="Arial"/>
              </a:rPr>
              <a:t> </a:t>
            </a:r>
            <a:r>
              <a:rPr sz="1588" spc="-4" dirty="0">
                <a:latin typeface="Arial"/>
                <a:cs typeface="Arial"/>
              </a:rPr>
              <a:t>column.</a:t>
            </a:r>
            <a:endParaRPr sz="1588">
              <a:latin typeface="Arial"/>
              <a:cs typeface="Arial"/>
            </a:endParaRPr>
          </a:p>
          <a:p>
            <a:pPr marL="313781" marR="217405" indent="-302575">
              <a:spcBef>
                <a:spcPts val="9"/>
              </a:spcBef>
            </a:pPr>
            <a:r>
              <a:rPr sz="1588" dirty="0">
                <a:latin typeface="Arial"/>
                <a:cs typeface="Arial"/>
              </a:rPr>
              <a:t>6.The </a:t>
            </a:r>
            <a:r>
              <a:rPr sz="1588" spc="-4" dirty="0">
                <a:latin typeface="Arial"/>
                <a:cs typeface="Arial"/>
              </a:rPr>
              <a:t>order </a:t>
            </a:r>
            <a:r>
              <a:rPr sz="1588" dirty="0">
                <a:latin typeface="Arial"/>
                <a:cs typeface="Arial"/>
              </a:rPr>
              <a:t>of the </a:t>
            </a:r>
            <a:r>
              <a:rPr sz="1588" spc="-4" dirty="0">
                <a:latin typeface="Arial"/>
                <a:cs typeface="Arial"/>
              </a:rPr>
              <a:t>rows and columns is </a:t>
            </a:r>
            <a:r>
              <a:rPr sz="1588" dirty="0">
                <a:latin typeface="Arial"/>
                <a:cs typeface="Arial"/>
              </a:rPr>
              <a:t>not important. &amp; </a:t>
            </a:r>
            <a:r>
              <a:rPr sz="1588" spc="-4" dirty="0">
                <a:latin typeface="Arial"/>
                <a:cs typeface="Arial"/>
              </a:rPr>
              <a:t>duplicate row  are </a:t>
            </a:r>
            <a:r>
              <a:rPr sz="1588" dirty="0">
                <a:latin typeface="Arial"/>
                <a:cs typeface="Arial"/>
              </a:rPr>
              <a:t>not </a:t>
            </a:r>
            <a:r>
              <a:rPr sz="1588" spc="-4" dirty="0">
                <a:latin typeface="Arial"/>
                <a:cs typeface="Arial"/>
              </a:rPr>
              <a:t>allowed</a:t>
            </a:r>
            <a:endParaRPr sz="1588">
              <a:latin typeface="Arial"/>
              <a:cs typeface="Arial"/>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3401131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855259" y="1943099"/>
          <a:ext cx="6631639" cy="573741"/>
        </p:xfrm>
        <a:graphic>
          <a:graphicData uri="http://schemas.openxmlformats.org/drawingml/2006/table">
            <a:tbl>
              <a:tblPr firstRow="1" bandRow="1">
                <a:tableStyleId>{2D5ABB26-0587-4C30-8999-92F81FD0307C}</a:tableStyleId>
              </a:tblPr>
              <a:tblGrid>
                <a:gridCol w="1243853">
                  <a:extLst>
                    <a:ext uri="{9D8B030D-6E8A-4147-A177-3AD203B41FA5}">
                      <a16:colId xmlns:a16="http://schemas.microsoft.com/office/drawing/2014/main" val="20000"/>
                    </a:ext>
                  </a:extLst>
                </a:gridCol>
                <a:gridCol w="1498226">
                  <a:extLst>
                    <a:ext uri="{9D8B030D-6E8A-4147-A177-3AD203B41FA5}">
                      <a16:colId xmlns:a16="http://schemas.microsoft.com/office/drawing/2014/main" val="20001"/>
                    </a:ext>
                  </a:extLst>
                </a:gridCol>
                <a:gridCol w="1317811">
                  <a:extLst>
                    <a:ext uri="{9D8B030D-6E8A-4147-A177-3AD203B41FA5}">
                      <a16:colId xmlns:a16="http://schemas.microsoft.com/office/drawing/2014/main" val="20002"/>
                    </a:ext>
                  </a:extLst>
                </a:gridCol>
                <a:gridCol w="1256179">
                  <a:extLst>
                    <a:ext uri="{9D8B030D-6E8A-4147-A177-3AD203B41FA5}">
                      <a16:colId xmlns:a16="http://schemas.microsoft.com/office/drawing/2014/main" val="20003"/>
                    </a:ext>
                  </a:extLst>
                </a:gridCol>
                <a:gridCol w="1315570">
                  <a:extLst>
                    <a:ext uri="{9D8B030D-6E8A-4147-A177-3AD203B41FA5}">
                      <a16:colId xmlns:a16="http://schemas.microsoft.com/office/drawing/2014/main" val="20004"/>
                    </a:ext>
                  </a:extLst>
                </a:gridCol>
              </a:tblGrid>
              <a:tr h="573741">
                <a:tc>
                  <a:txBody>
                    <a:bodyPr/>
                    <a:lstStyle/>
                    <a:p>
                      <a:pPr marL="101600" marR="353695">
                        <a:lnSpc>
                          <a:spcPct val="100000"/>
                        </a:lnSpc>
                        <a:spcBef>
                          <a:spcPts val="1280"/>
                        </a:spcBef>
                      </a:pPr>
                      <a:r>
                        <a:rPr sz="1400" i="1" dirty="0">
                          <a:latin typeface="Arial"/>
                          <a:cs typeface="Arial"/>
                        </a:rPr>
                        <a:t>Customer-  </a:t>
                      </a:r>
                      <a:r>
                        <a:rPr sz="1400" i="1" spc="-5" dirty="0">
                          <a:latin typeface="Arial"/>
                          <a:cs typeface="Arial"/>
                        </a:rPr>
                        <a:t>id</a:t>
                      </a:r>
                      <a:endParaRPr sz="1400">
                        <a:latin typeface="Arial"/>
                        <a:cs typeface="Arial"/>
                      </a:endParaRPr>
                    </a:p>
                  </a:txBody>
                  <a:tcPr marL="0" marR="0" marT="14343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387985" marR="400050">
                        <a:lnSpc>
                          <a:spcPct val="100600"/>
                        </a:lnSpc>
                        <a:spcBef>
                          <a:spcPts val="500"/>
                        </a:spcBef>
                      </a:pPr>
                      <a:r>
                        <a:rPr sz="1400" i="1" dirty="0">
                          <a:latin typeface="Arial"/>
                          <a:cs typeface="Arial"/>
                        </a:rPr>
                        <a:t>customer-  </a:t>
                      </a:r>
                      <a:r>
                        <a:rPr sz="1400" i="1" spc="-5" dirty="0">
                          <a:latin typeface="Arial"/>
                          <a:cs typeface="Arial"/>
                        </a:rPr>
                        <a:t>name</a:t>
                      </a:r>
                      <a:endParaRPr sz="1400">
                        <a:latin typeface="Arial"/>
                        <a:cs typeface="Arial"/>
                      </a:endParaRPr>
                    </a:p>
                  </a:txBody>
                  <a:tcPr marL="0" marR="0" marT="560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332105" marR="252095">
                        <a:lnSpc>
                          <a:spcPct val="100600"/>
                        </a:lnSpc>
                        <a:spcBef>
                          <a:spcPts val="210"/>
                        </a:spcBef>
                      </a:pPr>
                      <a:r>
                        <a:rPr sz="1400" i="1" dirty="0">
                          <a:latin typeface="Arial"/>
                          <a:cs typeface="Arial"/>
                        </a:rPr>
                        <a:t>customer-  </a:t>
                      </a:r>
                      <a:r>
                        <a:rPr sz="1400" i="1" spc="-5" dirty="0">
                          <a:latin typeface="Arial"/>
                          <a:cs typeface="Arial"/>
                        </a:rPr>
                        <a:t>street</a:t>
                      </a:r>
                      <a:endParaRPr sz="1400">
                        <a:latin typeface="Arial"/>
                        <a:cs typeface="Arial"/>
                      </a:endParaRPr>
                    </a:p>
                  </a:txBody>
                  <a:tcPr marL="0" marR="0" marT="23532"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280035" marR="234315">
                        <a:lnSpc>
                          <a:spcPct val="100600"/>
                        </a:lnSpc>
                        <a:spcBef>
                          <a:spcPts val="210"/>
                        </a:spcBef>
                      </a:pPr>
                      <a:r>
                        <a:rPr sz="1400" i="1" dirty="0">
                          <a:latin typeface="Arial"/>
                          <a:cs typeface="Arial"/>
                        </a:rPr>
                        <a:t>customer-  </a:t>
                      </a:r>
                      <a:r>
                        <a:rPr sz="1400" i="1" spc="-5" dirty="0">
                          <a:latin typeface="Arial"/>
                          <a:cs typeface="Arial"/>
                        </a:rPr>
                        <a:t>city</a:t>
                      </a:r>
                      <a:endParaRPr sz="1400">
                        <a:latin typeface="Arial"/>
                        <a:cs typeface="Arial"/>
                      </a:endParaRPr>
                    </a:p>
                  </a:txBody>
                  <a:tcPr marL="0" marR="0" marT="23532"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360680" marR="344170">
                        <a:lnSpc>
                          <a:spcPct val="100600"/>
                        </a:lnSpc>
                        <a:spcBef>
                          <a:spcPts val="245"/>
                        </a:spcBef>
                      </a:pPr>
                      <a:r>
                        <a:rPr sz="1400" i="1" dirty="0">
                          <a:latin typeface="Arial"/>
                          <a:cs typeface="Arial"/>
                        </a:rPr>
                        <a:t>account-  </a:t>
                      </a:r>
                      <a:r>
                        <a:rPr sz="1400" i="1" spc="-5" dirty="0">
                          <a:latin typeface="Arial"/>
                          <a:cs typeface="Arial"/>
                        </a:rPr>
                        <a:t>number</a:t>
                      </a:r>
                      <a:endParaRPr sz="1400">
                        <a:latin typeface="Arial"/>
                        <a:cs typeface="Arial"/>
                      </a:endParaRPr>
                    </a:p>
                  </a:txBody>
                  <a:tcPr marL="0" marR="0" marT="27454"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 name="object 3"/>
          <p:cNvGraphicFramePr>
            <a:graphicFrameLocks noGrp="1"/>
          </p:cNvGraphicFramePr>
          <p:nvPr/>
        </p:nvGraphicFramePr>
        <p:xfrm>
          <a:off x="2847191" y="2488826"/>
          <a:ext cx="6632761" cy="2220443"/>
        </p:xfrm>
        <a:graphic>
          <a:graphicData uri="http://schemas.openxmlformats.org/drawingml/2006/table">
            <a:tbl>
              <a:tblPr firstRow="1" bandRow="1">
                <a:tableStyleId>{2D5ABB26-0587-4C30-8999-92F81FD0307C}</a:tableStyleId>
              </a:tblPr>
              <a:tblGrid>
                <a:gridCol w="1256179">
                  <a:extLst>
                    <a:ext uri="{9D8B030D-6E8A-4147-A177-3AD203B41FA5}">
                      <a16:colId xmlns:a16="http://schemas.microsoft.com/office/drawing/2014/main" val="20000"/>
                    </a:ext>
                  </a:extLst>
                </a:gridCol>
                <a:gridCol w="1479176">
                  <a:extLst>
                    <a:ext uri="{9D8B030D-6E8A-4147-A177-3AD203B41FA5}">
                      <a16:colId xmlns:a16="http://schemas.microsoft.com/office/drawing/2014/main" val="20001"/>
                    </a:ext>
                  </a:extLst>
                </a:gridCol>
                <a:gridCol w="1311088">
                  <a:extLst>
                    <a:ext uri="{9D8B030D-6E8A-4147-A177-3AD203B41FA5}">
                      <a16:colId xmlns:a16="http://schemas.microsoft.com/office/drawing/2014/main" val="20002"/>
                    </a:ext>
                  </a:extLst>
                </a:gridCol>
                <a:gridCol w="1283074">
                  <a:extLst>
                    <a:ext uri="{9D8B030D-6E8A-4147-A177-3AD203B41FA5}">
                      <a16:colId xmlns:a16="http://schemas.microsoft.com/office/drawing/2014/main" val="20003"/>
                    </a:ext>
                  </a:extLst>
                </a:gridCol>
                <a:gridCol w="1303243">
                  <a:extLst>
                    <a:ext uri="{9D8B030D-6E8A-4147-A177-3AD203B41FA5}">
                      <a16:colId xmlns:a16="http://schemas.microsoft.com/office/drawing/2014/main" val="20004"/>
                    </a:ext>
                  </a:extLst>
                </a:gridCol>
              </a:tblGrid>
              <a:tr h="476670">
                <a:tc>
                  <a:txBody>
                    <a:bodyPr/>
                    <a:lstStyle/>
                    <a:p>
                      <a:pPr marL="111125">
                        <a:lnSpc>
                          <a:spcPct val="100000"/>
                        </a:lnSpc>
                        <a:spcBef>
                          <a:spcPts val="919"/>
                        </a:spcBef>
                      </a:pPr>
                      <a:r>
                        <a:rPr sz="1400" spc="-5" dirty="0">
                          <a:latin typeface="Arial"/>
                          <a:cs typeface="Arial"/>
                        </a:rPr>
                        <a:t>192-83-7465</a:t>
                      </a:r>
                      <a:endParaRPr sz="1400">
                        <a:latin typeface="Arial"/>
                        <a:cs typeface="Arial"/>
                      </a:endParaRPr>
                    </a:p>
                  </a:txBody>
                  <a:tcPr marL="0" marR="0" marT="103093"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marL="421640">
                        <a:lnSpc>
                          <a:spcPct val="100000"/>
                        </a:lnSpc>
                        <a:spcBef>
                          <a:spcPts val="860"/>
                        </a:spcBef>
                      </a:pPr>
                      <a:r>
                        <a:rPr sz="1400" spc="-5" dirty="0">
                          <a:latin typeface="Arial"/>
                          <a:cs typeface="Arial"/>
                        </a:rPr>
                        <a:t>Johnson</a:t>
                      </a:r>
                      <a:endParaRPr sz="1400">
                        <a:latin typeface="Arial"/>
                        <a:cs typeface="Arial"/>
                      </a:endParaRPr>
                    </a:p>
                  </a:txBody>
                  <a:tcPr marL="0" marR="0" marT="96371"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nSpc>
                          <a:spcPct val="100000"/>
                        </a:lnSpc>
                        <a:spcBef>
                          <a:spcPts val="55"/>
                        </a:spcBef>
                      </a:pPr>
                      <a:endParaRPr sz="1200">
                        <a:latin typeface="Times New Roman"/>
                        <a:cs typeface="Times New Roman"/>
                      </a:endParaRPr>
                    </a:p>
                    <a:p>
                      <a:pPr marL="469265">
                        <a:lnSpc>
                          <a:spcPct val="100000"/>
                        </a:lnSpc>
                      </a:pPr>
                      <a:r>
                        <a:rPr sz="1400" spc="-5" dirty="0">
                          <a:latin typeface="Arial"/>
                          <a:cs typeface="Arial"/>
                        </a:rPr>
                        <a:t>Alma</a:t>
                      </a:r>
                      <a:endParaRPr sz="1400">
                        <a:latin typeface="Arial"/>
                        <a:cs typeface="Arial"/>
                      </a:endParaRPr>
                    </a:p>
                  </a:txBody>
                  <a:tcPr marL="0" marR="0" marT="6163"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nSpc>
                          <a:spcPct val="100000"/>
                        </a:lnSpc>
                        <a:spcBef>
                          <a:spcPts val="45"/>
                        </a:spcBef>
                      </a:pPr>
                      <a:endParaRPr sz="1300">
                        <a:latin typeface="Times New Roman"/>
                        <a:cs typeface="Times New Roman"/>
                      </a:endParaRPr>
                    </a:p>
                    <a:p>
                      <a:pPr marL="292100">
                        <a:lnSpc>
                          <a:spcPct val="100000"/>
                        </a:lnSpc>
                      </a:pPr>
                      <a:r>
                        <a:rPr sz="1400" spc="-5" dirty="0">
                          <a:latin typeface="Arial"/>
                          <a:cs typeface="Arial"/>
                        </a:rPr>
                        <a:t>Palo</a:t>
                      </a:r>
                      <a:r>
                        <a:rPr sz="1400" spc="-20" dirty="0">
                          <a:latin typeface="Arial"/>
                          <a:cs typeface="Arial"/>
                        </a:rPr>
                        <a:t> </a:t>
                      </a:r>
                      <a:r>
                        <a:rPr sz="1400" spc="-5" dirty="0">
                          <a:latin typeface="Arial"/>
                          <a:cs typeface="Arial"/>
                        </a:rPr>
                        <a:t>Alto</a:t>
                      </a:r>
                      <a:endParaRPr sz="1400">
                        <a:latin typeface="Arial"/>
                        <a:cs typeface="Arial"/>
                      </a:endParaRPr>
                    </a:p>
                  </a:txBody>
                  <a:tcPr marL="0" marR="0" marT="5043"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nSpc>
                          <a:spcPct val="100000"/>
                        </a:lnSpc>
                        <a:spcBef>
                          <a:spcPts val="55"/>
                        </a:spcBef>
                      </a:pPr>
                      <a:endParaRPr sz="1200">
                        <a:latin typeface="Times New Roman"/>
                        <a:cs typeface="Times New Roman"/>
                      </a:endParaRPr>
                    </a:p>
                    <a:p>
                      <a:pPr marL="418465">
                        <a:lnSpc>
                          <a:spcPct val="100000"/>
                        </a:lnSpc>
                      </a:pPr>
                      <a:r>
                        <a:rPr sz="1400" spc="-5" dirty="0">
                          <a:latin typeface="Arial"/>
                          <a:cs typeface="Arial"/>
                        </a:rPr>
                        <a:t>A-101</a:t>
                      </a:r>
                      <a:endParaRPr sz="1400">
                        <a:latin typeface="Arial"/>
                        <a:cs typeface="Arial"/>
                      </a:endParaRPr>
                    </a:p>
                  </a:txBody>
                  <a:tcPr marL="0" marR="0" marT="6163" marB="0">
                    <a:lnL w="9525">
                      <a:solidFill>
                        <a:srgbClr val="000000"/>
                      </a:solidFill>
                      <a:prstDash val="solid"/>
                    </a:lnL>
                    <a:lnR w="9525">
                      <a:solidFill>
                        <a:srgbClr val="000000"/>
                      </a:solidFill>
                      <a:prstDash val="solid"/>
                    </a:lnR>
                    <a:lnT w="9525">
                      <a:solidFill>
                        <a:srgbClr val="000000"/>
                      </a:solidFill>
                      <a:prstDash val="solid"/>
                    </a:lnT>
                  </a:tcPr>
                </a:tc>
                <a:extLst>
                  <a:ext uri="{0D108BD9-81ED-4DB2-BD59-A6C34878D82A}">
                    <a16:rowId xmlns:a16="http://schemas.microsoft.com/office/drawing/2014/main" val="10000"/>
                  </a:ext>
                </a:extLst>
              </a:tr>
              <a:tr h="431651">
                <a:tc>
                  <a:txBody>
                    <a:bodyPr/>
                    <a:lstStyle/>
                    <a:p>
                      <a:pPr marL="111125">
                        <a:lnSpc>
                          <a:spcPct val="100000"/>
                        </a:lnSpc>
                        <a:spcBef>
                          <a:spcPts val="520"/>
                        </a:spcBef>
                      </a:pPr>
                      <a:r>
                        <a:rPr sz="1400" spc="-5" dirty="0">
                          <a:latin typeface="Arial"/>
                          <a:cs typeface="Arial"/>
                        </a:rPr>
                        <a:t>019-28-3746</a:t>
                      </a:r>
                      <a:endParaRPr sz="1400">
                        <a:latin typeface="Arial"/>
                        <a:cs typeface="Arial"/>
                      </a:endParaRPr>
                    </a:p>
                  </a:txBody>
                  <a:tcPr marL="0" marR="0" marT="58271" marB="0">
                    <a:lnL w="9525">
                      <a:solidFill>
                        <a:srgbClr val="000000"/>
                      </a:solidFill>
                      <a:prstDash val="solid"/>
                    </a:lnL>
                    <a:lnR w="9525">
                      <a:solidFill>
                        <a:srgbClr val="000000"/>
                      </a:solidFill>
                      <a:prstDash val="solid"/>
                    </a:lnR>
                  </a:tcPr>
                </a:tc>
                <a:tc>
                  <a:txBody>
                    <a:bodyPr/>
                    <a:lstStyle/>
                    <a:p>
                      <a:pPr marL="421640">
                        <a:lnSpc>
                          <a:spcPct val="100000"/>
                        </a:lnSpc>
                        <a:spcBef>
                          <a:spcPts val="445"/>
                        </a:spcBef>
                      </a:pPr>
                      <a:r>
                        <a:rPr sz="1400" spc="-5" dirty="0">
                          <a:latin typeface="Arial"/>
                          <a:cs typeface="Arial"/>
                        </a:rPr>
                        <a:t>Smith</a:t>
                      </a:r>
                      <a:endParaRPr sz="1400">
                        <a:latin typeface="Arial"/>
                        <a:cs typeface="Arial"/>
                      </a:endParaRPr>
                    </a:p>
                  </a:txBody>
                  <a:tcPr marL="0" marR="0" marT="49866" marB="0">
                    <a:lnL w="9525">
                      <a:solidFill>
                        <a:srgbClr val="000000"/>
                      </a:solidFill>
                      <a:prstDash val="solid"/>
                    </a:lnL>
                    <a:lnR w="9525">
                      <a:solidFill>
                        <a:srgbClr val="000000"/>
                      </a:solidFill>
                      <a:prstDash val="solid"/>
                    </a:lnR>
                  </a:tcPr>
                </a:tc>
                <a:tc>
                  <a:txBody>
                    <a:bodyPr/>
                    <a:lstStyle/>
                    <a:p>
                      <a:pPr marL="469265">
                        <a:lnSpc>
                          <a:spcPct val="100000"/>
                        </a:lnSpc>
                        <a:spcBef>
                          <a:spcPts val="1260"/>
                        </a:spcBef>
                      </a:pPr>
                      <a:r>
                        <a:rPr sz="1400" spc="-5" dirty="0">
                          <a:latin typeface="Arial"/>
                          <a:cs typeface="Arial"/>
                        </a:rPr>
                        <a:t>North</a:t>
                      </a:r>
                      <a:endParaRPr sz="1400">
                        <a:latin typeface="Arial"/>
                        <a:cs typeface="Arial"/>
                      </a:endParaRPr>
                    </a:p>
                  </a:txBody>
                  <a:tcPr marL="0" marR="0" marT="141194" marB="0">
                    <a:lnL w="9525">
                      <a:solidFill>
                        <a:srgbClr val="000000"/>
                      </a:solidFill>
                      <a:prstDash val="solid"/>
                    </a:lnL>
                    <a:lnR w="9525">
                      <a:solidFill>
                        <a:srgbClr val="000000"/>
                      </a:solidFill>
                      <a:prstDash val="solid"/>
                    </a:lnR>
                  </a:tcPr>
                </a:tc>
                <a:tc>
                  <a:txBody>
                    <a:bodyPr/>
                    <a:lstStyle/>
                    <a:p>
                      <a:pPr marL="292100">
                        <a:lnSpc>
                          <a:spcPct val="100000"/>
                        </a:lnSpc>
                        <a:spcBef>
                          <a:spcPts val="1310"/>
                        </a:spcBef>
                      </a:pPr>
                      <a:r>
                        <a:rPr sz="1400" spc="-5" dirty="0">
                          <a:latin typeface="Arial"/>
                          <a:cs typeface="Arial"/>
                        </a:rPr>
                        <a:t>Rye</a:t>
                      </a:r>
                      <a:endParaRPr sz="1400">
                        <a:latin typeface="Arial"/>
                        <a:cs typeface="Arial"/>
                      </a:endParaRPr>
                    </a:p>
                  </a:txBody>
                  <a:tcPr marL="0" marR="0" marT="146797" marB="0">
                    <a:lnL w="9525">
                      <a:solidFill>
                        <a:srgbClr val="000000"/>
                      </a:solidFill>
                      <a:prstDash val="solid"/>
                    </a:lnL>
                    <a:lnR w="9525">
                      <a:solidFill>
                        <a:srgbClr val="000000"/>
                      </a:solidFill>
                      <a:prstDash val="solid"/>
                    </a:lnR>
                  </a:tcPr>
                </a:tc>
                <a:tc>
                  <a:txBody>
                    <a:bodyPr/>
                    <a:lstStyle/>
                    <a:p>
                      <a:pPr marL="418465">
                        <a:lnSpc>
                          <a:spcPct val="100000"/>
                        </a:lnSpc>
                        <a:spcBef>
                          <a:spcPts val="1260"/>
                        </a:spcBef>
                      </a:pPr>
                      <a:r>
                        <a:rPr sz="1400" spc="-5" dirty="0">
                          <a:latin typeface="Arial"/>
                          <a:cs typeface="Arial"/>
                        </a:rPr>
                        <a:t>A-215</a:t>
                      </a:r>
                      <a:endParaRPr sz="1400">
                        <a:latin typeface="Arial"/>
                        <a:cs typeface="Arial"/>
                      </a:endParaRPr>
                    </a:p>
                  </a:txBody>
                  <a:tcPr marL="0" marR="0" marT="141194" marB="0">
                    <a:lnL w="9525">
                      <a:solidFill>
                        <a:srgbClr val="000000"/>
                      </a:solidFill>
                      <a:prstDash val="solid"/>
                    </a:lnL>
                    <a:lnR w="9525">
                      <a:solidFill>
                        <a:srgbClr val="000000"/>
                      </a:solidFill>
                      <a:prstDash val="solid"/>
                    </a:lnR>
                  </a:tcPr>
                </a:tc>
                <a:extLst>
                  <a:ext uri="{0D108BD9-81ED-4DB2-BD59-A6C34878D82A}">
                    <a16:rowId xmlns:a16="http://schemas.microsoft.com/office/drawing/2014/main" val="10001"/>
                  </a:ext>
                </a:extLst>
              </a:tr>
              <a:tr h="431651">
                <a:tc>
                  <a:txBody>
                    <a:bodyPr/>
                    <a:lstStyle/>
                    <a:p>
                      <a:pPr marL="111125">
                        <a:lnSpc>
                          <a:spcPct val="100000"/>
                        </a:lnSpc>
                        <a:spcBef>
                          <a:spcPts val="505"/>
                        </a:spcBef>
                      </a:pPr>
                      <a:r>
                        <a:rPr sz="1400" spc="-5" dirty="0">
                          <a:latin typeface="Arial"/>
                          <a:cs typeface="Arial"/>
                        </a:rPr>
                        <a:t>192-83-7465</a:t>
                      </a:r>
                      <a:endParaRPr sz="1400">
                        <a:latin typeface="Arial"/>
                        <a:cs typeface="Arial"/>
                      </a:endParaRPr>
                    </a:p>
                  </a:txBody>
                  <a:tcPr marL="0" marR="0" marT="56590" marB="0">
                    <a:lnL w="9525">
                      <a:solidFill>
                        <a:srgbClr val="000000"/>
                      </a:solidFill>
                      <a:prstDash val="solid"/>
                    </a:lnL>
                    <a:lnR w="9525">
                      <a:solidFill>
                        <a:srgbClr val="000000"/>
                      </a:solidFill>
                      <a:prstDash val="solid"/>
                    </a:lnR>
                  </a:tcPr>
                </a:tc>
                <a:tc>
                  <a:txBody>
                    <a:bodyPr/>
                    <a:lstStyle/>
                    <a:p>
                      <a:pPr marL="421640">
                        <a:lnSpc>
                          <a:spcPct val="100000"/>
                        </a:lnSpc>
                        <a:spcBef>
                          <a:spcPts val="445"/>
                        </a:spcBef>
                      </a:pPr>
                      <a:r>
                        <a:rPr sz="1400" spc="-5" dirty="0">
                          <a:latin typeface="Arial"/>
                          <a:cs typeface="Arial"/>
                        </a:rPr>
                        <a:t>Johnson</a:t>
                      </a:r>
                      <a:endParaRPr sz="1400">
                        <a:latin typeface="Arial"/>
                        <a:cs typeface="Arial"/>
                      </a:endParaRPr>
                    </a:p>
                  </a:txBody>
                  <a:tcPr marL="0" marR="0" marT="49866" marB="0">
                    <a:lnL w="9525">
                      <a:solidFill>
                        <a:srgbClr val="000000"/>
                      </a:solidFill>
                      <a:prstDash val="solid"/>
                    </a:lnL>
                    <a:lnR w="9525">
                      <a:solidFill>
                        <a:srgbClr val="000000"/>
                      </a:solidFill>
                      <a:prstDash val="solid"/>
                    </a:lnR>
                  </a:tcPr>
                </a:tc>
                <a:tc>
                  <a:txBody>
                    <a:bodyPr/>
                    <a:lstStyle/>
                    <a:p>
                      <a:pPr marL="469265">
                        <a:lnSpc>
                          <a:spcPct val="100000"/>
                        </a:lnSpc>
                        <a:spcBef>
                          <a:spcPts val="1260"/>
                        </a:spcBef>
                      </a:pPr>
                      <a:r>
                        <a:rPr sz="1400" spc="-5" dirty="0">
                          <a:latin typeface="Arial"/>
                          <a:cs typeface="Arial"/>
                        </a:rPr>
                        <a:t>Alma</a:t>
                      </a:r>
                      <a:endParaRPr sz="1400">
                        <a:latin typeface="Arial"/>
                        <a:cs typeface="Arial"/>
                      </a:endParaRPr>
                    </a:p>
                  </a:txBody>
                  <a:tcPr marL="0" marR="0" marT="141194" marB="0">
                    <a:lnL w="9525">
                      <a:solidFill>
                        <a:srgbClr val="000000"/>
                      </a:solidFill>
                      <a:prstDash val="solid"/>
                    </a:lnL>
                    <a:lnR w="9525">
                      <a:solidFill>
                        <a:srgbClr val="000000"/>
                      </a:solidFill>
                      <a:prstDash val="solid"/>
                    </a:lnR>
                  </a:tcPr>
                </a:tc>
                <a:tc>
                  <a:txBody>
                    <a:bodyPr/>
                    <a:lstStyle/>
                    <a:p>
                      <a:pPr marL="292100">
                        <a:lnSpc>
                          <a:spcPct val="100000"/>
                        </a:lnSpc>
                        <a:spcBef>
                          <a:spcPts val="1310"/>
                        </a:spcBef>
                      </a:pPr>
                      <a:r>
                        <a:rPr sz="1400" spc="-5" dirty="0">
                          <a:latin typeface="Arial"/>
                          <a:cs typeface="Arial"/>
                        </a:rPr>
                        <a:t>Palo</a:t>
                      </a:r>
                      <a:r>
                        <a:rPr sz="1400" spc="-20" dirty="0">
                          <a:latin typeface="Arial"/>
                          <a:cs typeface="Arial"/>
                        </a:rPr>
                        <a:t> </a:t>
                      </a:r>
                      <a:r>
                        <a:rPr sz="1400" spc="-5" dirty="0">
                          <a:latin typeface="Arial"/>
                          <a:cs typeface="Arial"/>
                        </a:rPr>
                        <a:t>Alto</a:t>
                      </a:r>
                      <a:endParaRPr sz="1400">
                        <a:latin typeface="Arial"/>
                        <a:cs typeface="Arial"/>
                      </a:endParaRPr>
                    </a:p>
                  </a:txBody>
                  <a:tcPr marL="0" marR="0" marT="146797" marB="0">
                    <a:lnL w="9525">
                      <a:solidFill>
                        <a:srgbClr val="000000"/>
                      </a:solidFill>
                      <a:prstDash val="solid"/>
                    </a:lnL>
                    <a:lnR w="9525">
                      <a:solidFill>
                        <a:srgbClr val="000000"/>
                      </a:solidFill>
                      <a:prstDash val="solid"/>
                    </a:lnR>
                  </a:tcPr>
                </a:tc>
                <a:tc>
                  <a:txBody>
                    <a:bodyPr/>
                    <a:lstStyle/>
                    <a:p>
                      <a:pPr marL="418465">
                        <a:lnSpc>
                          <a:spcPct val="100000"/>
                        </a:lnSpc>
                        <a:spcBef>
                          <a:spcPts val="1260"/>
                        </a:spcBef>
                      </a:pPr>
                      <a:r>
                        <a:rPr sz="1400" spc="-5" dirty="0">
                          <a:latin typeface="Arial"/>
                          <a:cs typeface="Arial"/>
                        </a:rPr>
                        <a:t>A-201</a:t>
                      </a:r>
                      <a:endParaRPr sz="1400">
                        <a:latin typeface="Arial"/>
                        <a:cs typeface="Arial"/>
                      </a:endParaRPr>
                    </a:p>
                  </a:txBody>
                  <a:tcPr marL="0" marR="0" marT="141194" marB="0">
                    <a:lnL w="9525">
                      <a:solidFill>
                        <a:srgbClr val="000000"/>
                      </a:solidFill>
                      <a:prstDash val="solid"/>
                    </a:lnL>
                    <a:lnR w="9525">
                      <a:solidFill>
                        <a:srgbClr val="000000"/>
                      </a:solidFill>
                      <a:prstDash val="solid"/>
                    </a:lnR>
                  </a:tcPr>
                </a:tc>
                <a:extLst>
                  <a:ext uri="{0D108BD9-81ED-4DB2-BD59-A6C34878D82A}">
                    <a16:rowId xmlns:a16="http://schemas.microsoft.com/office/drawing/2014/main" val="10002"/>
                  </a:ext>
                </a:extLst>
              </a:tr>
              <a:tr h="431651">
                <a:tc>
                  <a:txBody>
                    <a:bodyPr/>
                    <a:lstStyle/>
                    <a:p>
                      <a:pPr marL="111125">
                        <a:lnSpc>
                          <a:spcPct val="100000"/>
                        </a:lnSpc>
                        <a:spcBef>
                          <a:spcPts val="505"/>
                        </a:spcBef>
                      </a:pPr>
                      <a:r>
                        <a:rPr sz="1400" spc="-5" dirty="0">
                          <a:latin typeface="Arial"/>
                          <a:cs typeface="Arial"/>
                        </a:rPr>
                        <a:t>321-12-3123</a:t>
                      </a:r>
                      <a:endParaRPr sz="1400">
                        <a:latin typeface="Arial"/>
                        <a:cs typeface="Arial"/>
                      </a:endParaRPr>
                    </a:p>
                  </a:txBody>
                  <a:tcPr marL="0" marR="0" marT="56590" marB="0">
                    <a:lnL w="9525">
                      <a:solidFill>
                        <a:srgbClr val="000000"/>
                      </a:solidFill>
                      <a:prstDash val="solid"/>
                    </a:lnL>
                    <a:lnR w="9525">
                      <a:solidFill>
                        <a:srgbClr val="000000"/>
                      </a:solidFill>
                      <a:prstDash val="solid"/>
                    </a:lnR>
                  </a:tcPr>
                </a:tc>
                <a:tc>
                  <a:txBody>
                    <a:bodyPr/>
                    <a:lstStyle/>
                    <a:p>
                      <a:pPr marL="421640">
                        <a:lnSpc>
                          <a:spcPct val="100000"/>
                        </a:lnSpc>
                        <a:spcBef>
                          <a:spcPts val="445"/>
                        </a:spcBef>
                      </a:pPr>
                      <a:r>
                        <a:rPr sz="1400" spc="-5" dirty="0">
                          <a:latin typeface="Arial"/>
                          <a:cs typeface="Arial"/>
                        </a:rPr>
                        <a:t>Jones</a:t>
                      </a:r>
                      <a:endParaRPr sz="1400">
                        <a:latin typeface="Arial"/>
                        <a:cs typeface="Arial"/>
                      </a:endParaRPr>
                    </a:p>
                  </a:txBody>
                  <a:tcPr marL="0" marR="0" marT="49866" marB="0">
                    <a:lnL w="9525">
                      <a:solidFill>
                        <a:srgbClr val="000000"/>
                      </a:solidFill>
                      <a:prstDash val="solid"/>
                    </a:lnL>
                    <a:lnR w="9525">
                      <a:solidFill>
                        <a:srgbClr val="000000"/>
                      </a:solidFill>
                      <a:prstDash val="solid"/>
                    </a:lnR>
                  </a:tcPr>
                </a:tc>
                <a:tc>
                  <a:txBody>
                    <a:bodyPr/>
                    <a:lstStyle/>
                    <a:p>
                      <a:pPr marL="469265">
                        <a:lnSpc>
                          <a:spcPct val="100000"/>
                        </a:lnSpc>
                        <a:spcBef>
                          <a:spcPts val="1260"/>
                        </a:spcBef>
                      </a:pPr>
                      <a:r>
                        <a:rPr sz="1400" spc="-5" dirty="0">
                          <a:latin typeface="Arial"/>
                          <a:cs typeface="Arial"/>
                        </a:rPr>
                        <a:t>Main</a:t>
                      </a:r>
                      <a:endParaRPr sz="1400">
                        <a:latin typeface="Arial"/>
                        <a:cs typeface="Arial"/>
                      </a:endParaRPr>
                    </a:p>
                  </a:txBody>
                  <a:tcPr marL="0" marR="0" marT="141194" marB="0">
                    <a:lnL w="9525">
                      <a:solidFill>
                        <a:srgbClr val="000000"/>
                      </a:solidFill>
                      <a:prstDash val="solid"/>
                    </a:lnL>
                    <a:lnR w="9525">
                      <a:solidFill>
                        <a:srgbClr val="000000"/>
                      </a:solidFill>
                      <a:prstDash val="solid"/>
                    </a:lnR>
                  </a:tcPr>
                </a:tc>
                <a:tc>
                  <a:txBody>
                    <a:bodyPr/>
                    <a:lstStyle/>
                    <a:p>
                      <a:pPr marL="292100">
                        <a:lnSpc>
                          <a:spcPct val="100000"/>
                        </a:lnSpc>
                        <a:spcBef>
                          <a:spcPts val="1310"/>
                        </a:spcBef>
                      </a:pPr>
                      <a:r>
                        <a:rPr sz="1400" spc="-5" dirty="0">
                          <a:latin typeface="Arial"/>
                          <a:cs typeface="Arial"/>
                        </a:rPr>
                        <a:t>Harrison</a:t>
                      </a:r>
                      <a:endParaRPr sz="1400">
                        <a:latin typeface="Arial"/>
                        <a:cs typeface="Arial"/>
                      </a:endParaRPr>
                    </a:p>
                  </a:txBody>
                  <a:tcPr marL="0" marR="0" marT="146797" marB="0">
                    <a:lnL w="9525">
                      <a:solidFill>
                        <a:srgbClr val="000000"/>
                      </a:solidFill>
                      <a:prstDash val="solid"/>
                    </a:lnL>
                    <a:lnR w="9525">
                      <a:solidFill>
                        <a:srgbClr val="000000"/>
                      </a:solidFill>
                      <a:prstDash val="solid"/>
                    </a:lnR>
                  </a:tcPr>
                </a:tc>
                <a:tc>
                  <a:txBody>
                    <a:bodyPr/>
                    <a:lstStyle/>
                    <a:p>
                      <a:pPr marL="418465">
                        <a:lnSpc>
                          <a:spcPct val="100000"/>
                        </a:lnSpc>
                        <a:spcBef>
                          <a:spcPts val="1260"/>
                        </a:spcBef>
                      </a:pPr>
                      <a:r>
                        <a:rPr sz="1400" spc="-5" dirty="0">
                          <a:latin typeface="Arial"/>
                          <a:cs typeface="Arial"/>
                        </a:rPr>
                        <a:t>A-217</a:t>
                      </a:r>
                      <a:endParaRPr sz="1400">
                        <a:latin typeface="Arial"/>
                        <a:cs typeface="Arial"/>
                      </a:endParaRPr>
                    </a:p>
                  </a:txBody>
                  <a:tcPr marL="0" marR="0" marT="141194" marB="0">
                    <a:lnL w="9525">
                      <a:solidFill>
                        <a:srgbClr val="000000"/>
                      </a:solidFill>
                      <a:prstDash val="solid"/>
                    </a:lnL>
                    <a:lnR w="9525">
                      <a:solidFill>
                        <a:srgbClr val="000000"/>
                      </a:solidFill>
                      <a:prstDash val="solid"/>
                    </a:lnR>
                  </a:tcPr>
                </a:tc>
                <a:extLst>
                  <a:ext uri="{0D108BD9-81ED-4DB2-BD59-A6C34878D82A}">
                    <a16:rowId xmlns:a16="http://schemas.microsoft.com/office/drawing/2014/main" val="10003"/>
                  </a:ext>
                </a:extLst>
              </a:tr>
              <a:tr h="448821">
                <a:tc>
                  <a:txBody>
                    <a:bodyPr/>
                    <a:lstStyle/>
                    <a:p>
                      <a:pPr marL="111125">
                        <a:lnSpc>
                          <a:spcPct val="100000"/>
                        </a:lnSpc>
                        <a:spcBef>
                          <a:spcPts val="505"/>
                        </a:spcBef>
                      </a:pPr>
                      <a:r>
                        <a:rPr sz="1400" spc="-5" dirty="0">
                          <a:latin typeface="Arial"/>
                          <a:cs typeface="Arial"/>
                        </a:rPr>
                        <a:t>019-28-3746</a:t>
                      </a:r>
                      <a:endParaRPr sz="1400">
                        <a:latin typeface="Arial"/>
                        <a:cs typeface="Arial"/>
                      </a:endParaRPr>
                    </a:p>
                  </a:txBody>
                  <a:tcPr marL="0" marR="0" marT="56590" marB="0">
                    <a:lnL w="9525">
                      <a:solidFill>
                        <a:srgbClr val="000000"/>
                      </a:solidFill>
                      <a:prstDash val="solid"/>
                    </a:lnL>
                    <a:lnR w="9525">
                      <a:solidFill>
                        <a:srgbClr val="000000"/>
                      </a:solidFill>
                      <a:prstDash val="solid"/>
                    </a:lnR>
                    <a:lnB w="12700">
                      <a:solidFill>
                        <a:srgbClr val="000000"/>
                      </a:solidFill>
                      <a:prstDash val="solid"/>
                    </a:lnB>
                  </a:tcPr>
                </a:tc>
                <a:tc>
                  <a:txBody>
                    <a:bodyPr/>
                    <a:lstStyle/>
                    <a:p>
                      <a:pPr marL="421640">
                        <a:lnSpc>
                          <a:spcPct val="100000"/>
                        </a:lnSpc>
                        <a:spcBef>
                          <a:spcPts val="445"/>
                        </a:spcBef>
                      </a:pPr>
                      <a:r>
                        <a:rPr sz="1400" spc="-5" dirty="0">
                          <a:latin typeface="Arial"/>
                          <a:cs typeface="Arial"/>
                        </a:rPr>
                        <a:t>Smith</a:t>
                      </a:r>
                      <a:endParaRPr sz="1400">
                        <a:latin typeface="Arial"/>
                        <a:cs typeface="Arial"/>
                      </a:endParaRPr>
                    </a:p>
                  </a:txBody>
                  <a:tcPr marL="0" marR="0" marT="49866" marB="0">
                    <a:lnL w="9525">
                      <a:solidFill>
                        <a:srgbClr val="000000"/>
                      </a:solidFill>
                      <a:prstDash val="solid"/>
                    </a:lnL>
                    <a:lnR w="9525">
                      <a:solidFill>
                        <a:srgbClr val="000000"/>
                      </a:solidFill>
                      <a:prstDash val="solid"/>
                    </a:lnR>
                    <a:lnB w="12700">
                      <a:solidFill>
                        <a:srgbClr val="000000"/>
                      </a:solidFill>
                      <a:prstDash val="solid"/>
                    </a:lnB>
                  </a:tcPr>
                </a:tc>
                <a:tc>
                  <a:txBody>
                    <a:bodyPr/>
                    <a:lstStyle/>
                    <a:p>
                      <a:pPr marL="469265">
                        <a:lnSpc>
                          <a:spcPct val="100000"/>
                        </a:lnSpc>
                        <a:spcBef>
                          <a:spcPts val="1260"/>
                        </a:spcBef>
                      </a:pPr>
                      <a:r>
                        <a:rPr sz="1400" spc="-5" dirty="0">
                          <a:latin typeface="Arial"/>
                          <a:cs typeface="Arial"/>
                        </a:rPr>
                        <a:t>North</a:t>
                      </a:r>
                      <a:endParaRPr sz="1400">
                        <a:latin typeface="Arial"/>
                        <a:cs typeface="Arial"/>
                      </a:endParaRPr>
                    </a:p>
                  </a:txBody>
                  <a:tcPr marL="0" marR="0" marT="141194" marB="0">
                    <a:lnL w="9525">
                      <a:solidFill>
                        <a:srgbClr val="000000"/>
                      </a:solidFill>
                      <a:prstDash val="solid"/>
                    </a:lnL>
                    <a:lnR w="9525">
                      <a:solidFill>
                        <a:srgbClr val="000000"/>
                      </a:solidFill>
                      <a:prstDash val="solid"/>
                    </a:lnR>
                    <a:lnB w="12700">
                      <a:solidFill>
                        <a:srgbClr val="000000"/>
                      </a:solidFill>
                      <a:prstDash val="solid"/>
                    </a:lnB>
                  </a:tcPr>
                </a:tc>
                <a:tc>
                  <a:txBody>
                    <a:bodyPr/>
                    <a:lstStyle/>
                    <a:p>
                      <a:pPr marL="292100">
                        <a:lnSpc>
                          <a:spcPct val="100000"/>
                        </a:lnSpc>
                        <a:spcBef>
                          <a:spcPts val="1310"/>
                        </a:spcBef>
                      </a:pPr>
                      <a:r>
                        <a:rPr sz="1400" spc="-5" dirty="0">
                          <a:latin typeface="Arial"/>
                          <a:cs typeface="Arial"/>
                        </a:rPr>
                        <a:t>Rye</a:t>
                      </a:r>
                      <a:endParaRPr sz="1400">
                        <a:latin typeface="Arial"/>
                        <a:cs typeface="Arial"/>
                      </a:endParaRPr>
                    </a:p>
                  </a:txBody>
                  <a:tcPr marL="0" marR="0" marT="146797" marB="0">
                    <a:lnL w="9525">
                      <a:solidFill>
                        <a:srgbClr val="000000"/>
                      </a:solidFill>
                      <a:prstDash val="solid"/>
                    </a:lnL>
                    <a:lnR w="9525">
                      <a:solidFill>
                        <a:srgbClr val="000000"/>
                      </a:solidFill>
                      <a:prstDash val="solid"/>
                    </a:lnR>
                    <a:lnB w="12700">
                      <a:solidFill>
                        <a:srgbClr val="000000"/>
                      </a:solidFill>
                      <a:prstDash val="solid"/>
                    </a:lnB>
                  </a:tcPr>
                </a:tc>
                <a:tc>
                  <a:txBody>
                    <a:bodyPr/>
                    <a:lstStyle/>
                    <a:p>
                      <a:pPr marL="418465">
                        <a:lnSpc>
                          <a:spcPct val="100000"/>
                        </a:lnSpc>
                        <a:spcBef>
                          <a:spcPts val="1260"/>
                        </a:spcBef>
                      </a:pPr>
                      <a:r>
                        <a:rPr sz="1400" spc="-5" dirty="0">
                          <a:latin typeface="Arial"/>
                          <a:cs typeface="Arial"/>
                        </a:rPr>
                        <a:t>A-201</a:t>
                      </a:r>
                      <a:endParaRPr sz="1400">
                        <a:latin typeface="Arial"/>
                        <a:cs typeface="Arial"/>
                      </a:endParaRPr>
                    </a:p>
                  </a:txBody>
                  <a:tcPr marL="0" marR="0" marT="141194" marB="0">
                    <a:lnL w="9525">
                      <a:solidFill>
                        <a:srgbClr val="000000"/>
                      </a:solidFill>
                      <a:prstDash val="solid"/>
                    </a:lnL>
                    <a:lnR w="9525">
                      <a:solidFill>
                        <a:srgbClr val="000000"/>
                      </a:solidFill>
                      <a:prstDash val="solid"/>
                    </a:lnR>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4" name="object 4"/>
          <p:cNvSpPr/>
          <p:nvPr/>
        </p:nvSpPr>
        <p:spPr>
          <a:xfrm>
            <a:off x="8375276" y="1360843"/>
            <a:ext cx="759759" cy="566457"/>
          </a:xfrm>
          <a:custGeom>
            <a:avLst/>
            <a:gdLst/>
            <a:ahLst/>
            <a:cxnLst/>
            <a:rect l="l" t="t" r="r" b="b"/>
            <a:pathLst>
              <a:path w="861059" h="641985">
                <a:moveTo>
                  <a:pt x="38100" y="565403"/>
                </a:moveTo>
                <a:lnTo>
                  <a:pt x="0" y="641603"/>
                </a:lnTo>
                <a:lnTo>
                  <a:pt x="83820" y="627888"/>
                </a:lnTo>
                <a:lnTo>
                  <a:pt x="69323" y="608076"/>
                </a:lnTo>
                <a:lnTo>
                  <a:pt x="50292" y="608076"/>
                </a:lnTo>
                <a:lnTo>
                  <a:pt x="47244" y="606551"/>
                </a:lnTo>
                <a:lnTo>
                  <a:pt x="45720" y="603503"/>
                </a:lnTo>
                <a:lnTo>
                  <a:pt x="47244" y="600456"/>
                </a:lnTo>
                <a:lnTo>
                  <a:pt x="57926" y="592499"/>
                </a:lnTo>
                <a:lnTo>
                  <a:pt x="38100" y="565403"/>
                </a:lnTo>
                <a:close/>
              </a:path>
              <a:path w="861059" h="641985">
                <a:moveTo>
                  <a:pt x="57926" y="592499"/>
                </a:moveTo>
                <a:lnTo>
                  <a:pt x="47244" y="600456"/>
                </a:lnTo>
                <a:lnTo>
                  <a:pt x="45720" y="603503"/>
                </a:lnTo>
                <a:lnTo>
                  <a:pt x="47244" y="606551"/>
                </a:lnTo>
                <a:lnTo>
                  <a:pt x="50292" y="608076"/>
                </a:lnTo>
                <a:lnTo>
                  <a:pt x="53340" y="608076"/>
                </a:lnTo>
                <a:lnTo>
                  <a:pt x="63685" y="600370"/>
                </a:lnTo>
                <a:lnTo>
                  <a:pt x="57926" y="592499"/>
                </a:lnTo>
                <a:close/>
              </a:path>
              <a:path w="861059" h="641985">
                <a:moveTo>
                  <a:pt x="63685" y="600370"/>
                </a:moveTo>
                <a:lnTo>
                  <a:pt x="53340" y="608076"/>
                </a:lnTo>
                <a:lnTo>
                  <a:pt x="69323" y="608076"/>
                </a:lnTo>
                <a:lnTo>
                  <a:pt x="63685" y="600370"/>
                </a:lnTo>
                <a:close/>
              </a:path>
              <a:path w="861059" h="641985">
                <a:moveTo>
                  <a:pt x="858012" y="0"/>
                </a:moveTo>
                <a:lnTo>
                  <a:pt x="853440" y="0"/>
                </a:lnTo>
                <a:lnTo>
                  <a:pt x="57926" y="592499"/>
                </a:lnTo>
                <a:lnTo>
                  <a:pt x="63685" y="600370"/>
                </a:lnTo>
                <a:lnTo>
                  <a:pt x="859536" y="7620"/>
                </a:lnTo>
                <a:lnTo>
                  <a:pt x="861060" y="4572"/>
                </a:lnTo>
                <a:lnTo>
                  <a:pt x="861060" y="1524"/>
                </a:lnTo>
                <a:lnTo>
                  <a:pt x="858012" y="0"/>
                </a:lnTo>
                <a:close/>
              </a:path>
            </a:pathLst>
          </a:custGeom>
          <a:solidFill>
            <a:srgbClr val="000000"/>
          </a:solidFill>
        </p:spPr>
        <p:txBody>
          <a:bodyPr wrap="square" lIns="0" tIns="0" rIns="0" bIns="0" rtlCol="0"/>
          <a:lstStyle/>
          <a:p>
            <a:endParaRPr sz="1588"/>
          </a:p>
        </p:txBody>
      </p:sp>
      <p:sp>
        <p:nvSpPr>
          <p:cNvPr id="5" name="object 5"/>
          <p:cNvSpPr txBox="1"/>
          <p:nvPr/>
        </p:nvSpPr>
        <p:spPr>
          <a:xfrm>
            <a:off x="2669241" y="694775"/>
            <a:ext cx="6908426" cy="679768"/>
          </a:xfrm>
          <a:prstGeom prst="rect">
            <a:avLst/>
          </a:prstGeom>
        </p:spPr>
        <p:txBody>
          <a:bodyPr vert="horz" wrap="square" lIns="0" tIns="11206" rIns="0" bIns="0" rtlCol="0">
            <a:spAutoFit/>
          </a:bodyPr>
          <a:lstStyle/>
          <a:p>
            <a:pPr marL="313781" indent="-302575">
              <a:spcBef>
                <a:spcPts val="88"/>
              </a:spcBef>
              <a:buFont typeface="Arial"/>
              <a:buChar char="•"/>
              <a:tabLst>
                <a:tab pos="313221" algn="l"/>
                <a:tab pos="313781" algn="l"/>
              </a:tabLst>
            </a:pPr>
            <a:r>
              <a:rPr sz="1765" b="1" dirty="0">
                <a:solidFill>
                  <a:srgbClr val="FF33CC"/>
                </a:solidFill>
                <a:latin typeface="Arial"/>
                <a:cs typeface="Arial"/>
              </a:rPr>
              <a:t>Example of tabular </a:t>
            </a:r>
            <a:r>
              <a:rPr sz="1765" b="1" spc="-9" dirty="0">
                <a:solidFill>
                  <a:srgbClr val="FF33CC"/>
                </a:solidFill>
                <a:latin typeface="Arial"/>
                <a:cs typeface="Arial"/>
              </a:rPr>
              <a:t>data </a:t>
            </a:r>
            <a:r>
              <a:rPr sz="1765" b="1" dirty="0">
                <a:solidFill>
                  <a:srgbClr val="FF33CC"/>
                </a:solidFill>
                <a:latin typeface="Arial"/>
                <a:cs typeface="Arial"/>
              </a:rPr>
              <a:t>in the relational</a:t>
            </a:r>
            <a:r>
              <a:rPr sz="1765" b="1" spc="-79" dirty="0">
                <a:solidFill>
                  <a:srgbClr val="FF33CC"/>
                </a:solidFill>
                <a:latin typeface="Arial"/>
                <a:cs typeface="Arial"/>
              </a:rPr>
              <a:t> </a:t>
            </a:r>
            <a:r>
              <a:rPr sz="1765" b="1" dirty="0">
                <a:solidFill>
                  <a:srgbClr val="FF33CC"/>
                </a:solidFill>
                <a:latin typeface="Arial"/>
                <a:cs typeface="Arial"/>
              </a:rPr>
              <a:t>model</a:t>
            </a:r>
            <a:endParaRPr sz="1765">
              <a:latin typeface="Arial"/>
              <a:cs typeface="Arial"/>
            </a:endParaRPr>
          </a:p>
          <a:p>
            <a:pPr marR="4483" algn="r">
              <a:spcBef>
                <a:spcPts val="1350"/>
              </a:spcBef>
            </a:pPr>
            <a:r>
              <a:rPr sz="1412" spc="-4" dirty="0">
                <a:latin typeface="Arial"/>
                <a:cs typeface="Arial"/>
              </a:rPr>
              <a:t>Attributes</a:t>
            </a:r>
            <a:endParaRPr sz="1412">
              <a:latin typeface="Arial"/>
              <a:cs typeface="Arial"/>
            </a:endParaRPr>
          </a:p>
        </p:txBody>
      </p:sp>
      <p:sp>
        <p:nvSpPr>
          <p:cNvPr id="6" name="object 6"/>
          <p:cNvSpPr/>
          <p:nvPr/>
        </p:nvSpPr>
        <p:spPr>
          <a:xfrm>
            <a:off x="7595346" y="1385047"/>
            <a:ext cx="1335741" cy="560854"/>
          </a:xfrm>
          <a:custGeom>
            <a:avLst/>
            <a:gdLst/>
            <a:ahLst/>
            <a:cxnLst/>
            <a:rect l="l" t="t" r="r" b="b"/>
            <a:pathLst>
              <a:path w="1513840" h="635635">
                <a:moveTo>
                  <a:pt x="54864" y="563879"/>
                </a:moveTo>
                <a:lnTo>
                  <a:pt x="0" y="629412"/>
                </a:lnTo>
                <a:lnTo>
                  <a:pt x="83820" y="635507"/>
                </a:lnTo>
                <a:lnTo>
                  <a:pt x="73346" y="609600"/>
                </a:lnTo>
                <a:lnTo>
                  <a:pt x="56388" y="609600"/>
                </a:lnTo>
                <a:lnTo>
                  <a:pt x="53340" y="606551"/>
                </a:lnTo>
                <a:lnTo>
                  <a:pt x="53340" y="603503"/>
                </a:lnTo>
                <a:lnTo>
                  <a:pt x="56388" y="600455"/>
                </a:lnTo>
                <a:lnTo>
                  <a:pt x="67749" y="595753"/>
                </a:lnTo>
                <a:lnTo>
                  <a:pt x="54864" y="563879"/>
                </a:lnTo>
                <a:close/>
              </a:path>
              <a:path w="1513840" h="635635">
                <a:moveTo>
                  <a:pt x="67749" y="595753"/>
                </a:moveTo>
                <a:lnTo>
                  <a:pt x="56388" y="600455"/>
                </a:lnTo>
                <a:lnTo>
                  <a:pt x="53340" y="603503"/>
                </a:lnTo>
                <a:lnTo>
                  <a:pt x="53340" y="606551"/>
                </a:lnTo>
                <a:lnTo>
                  <a:pt x="56388" y="609600"/>
                </a:lnTo>
                <a:lnTo>
                  <a:pt x="59436" y="609600"/>
                </a:lnTo>
                <a:lnTo>
                  <a:pt x="71352" y="604668"/>
                </a:lnTo>
                <a:lnTo>
                  <a:pt x="67749" y="595753"/>
                </a:lnTo>
                <a:close/>
              </a:path>
              <a:path w="1513840" h="635635">
                <a:moveTo>
                  <a:pt x="71352" y="604668"/>
                </a:moveTo>
                <a:lnTo>
                  <a:pt x="59436" y="609600"/>
                </a:lnTo>
                <a:lnTo>
                  <a:pt x="73346" y="609600"/>
                </a:lnTo>
                <a:lnTo>
                  <a:pt x="71352" y="604668"/>
                </a:lnTo>
                <a:close/>
              </a:path>
              <a:path w="1513840" h="635635">
                <a:moveTo>
                  <a:pt x="1507236" y="0"/>
                </a:moveTo>
                <a:lnTo>
                  <a:pt x="67749" y="595753"/>
                </a:lnTo>
                <a:lnTo>
                  <a:pt x="71352" y="604668"/>
                </a:lnTo>
                <a:lnTo>
                  <a:pt x="1510284" y="9143"/>
                </a:lnTo>
                <a:lnTo>
                  <a:pt x="1513332" y="7619"/>
                </a:lnTo>
                <a:lnTo>
                  <a:pt x="1513332" y="3047"/>
                </a:lnTo>
                <a:lnTo>
                  <a:pt x="1507236" y="0"/>
                </a:lnTo>
                <a:close/>
              </a:path>
            </a:pathLst>
          </a:custGeom>
          <a:solidFill>
            <a:srgbClr val="000000"/>
          </a:solidFill>
        </p:spPr>
        <p:txBody>
          <a:bodyPr wrap="square" lIns="0" tIns="0" rIns="0" bIns="0" rtlCol="0"/>
          <a:lstStyle/>
          <a:p>
            <a:endParaRPr sz="1588"/>
          </a:p>
        </p:txBody>
      </p:sp>
      <p:sp>
        <p:nvSpPr>
          <p:cNvPr id="7" name="object 7"/>
          <p:cNvSpPr/>
          <p:nvPr/>
        </p:nvSpPr>
        <p:spPr>
          <a:xfrm>
            <a:off x="2528494" y="2588559"/>
            <a:ext cx="340659" cy="67235"/>
          </a:xfrm>
          <a:custGeom>
            <a:avLst/>
            <a:gdLst/>
            <a:ahLst/>
            <a:cxnLst/>
            <a:rect l="l" t="t" r="r" b="b"/>
            <a:pathLst>
              <a:path w="386080" h="76200">
                <a:moveTo>
                  <a:pt x="309372" y="0"/>
                </a:moveTo>
                <a:lnTo>
                  <a:pt x="309372" y="76200"/>
                </a:lnTo>
                <a:lnTo>
                  <a:pt x="376427" y="42672"/>
                </a:lnTo>
                <a:lnTo>
                  <a:pt x="321563" y="42672"/>
                </a:lnTo>
                <a:lnTo>
                  <a:pt x="326135" y="41148"/>
                </a:lnTo>
                <a:lnTo>
                  <a:pt x="326135" y="35051"/>
                </a:lnTo>
                <a:lnTo>
                  <a:pt x="321563" y="33527"/>
                </a:lnTo>
                <a:lnTo>
                  <a:pt x="376427" y="33527"/>
                </a:lnTo>
                <a:lnTo>
                  <a:pt x="309372" y="0"/>
                </a:lnTo>
                <a:close/>
              </a:path>
              <a:path w="386080" h="76200">
                <a:moveTo>
                  <a:pt x="309372" y="33527"/>
                </a:moveTo>
                <a:lnTo>
                  <a:pt x="4571" y="33527"/>
                </a:lnTo>
                <a:lnTo>
                  <a:pt x="1524" y="35051"/>
                </a:lnTo>
                <a:lnTo>
                  <a:pt x="0" y="38100"/>
                </a:lnTo>
                <a:lnTo>
                  <a:pt x="1524" y="41148"/>
                </a:lnTo>
                <a:lnTo>
                  <a:pt x="4571" y="42672"/>
                </a:lnTo>
                <a:lnTo>
                  <a:pt x="309372" y="42672"/>
                </a:lnTo>
                <a:lnTo>
                  <a:pt x="309372" y="33527"/>
                </a:lnTo>
                <a:close/>
              </a:path>
              <a:path w="386080" h="76200">
                <a:moveTo>
                  <a:pt x="376427" y="33527"/>
                </a:moveTo>
                <a:lnTo>
                  <a:pt x="321563" y="33527"/>
                </a:lnTo>
                <a:lnTo>
                  <a:pt x="326135" y="35051"/>
                </a:lnTo>
                <a:lnTo>
                  <a:pt x="326135" y="41148"/>
                </a:lnTo>
                <a:lnTo>
                  <a:pt x="321563" y="42672"/>
                </a:lnTo>
                <a:lnTo>
                  <a:pt x="376427" y="42672"/>
                </a:lnTo>
                <a:lnTo>
                  <a:pt x="385572" y="38100"/>
                </a:lnTo>
                <a:lnTo>
                  <a:pt x="376427" y="33527"/>
                </a:lnTo>
                <a:close/>
              </a:path>
            </a:pathLst>
          </a:custGeom>
          <a:solidFill>
            <a:srgbClr val="000000"/>
          </a:solidFill>
        </p:spPr>
        <p:txBody>
          <a:bodyPr wrap="square" lIns="0" tIns="0" rIns="0" bIns="0" rtlCol="0"/>
          <a:lstStyle/>
          <a:p>
            <a:endParaRPr sz="1588"/>
          </a:p>
        </p:txBody>
      </p:sp>
      <p:sp>
        <p:nvSpPr>
          <p:cNvPr id="8" name="object 8"/>
          <p:cNvSpPr txBox="1"/>
          <p:nvPr/>
        </p:nvSpPr>
        <p:spPr>
          <a:xfrm>
            <a:off x="2131359" y="2511461"/>
            <a:ext cx="460001"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tuple</a:t>
            </a:r>
            <a:endParaRPr sz="1588">
              <a:latin typeface="Arial"/>
              <a:cs typeface="Arial"/>
            </a:endParaRPr>
          </a:p>
        </p:txBody>
      </p:sp>
      <p:sp>
        <p:nvSpPr>
          <p:cNvPr id="9" name="object 9"/>
          <p:cNvSpPr/>
          <p:nvPr/>
        </p:nvSpPr>
        <p:spPr>
          <a:xfrm>
            <a:off x="4411084" y="4769671"/>
            <a:ext cx="815228" cy="613522"/>
          </a:xfrm>
          <a:custGeom>
            <a:avLst/>
            <a:gdLst/>
            <a:ahLst/>
            <a:cxnLst/>
            <a:rect l="l" t="t" r="r" b="b"/>
            <a:pathLst>
              <a:path w="923925" h="695325">
                <a:moveTo>
                  <a:pt x="923544" y="3048"/>
                </a:moveTo>
                <a:lnTo>
                  <a:pt x="920496" y="0"/>
                </a:lnTo>
                <a:lnTo>
                  <a:pt x="915924" y="0"/>
                </a:lnTo>
                <a:lnTo>
                  <a:pt x="914400" y="1524"/>
                </a:lnTo>
                <a:lnTo>
                  <a:pt x="914400" y="4572"/>
                </a:lnTo>
                <a:lnTo>
                  <a:pt x="912939" y="33553"/>
                </a:lnTo>
                <a:lnTo>
                  <a:pt x="912876" y="35052"/>
                </a:lnTo>
                <a:lnTo>
                  <a:pt x="912876" y="33528"/>
                </a:lnTo>
                <a:lnTo>
                  <a:pt x="908304" y="62484"/>
                </a:lnTo>
                <a:lnTo>
                  <a:pt x="900684" y="88392"/>
                </a:lnTo>
                <a:lnTo>
                  <a:pt x="891540" y="111252"/>
                </a:lnTo>
                <a:lnTo>
                  <a:pt x="892048" y="111252"/>
                </a:lnTo>
                <a:lnTo>
                  <a:pt x="880872" y="128016"/>
                </a:lnTo>
                <a:lnTo>
                  <a:pt x="869835" y="140436"/>
                </a:lnTo>
                <a:lnTo>
                  <a:pt x="856653" y="148348"/>
                </a:lnTo>
                <a:lnTo>
                  <a:pt x="856488" y="147828"/>
                </a:lnTo>
                <a:lnTo>
                  <a:pt x="848868" y="150876"/>
                </a:lnTo>
                <a:lnTo>
                  <a:pt x="848956" y="151168"/>
                </a:lnTo>
                <a:lnTo>
                  <a:pt x="842772" y="152400"/>
                </a:lnTo>
                <a:lnTo>
                  <a:pt x="528828" y="152400"/>
                </a:lnTo>
                <a:lnTo>
                  <a:pt x="521208" y="155448"/>
                </a:lnTo>
                <a:lnTo>
                  <a:pt x="519684" y="155448"/>
                </a:lnTo>
                <a:lnTo>
                  <a:pt x="504444" y="164592"/>
                </a:lnTo>
                <a:lnTo>
                  <a:pt x="502920" y="166116"/>
                </a:lnTo>
                <a:lnTo>
                  <a:pt x="490728" y="179832"/>
                </a:lnTo>
                <a:lnTo>
                  <a:pt x="480060" y="198120"/>
                </a:lnTo>
                <a:lnTo>
                  <a:pt x="478536" y="199644"/>
                </a:lnTo>
                <a:lnTo>
                  <a:pt x="469392" y="222504"/>
                </a:lnTo>
                <a:lnTo>
                  <a:pt x="461772" y="248412"/>
                </a:lnTo>
                <a:lnTo>
                  <a:pt x="461162" y="254203"/>
                </a:lnTo>
                <a:lnTo>
                  <a:pt x="460248" y="248412"/>
                </a:lnTo>
                <a:lnTo>
                  <a:pt x="452628" y="222504"/>
                </a:lnTo>
                <a:lnTo>
                  <a:pt x="444703" y="202692"/>
                </a:lnTo>
                <a:lnTo>
                  <a:pt x="444093" y="201168"/>
                </a:lnTo>
                <a:lnTo>
                  <a:pt x="443484" y="199644"/>
                </a:lnTo>
                <a:lnTo>
                  <a:pt x="443484" y="198120"/>
                </a:lnTo>
                <a:lnTo>
                  <a:pt x="431292" y="179832"/>
                </a:lnTo>
                <a:lnTo>
                  <a:pt x="424510" y="172212"/>
                </a:lnTo>
                <a:lnTo>
                  <a:pt x="420446" y="167640"/>
                </a:lnTo>
                <a:lnTo>
                  <a:pt x="419100" y="166116"/>
                </a:lnTo>
                <a:lnTo>
                  <a:pt x="417576" y="164592"/>
                </a:lnTo>
                <a:lnTo>
                  <a:pt x="409956" y="160020"/>
                </a:lnTo>
                <a:lnTo>
                  <a:pt x="402336" y="155448"/>
                </a:lnTo>
                <a:lnTo>
                  <a:pt x="400812" y="155448"/>
                </a:lnTo>
                <a:lnTo>
                  <a:pt x="393192" y="152400"/>
                </a:lnTo>
                <a:lnTo>
                  <a:pt x="80772" y="152400"/>
                </a:lnTo>
                <a:lnTo>
                  <a:pt x="73152" y="150876"/>
                </a:lnTo>
                <a:lnTo>
                  <a:pt x="65532" y="147828"/>
                </a:lnTo>
                <a:lnTo>
                  <a:pt x="65354" y="148348"/>
                </a:lnTo>
                <a:lnTo>
                  <a:pt x="59423" y="144780"/>
                </a:lnTo>
                <a:lnTo>
                  <a:pt x="52171" y="140436"/>
                </a:lnTo>
                <a:lnTo>
                  <a:pt x="51981" y="140208"/>
                </a:lnTo>
                <a:lnTo>
                  <a:pt x="41148" y="128016"/>
                </a:lnTo>
                <a:lnTo>
                  <a:pt x="31356" y="111252"/>
                </a:lnTo>
                <a:lnTo>
                  <a:pt x="30480" y="109728"/>
                </a:lnTo>
                <a:lnTo>
                  <a:pt x="29933" y="109918"/>
                </a:lnTo>
                <a:lnTo>
                  <a:pt x="21336" y="88392"/>
                </a:lnTo>
                <a:lnTo>
                  <a:pt x="13716" y="62484"/>
                </a:lnTo>
                <a:lnTo>
                  <a:pt x="10820" y="35052"/>
                </a:lnTo>
                <a:lnTo>
                  <a:pt x="10668" y="33528"/>
                </a:lnTo>
                <a:lnTo>
                  <a:pt x="10668" y="35052"/>
                </a:lnTo>
                <a:lnTo>
                  <a:pt x="10591" y="33553"/>
                </a:lnTo>
                <a:lnTo>
                  <a:pt x="9144" y="4572"/>
                </a:lnTo>
                <a:lnTo>
                  <a:pt x="7620" y="3048"/>
                </a:lnTo>
                <a:lnTo>
                  <a:pt x="7620" y="1524"/>
                </a:lnTo>
                <a:lnTo>
                  <a:pt x="6096" y="0"/>
                </a:lnTo>
                <a:lnTo>
                  <a:pt x="1524" y="0"/>
                </a:lnTo>
                <a:lnTo>
                  <a:pt x="0" y="1524"/>
                </a:lnTo>
                <a:lnTo>
                  <a:pt x="76" y="4572"/>
                </a:lnTo>
                <a:lnTo>
                  <a:pt x="1524" y="33528"/>
                </a:lnTo>
                <a:lnTo>
                  <a:pt x="1524" y="35052"/>
                </a:lnTo>
                <a:lnTo>
                  <a:pt x="4572" y="64008"/>
                </a:lnTo>
                <a:lnTo>
                  <a:pt x="12192" y="89916"/>
                </a:lnTo>
                <a:lnTo>
                  <a:pt x="21336" y="112776"/>
                </a:lnTo>
                <a:lnTo>
                  <a:pt x="22860" y="114300"/>
                </a:lnTo>
                <a:lnTo>
                  <a:pt x="33528" y="132588"/>
                </a:lnTo>
                <a:lnTo>
                  <a:pt x="45720" y="146304"/>
                </a:lnTo>
                <a:lnTo>
                  <a:pt x="47244" y="147828"/>
                </a:lnTo>
                <a:lnTo>
                  <a:pt x="62484" y="156972"/>
                </a:lnTo>
                <a:lnTo>
                  <a:pt x="64008" y="156972"/>
                </a:lnTo>
                <a:lnTo>
                  <a:pt x="71628" y="160020"/>
                </a:lnTo>
                <a:lnTo>
                  <a:pt x="79248" y="161544"/>
                </a:lnTo>
                <a:lnTo>
                  <a:pt x="391668" y="161544"/>
                </a:lnTo>
                <a:lnTo>
                  <a:pt x="399288" y="164592"/>
                </a:lnTo>
                <a:lnTo>
                  <a:pt x="399453" y="164084"/>
                </a:lnTo>
                <a:lnTo>
                  <a:pt x="412635" y="171996"/>
                </a:lnTo>
                <a:lnTo>
                  <a:pt x="423672" y="184404"/>
                </a:lnTo>
                <a:lnTo>
                  <a:pt x="434848" y="201168"/>
                </a:lnTo>
                <a:lnTo>
                  <a:pt x="434340" y="201168"/>
                </a:lnTo>
                <a:lnTo>
                  <a:pt x="443484" y="224028"/>
                </a:lnTo>
                <a:lnTo>
                  <a:pt x="451104" y="249936"/>
                </a:lnTo>
                <a:lnTo>
                  <a:pt x="455676" y="278892"/>
                </a:lnTo>
                <a:lnTo>
                  <a:pt x="455676" y="277368"/>
                </a:lnTo>
                <a:lnTo>
                  <a:pt x="455739" y="278879"/>
                </a:lnTo>
                <a:lnTo>
                  <a:pt x="457200" y="307848"/>
                </a:lnTo>
                <a:lnTo>
                  <a:pt x="457200" y="309372"/>
                </a:lnTo>
                <a:lnTo>
                  <a:pt x="457276" y="307848"/>
                </a:lnTo>
                <a:lnTo>
                  <a:pt x="457200" y="310896"/>
                </a:lnTo>
                <a:lnTo>
                  <a:pt x="458724" y="312420"/>
                </a:lnTo>
                <a:lnTo>
                  <a:pt x="460248" y="312420"/>
                </a:lnTo>
                <a:lnTo>
                  <a:pt x="423672" y="385572"/>
                </a:lnTo>
                <a:lnTo>
                  <a:pt x="457200" y="385572"/>
                </a:lnTo>
                <a:lnTo>
                  <a:pt x="457200" y="690372"/>
                </a:lnTo>
                <a:lnTo>
                  <a:pt x="458724" y="693420"/>
                </a:lnTo>
                <a:lnTo>
                  <a:pt x="461772" y="694944"/>
                </a:lnTo>
                <a:lnTo>
                  <a:pt x="464820" y="693420"/>
                </a:lnTo>
                <a:lnTo>
                  <a:pt x="466344" y="690372"/>
                </a:lnTo>
                <a:lnTo>
                  <a:pt x="466344" y="385572"/>
                </a:lnTo>
                <a:lnTo>
                  <a:pt x="499872" y="385572"/>
                </a:lnTo>
                <a:lnTo>
                  <a:pt x="491490" y="368808"/>
                </a:lnTo>
                <a:lnTo>
                  <a:pt x="463296" y="312420"/>
                </a:lnTo>
                <a:lnTo>
                  <a:pt x="464820" y="310896"/>
                </a:lnTo>
                <a:lnTo>
                  <a:pt x="464820" y="309372"/>
                </a:lnTo>
                <a:lnTo>
                  <a:pt x="466344" y="309372"/>
                </a:lnTo>
                <a:lnTo>
                  <a:pt x="466267" y="307924"/>
                </a:lnTo>
                <a:lnTo>
                  <a:pt x="467791" y="278879"/>
                </a:lnTo>
                <a:lnTo>
                  <a:pt x="467868" y="277368"/>
                </a:lnTo>
                <a:lnTo>
                  <a:pt x="467868" y="278892"/>
                </a:lnTo>
                <a:lnTo>
                  <a:pt x="468020" y="277368"/>
                </a:lnTo>
                <a:lnTo>
                  <a:pt x="470916" y="249936"/>
                </a:lnTo>
                <a:lnTo>
                  <a:pt x="478536" y="224028"/>
                </a:lnTo>
                <a:lnTo>
                  <a:pt x="487133" y="202514"/>
                </a:lnTo>
                <a:lnTo>
                  <a:pt x="487680" y="202692"/>
                </a:lnTo>
                <a:lnTo>
                  <a:pt x="488569" y="201168"/>
                </a:lnTo>
                <a:lnTo>
                  <a:pt x="498348" y="184404"/>
                </a:lnTo>
                <a:lnTo>
                  <a:pt x="509181" y="172212"/>
                </a:lnTo>
                <a:lnTo>
                  <a:pt x="509371" y="171996"/>
                </a:lnTo>
                <a:lnTo>
                  <a:pt x="516636" y="167640"/>
                </a:lnTo>
                <a:lnTo>
                  <a:pt x="522554" y="164084"/>
                </a:lnTo>
                <a:lnTo>
                  <a:pt x="522732" y="164592"/>
                </a:lnTo>
                <a:lnTo>
                  <a:pt x="530352" y="161544"/>
                </a:lnTo>
                <a:lnTo>
                  <a:pt x="841248" y="161544"/>
                </a:lnTo>
                <a:lnTo>
                  <a:pt x="848868" y="160020"/>
                </a:lnTo>
                <a:lnTo>
                  <a:pt x="850392" y="160020"/>
                </a:lnTo>
                <a:lnTo>
                  <a:pt x="858012" y="156972"/>
                </a:lnTo>
                <a:lnTo>
                  <a:pt x="859536" y="156972"/>
                </a:lnTo>
                <a:lnTo>
                  <a:pt x="867156" y="152400"/>
                </a:lnTo>
                <a:lnTo>
                  <a:pt x="874776" y="147828"/>
                </a:lnTo>
                <a:lnTo>
                  <a:pt x="876300" y="146304"/>
                </a:lnTo>
                <a:lnTo>
                  <a:pt x="877646" y="144780"/>
                </a:lnTo>
                <a:lnTo>
                  <a:pt x="881710" y="140208"/>
                </a:lnTo>
                <a:lnTo>
                  <a:pt x="888492" y="132588"/>
                </a:lnTo>
                <a:lnTo>
                  <a:pt x="900684" y="114300"/>
                </a:lnTo>
                <a:lnTo>
                  <a:pt x="900684" y="112776"/>
                </a:lnTo>
                <a:lnTo>
                  <a:pt x="901293" y="111252"/>
                </a:lnTo>
                <a:lnTo>
                  <a:pt x="901903" y="109728"/>
                </a:lnTo>
                <a:lnTo>
                  <a:pt x="909828" y="89916"/>
                </a:lnTo>
                <a:lnTo>
                  <a:pt x="917448" y="64008"/>
                </a:lnTo>
                <a:lnTo>
                  <a:pt x="922020" y="35052"/>
                </a:lnTo>
                <a:lnTo>
                  <a:pt x="922020" y="33528"/>
                </a:lnTo>
                <a:lnTo>
                  <a:pt x="923544" y="3048"/>
                </a:lnTo>
                <a:close/>
              </a:path>
            </a:pathLst>
          </a:custGeom>
          <a:solidFill>
            <a:srgbClr val="000000"/>
          </a:solidFill>
        </p:spPr>
        <p:txBody>
          <a:bodyPr wrap="square" lIns="0" tIns="0" rIns="0" bIns="0" rtlCol="0"/>
          <a:lstStyle/>
          <a:p>
            <a:endParaRPr sz="1588"/>
          </a:p>
        </p:txBody>
      </p:sp>
      <p:sp>
        <p:nvSpPr>
          <p:cNvPr id="10" name="object 10"/>
          <p:cNvSpPr txBox="1"/>
          <p:nvPr/>
        </p:nvSpPr>
        <p:spPr>
          <a:xfrm>
            <a:off x="4619065" y="5537050"/>
            <a:ext cx="684119"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domain</a:t>
            </a:r>
            <a:endParaRPr sz="1588">
              <a:latin typeface="Arial"/>
              <a:cs typeface="Arial"/>
            </a:endParaRPr>
          </a:p>
        </p:txBody>
      </p:sp>
      <p:sp>
        <p:nvSpPr>
          <p:cNvPr id="11" name="object 11"/>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39103728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9912" y="688051"/>
            <a:ext cx="3237379" cy="282928"/>
          </a:xfrm>
          <a:prstGeom prst="rect">
            <a:avLst/>
          </a:prstGeom>
        </p:spPr>
        <p:txBody>
          <a:bodyPr vert="horz" wrap="square" lIns="0" tIns="11206" rIns="0" bIns="0" rtlCol="0">
            <a:spAutoFit/>
          </a:bodyPr>
          <a:lstStyle/>
          <a:p>
            <a:pPr marL="11206">
              <a:spcBef>
                <a:spcPts val="88"/>
              </a:spcBef>
            </a:pPr>
            <a:r>
              <a:rPr sz="1765" b="1" dirty="0">
                <a:solidFill>
                  <a:srgbClr val="FF33CC"/>
                </a:solidFill>
                <a:latin typeface="Arial"/>
                <a:cs typeface="Arial"/>
              </a:rPr>
              <a:t>A Sample Relational</a:t>
            </a:r>
            <a:r>
              <a:rPr sz="1765" b="1" spc="-84" dirty="0">
                <a:solidFill>
                  <a:srgbClr val="FF33CC"/>
                </a:solidFill>
                <a:latin typeface="Arial"/>
                <a:cs typeface="Arial"/>
              </a:rPr>
              <a:t> </a:t>
            </a:r>
            <a:r>
              <a:rPr sz="1765" b="1" dirty="0">
                <a:solidFill>
                  <a:srgbClr val="FF33CC"/>
                </a:solidFill>
                <a:latin typeface="Arial"/>
                <a:cs typeface="Arial"/>
              </a:rPr>
              <a:t>Database</a:t>
            </a:r>
            <a:endParaRPr sz="1765">
              <a:latin typeface="Arial"/>
              <a:cs typeface="Arial"/>
            </a:endParaRPr>
          </a:p>
        </p:txBody>
      </p:sp>
      <p:sp>
        <p:nvSpPr>
          <p:cNvPr id="3" name="object 3"/>
          <p:cNvSpPr/>
          <p:nvPr/>
        </p:nvSpPr>
        <p:spPr>
          <a:xfrm>
            <a:off x="2724893" y="1210235"/>
            <a:ext cx="5753925" cy="2251038"/>
          </a:xfrm>
          <a:prstGeom prst="rect">
            <a:avLst/>
          </a:prstGeom>
          <a:blipFill>
            <a:blip r:embed="rId2" cstate="print"/>
            <a:stretch>
              <a:fillRect/>
            </a:stretch>
          </a:blipFill>
        </p:spPr>
        <p:txBody>
          <a:bodyPr wrap="square" lIns="0" tIns="0" rIns="0" bIns="0" rtlCol="0"/>
          <a:lstStyle/>
          <a:p>
            <a:endParaRPr sz="1588"/>
          </a:p>
        </p:txBody>
      </p:sp>
      <p:sp>
        <p:nvSpPr>
          <p:cNvPr id="4" name="object 4"/>
          <p:cNvSpPr/>
          <p:nvPr/>
        </p:nvSpPr>
        <p:spPr>
          <a:xfrm>
            <a:off x="5620142" y="3563471"/>
            <a:ext cx="2972976" cy="2608729"/>
          </a:xfrm>
          <a:prstGeom prst="rect">
            <a:avLst/>
          </a:prstGeom>
          <a:blipFill>
            <a:blip r:embed="rId3" cstate="print"/>
            <a:stretch>
              <a:fillRect/>
            </a:stretch>
          </a:blipFill>
        </p:spPr>
        <p:txBody>
          <a:bodyPr wrap="square" lIns="0" tIns="0" rIns="0" bIns="0" rtlCol="0"/>
          <a:lstStyle/>
          <a:p>
            <a:endParaRPr sz="1588"/>
          </a:p>
        </p:txBody>
      </p:sp>
      <p:sp>
        <p:nvSpPr>
          <p:cNvPr id="5" name="object 5"/>
          <p:cNvSpPr/>
          <p:nvPr/>
        </p:nvSpPr>
        <p:spPr>
          <a:xfrm>
            <a:off x="2686961" y="3630706"/>
            <a:ext cx="2432782" cy="2261795"/>
          </a:xfrm>
          <a:prstGeom prst="rect">
            <a:avLst/>
          </a:prstGeom>
          <a:blipFill>
            <a:blip r:embed="rId4" cstate="print"/>
            <a:stretch>
              <a:fillRect/>
            </a:stretch>
          </a:blipFill>
        </p:spPr>
        <p:txBody>
          <a:bodyPr wrap="square" lIns="0" tIns="0" rIns="0" bIns="0" rtlCol="0"/>
          <a:lstStyle/>
          <a:p>
            <a:endParaRPr sz="1588"/>
          </a:p>
        </p:txBody>
      </p:sp>
      <p:sp>
        <p:nvSpPr>
          <p:cNvPr id="6" name="object 6"/>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9857698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67517" y="830580"/>
            <a:ext cx="7107331" cy="4639762"/>
          </a:xfrm>
          <a:prstGeom prst="rect">
            <a:avLst/>
          </a:prstGeom>
        </p:spPr>
        <p:txBody>
          <a:bodyPr vert="horz" wrap="square" lIns="0" tIns="11206" rIns="0" bIns="0" rtlCol="0">
            <a:spAutoFit/>
          </a:bodyPr>
          <a:lstStyle/>
          <a:p>
            <a:pPr marL="11206">
              <a:spcBef>
                <a:spcPts val="88"/>
              </a:spcBef>
            </a:pPr>
            <a:r>
              <a:rPr sz="1588" spc="-4" dirty="0">
                <a:solidFill>
                  <a:srgbClr val="FF33CC"/>
                </a:solidFill>
                <a:latin typeface="Arial"/>
                <a:cs typeface="Arial"/>
              </a:rPr>
              <a:t>Advantages:</a:t>
            </a:r>
            <a:endParaRPr sz="1588">
              <a:latin typeface="Arial"/>
              <a:cs typeface="Arial"/>
            </a:endParaRPr>
          </a:p>
          <a:p>
            <a:pPr>
              <a:spcBef>
                <a:spcPts val="31"/>
              </a:spcBef>
            </a:pPr>
            <a:endParaRPr sz="1456">
              <a:latin typeface="Arial"/>
              <a:cs typeface="Arial"/>
            </a:endParaRPr>
          </a:p>
          <a:p>
            <a:pPr marL="11206" marR="4483">
              <a:lnSpc>
                <a:spcPct val="100299"/>
              </a:lnSpc>
              <a:buSzPct val="93750"/>
              <a:buFont typeface="Arial"/>
              <a:buChar char="•"/>
              <a:tabLst>
                <a:tab pos="74523" algn="l"/>
              </a:tabLst>
            </a:pPr>
            <a:r>
              <a:rPr sz="1412" b="1" spc="-4" dirty="0">
                <a:latin typeface="Arial"/>
                <a:cs typeface="Arial"/>
              </a:rPr>
              <a:t>Structural </a:t>
            </a:r>
            <a:r>
              <a:rPr sz="1412" b="1" dirty="0">
                <a:latin typeface="Arial"/>
                <a:cs typeface="Arial"/>
              </a:rPr>
              <a:t>independence: </a:t>
            </a:r>
            <a:r>
              <a:rPr sz="1412" spc="-4" dirty="0">
                <a:latin typeface="Arial"/>
                <a:cs typeface="Arial"/>
              </a:rPr>
              <a:t>when it is possible to </a:t>
            </a:r>
            <a:r>
              <a:rPr sz="1412" spc="4" dirty="0">
                <a:latin typeface="Arial"/>
                <a:cs typeface="Arial"/>
              </a:rPr>
              <a:t>make </a:t>
            </a:r>
            <a:r>
              <a:rPr sz="1412" spc="-4" dirty="0">
                <a:latin typeface="Arial"/>
                <a:cs typeface="Arial"/>
              </a:rPr>
              <a:t>change to the </a:t>
            </a:r>
            <a:r>
              <a:rPr sz="1412" dirty="0">
                <a:latin typeface="Arial"/>
                <a:cs typeface="Arial"/>
              </a:rPr>
              <a:t>database </a:t>
            </a:r>
            <a:r>
              <a:rPr sz="1412" spc="-4" dirty="0">
                <a:latin typeface="Arial"/>
                <a:cs typeface="Arial"/>
              </a:rPr>
              <a:t>structure  without affecting the DBMS ‘s </a:t>
            </a:r>
            <a:r>
              <a:rPr sz="1412" dirty="0">
                <a:latin typeface="Arial"/>
                <a:cs typeface="Arial"/>
              </a:rPr>
              <a:t>capability </a:t>
            </a:r>
            <a:r>
              <a:rPr sz="1412" spc="-4" dirty="0">
                <a:latin typeface="Arial"/>
                <a:cs typeface="Arial"/>
              </a:rPr>
              <a:t>to access data, we can say </a:t>
            </a:r>
            <a:r>
              <a:rPr sz="1412" spc="4" dirty="0">
                <a:latin typeface="Arial"/>
                <a:cs typeface="Arial"/>
              </a:rPr>
              <a:t>that </a:t>
            </a:r>
            <a:r>
              <a:rPr sz="1412" dirty="0">
                <a:latin typeface="Arial"/>
                <a:cs typeface="Arial"/>
              </a:rPr>
              <a:t>structural  </a:t>
            </a:r>
            <a:r>
              <a:rPr sz="1412" spc="-4" dirty="0">
                <a:latin typeface="Arial"/>
                <a:cs typeface="Arial"/>
              </a:rPr>
              <a:t>independence In relational database changes in database do not affect the data</a:t>
            </a:r>
            <a:r>
              <a:rPr sz="1412" spc="185" dirty="0">
                <a:latin typeface="Arial"/>
                <a:cs typeface="Arial"/>
              </a:rPr>
              <a:t> </a:t>
            </a:r>
            <a:r>
              <a:rPr sz="1412" dirty="0">
                <a:latin typeface="Arial"/>
                <a:cs typeface="Arial"/>
              </a:rPr>
              <a:t>access</a:t>
            </a:r>
            <a:endParaRPr sz="1412">
              <a:latin typeface="Arial"/>
              <a:cs typeface="Arial"/>
            </a:endParaRPr>
          </a:p>
          <a:p>
            <a:pPr>
              <a:spcBef>
                <a:spcPts val="26"/>
              </a:spcBef>
              <a:buFont typeface="Arial"/>
              <a:buChar char="•"/>
            </a:pPr>
            <a:endParaRPr sz="1456">
              <a:latin typeface="Arial"/>
              <a:cs typeface="Arial"/>
            </a:endParaRPr>
          </a:p>
          <a:p>
            <a:pPr marL="11206" marR="500369" algn="just">
              <a:lnSpc>
                <a:spcPct val="100299"/>
              </a:lnSpc>
              <a:buSzPct val="93750"/>
              <a:buFont typeface="Arial"/>
              <a:buChar char="•"/>
              <a:tabLst>
                <a:tab pos="74523" algn="l"/>
              </a:tabLst>
            </a:pPr>
            <a:r>
              <a:rPr sz="1412" b="1" spc="-4" dirty="0">
                <a:latin typeface="Arial"/>
                <a:cs typeface="Arial"/>
              </a:rPr>
              <a:t>Conceptual </a:t>
            </a:r>
            <a:r>
              <a:rPr sz="1412" b="1" dirty="0">
                <a:latin typeface="Arial"/>
                <a:cs typeface="Arial"/>
              </a:rPr>
              <a:t>simplicity: </a:t>
            </a:r>
            <a:r>
              <a:rPr sz="1412" spc="-4" dirty="0">
                <a:latin typeface="Arial"/>
                <a:cs typeface="Arial"/>
              </a:rPr>
              <a:t>Relational database model </a:t>
            </a:r>
            <a:r>
              <a:rPr sz="1412" spc="9" dirty="0">
                <a:latin typeface="Arial"/>
                <a:cs typeface="Arial"/>
              </a:rPr>
              <a:t>is </a:t>
            </a:r>
            <a:r>
              <a:rPr sz="1412" spc="-4" dirty="0">
                <a:latin typeface="Arial"/>
                <a:cs typeface="Arial"/>
              </a:rPr>
              <a:t>simpler at </a:t>
            </a:r>
            <a:r>
              <a:rPr sz="1412" dirty="0">
                <a:latin typeface="Arial"/>
                <a:cs typeface="Arial"/>
              </a:rPr>
              <a:t>conceptual </a:t>
            </a:r>
            <a:r>
              <a:rPr sz="1412" spc="-4" dirty="0">
                <a:latin typeface="Arial"/>
                <a:cs typeface="Arial"/>
              </a:rPr>
              <a:t>level.  since the relational model frees the designer </a:t>
            </a:r>
            <a:r>
              <a:rPr sz="1412" spc="4" dirty="0">
                <a:latin typeface="Arial"/>
                <a:cs typeface="Arial"/>
              </a:rPr>
              <a:t>from </a:t>
            </a:r>
            <a:r>
              <a:rPr sz="1412" spc="-4" dirty="0">
                <a:latin typeface="Arial"/>
                <a:cs typeface="Arial"/>
              </a:rPr>
              <a:t>the </a:t>
            </a:r>
            <a:r>
              <a:rPr sz="1412" dirty="0">
                <a:latin typeface="Arial"/>
                <a:cs typeface="Arial"/>
              </a:rPr>
              <a:t>physical </a:t>
            </a:r>
            <a:r>
              <a:rPr sz="1412" spc="-4" dirty="0">
                <a:latin typeface="Arial"/>
                <a:cs typeface="Arial"/>
              </a:rPr>
              <a:t>data storage </a:t>
            </a:r>
            <a:r>
              <a:rPr sz="1412" dirty="0">
                <a:latin typeface="Arial"/>
                <a:cs typeface="Arial"/>
              </a:rPr>
              <a:t>details,  </a:t>
            </a:r>
            <a:r>
              <a:rPr sz="1412" spc="-4" dirty="0">
                <a:latin typeface="Arial"/>
                <a:cs typeface="Arial"/>
              </a:rPr>
              <a:t>the designer can </a:t>
            </a:r>
            <a:r>
              <a:rPr sz="1412" dirty="0">
                <a:latin typeface="Arial"/>
                <a:cs typeface="Arial"/>
              </a:rPr>
              <a:t>concentrate </a:t>
            </a:r>
            <a:r>
              <a:rPr sz="1412" spc="-4" dirty="0">
                <a:latin typeface="Arial"/>
                <a:cs typeface="Arial"/>
              </a:rPr>
              <a:t>on </a:t>
            </a:r>
            <a:r>
              <a:rPr sz="1412" dirty="0">
                <a:latin typeface="Arial"/>
                <a:cs typeface="Arial"/>
              </a:rPr>
              <a:t>logical </a:t>
            </a:r>
            <a:r>
              <a:rPr sz="1412" spc="-4" dirty="0">
                <a:latin typeface="Arial"/>
                <a:cs typeface="Arial"/>
              </a:rPr>
              <a:t>view of data</a:t>
            </a:r>
            <a:r>
              <a:rPr sz="1412" spc="-13" dirty="0">
                <a:latin typeface="Arial"/>
                <a:cs typeface="Arial"/>
              </a:rPr>
              <a:t> </a:t>
            </a:r>
            <a:r>
              <a:rPr sz="1412" spc="-4" dirty="0">
                <a:latin typeface="Arial"/>
                <a:cs typeface="Arial"/>
              </a:rPr>
              <a:t>base</a:t>
            </a:r>
            <a:endParaRPr sz="1412">
              <a:latin typeface="Arial"/>
              <a:cs typeface="Arial"/>
            </a:endParaRPr>
          </a:p>
          <a:p>
            <a:pPr>
              <a:spcBef>
                <a:spcPts val="31"/>
              </a:spcBef>
              <a:buFont typeface="Arial"/>
              <a:buChar char="•"/>
            </a:pPr>
            <a:endParaRPr sz="1456">
              <a:latin typeface="Arial"/>
              <a:cs typeface="Arial"/>
            </a:endParaRPr>
          </a:p>
          <a:p>
            <a:pPr marL="11206" marR="459466">
              <a:buSzPct val="93750"/>
              <a:buFont typeface="Arial"/>
              <a:buChar char="•"/>
              <a:tabLst>
                <a:tab pos="74523" algn="l"/>
              </a:tabLst>
            </a:pPr>
            <a:r>
              <a:rPr sz="1412" b="1" spc="-4" dirty="0">
                <a:latin typeface="Arial"/>
                <a:cs typeface="Arial"/>
              </a:rPr>
              <a:t>Design </a:t>
            </a:r>
            <a:r>
              <a:rPr sz="1412" b="1" dirty="0">
                <a:latin typeface="Arial"/>
                <a:cs typeface="Arial"/>
              </a:rPr>
              <a:t>implementation, maintenance </a:t>
            </a:r>
            <a:r>
              <a:rPr sz="1412" b="1" spc="-4" dirty="0">
                <a:latin typeface="Arial"/>
                <a:cs typeface="Arial"/>
              </a:rPr>
              <a:t>&amp; usage ease: </a:t>
            </a:r>
            <a:r>
              <a:rPr sz="1412" b="1" dirty="0">
                <a:latin typeface="Arial"/>
                <a:cs typeface="Arial"/>
              </a:rPr>
              <a:t>relational </a:t>
            </a:r>
            <a:r>
              <a:rPr sz="1412" spc="-4" dirty="0">
                <a:latin typeface="Arial"/>
                <a:cs typeface="Arial"/>
              </a:rPr>
              <a:t>model achieves  both data independence &amp; structural </a:t>
            </a:r>
            <a:r>
              <a:rPr sz="1412" dirty="0">
                <a:latin typeface="Arial"/>
                <a:cs typeface="Arial"/>
              </a:rPr>
              <a:t>independence </a:t>
            </a:r>
            <a:r>
              <a:rPr sz="1412" spc="-4" dirty="0">
                <a:latin typeface="Arial"/>
                <a:cs typeface="Arial"/>
              </a:rPr>
              <a:t>making the </a:t>
            </a:r>
            <a:r>
              <a:rPr sz="1412" dirty="0">
                <a:latin typeface="Arial"/>
                <a:cs typeface="Arial"/>
              </a:rPr>
              <a:t>database </a:t>
            </a:r>
            <a:r>
              <a:rPr sz="1412" spc="-4" dirty="0">
                <a:latin typeface="Arial"/>
                <a:cs typeface="Arial"/>
              </a:rPr>
              <a:t>design ,  maintenance, administration </a:t>
            </a:r>
            <a:r>
              <a:rPr sz="1412" spc="9" dirty="0">
                <a:latin typeface="Arial"/>
                <a:cs typeface="Arial"/>
              </a:rPr>
              <a:t>?&amp; </a:t>
            </a:r>
            <a:r>
              <a:rPr sz="1412" spc="-4" dirty="0">
                <a:latin typeface="Arial"/>
                <a:cs typeface="Arial"/>
              </a:rPr>
              <a:t>usage much easier than other</a:t>
            </a:r>
            <a:r>
              <a:rPr sz="1412" spc="57" dirty="0">
                <a:latin typeface="Arial"/>
                <a:cs typeface="Arial"/>
              </a:rPr>
              <a:t> </a:t>
            </a:r>
            <a:r>
              <a:rPr sz="1412" spc="-4" dirty="0">
                <a:latin typeface="Arial"/>
                <a:cs typeface="Arial"/>
              </a:rPr>
              <a:t>models</a:t>
            </a:r>
            <a:endParaRPr sz="1412">
              <a:latin typeface="Arial"/>
              <a:cs typeface="Arial"/>
            </a:endParaRPr>
          </a:p>
          <a:p>
            <a:pPr>
              <a:spcBef>
                <a:spcPts val="31"/>
              </a:spcBef>
            </a:pPr>
            <a:endParaRPr sz="1456">
              <a:latin typeface="Arial"/>
              <a:cs typeface="Arial"/>
            </a:endParaRPr>
          </a:p>
          <a:p>
            <a:pPr marL="11206"/>
            <a:r>
              <a:rPr sz="1412" b="1" spc="-4" dirty="0">
                <a:solidFill>
                  <a:srgbClr val="FF33CC"/>
                </a:solidFill>
                <a:latin typeface="Arial"/>
                <a:cs typeface="Arial"/>
              </a:rPr>
              <a:t>Disadvantages:</a:t>
            </a:r>
            <a:endParaRPr sz="1412">
              <a:latin typeface="Arial"/>
              <a:cs typeface="Arial"/>
            </a:endParaRPr>
          </a:p>
          <a:p>
            <a:pPr>
              <a:spcBef>
                <a:spcPts val="26"/>
              </a:spcBef>
            </a:pPr>
            <a:endParaRPr sz="1456">
              <a:latin typeface="Arial"/>
              <a:cs typeface="Arial"/>
            </a:endParaRPr>
          </a:p>
          <a:p>
            <a:pPr marL="11206">
              <a:spcBef>
                <a:spcPts val="4"/>
              </a:spcBef>
            </a:pPr>
            <a:r>
              <a:rPr sz="1412" spc="-4" dirty="0">
                <a:latin typeface="Arial"/>
                <a:cs typeface="Arial"/>
              </a:rPr>
              <a:t>•Significant hardware &amp; </a:t>
            </a:r>
            <a:r>
              <a:rPr sz="1412" dirty="0">
                <a:latin typeface="Arial"/>
                <a:cs typeface="Arial"/>
              </a:rPr>
              <a:t>software</a:t>
            </a:r>
            <a:r>
              <a:rPr sz="1412" spc="-4" dirty="0">
                <a:latin typeface="Arial"/>
                <a:cs typeface="Arial"/>
              </a:rPr>
              <a:t> overheads</a:t>
            </a:r>
            <a:endParaRPr sz="1412">
              <a:latin typeface="Arial"/>
              <a:cs typeface="Arial"/>
            </a:endParaRPr>
          </a:p>
          <a:p>
            <a:pPr marL="11206" marR="742429">
              <a:lnSpc>
                <a:spcPct val="200599"/>
              </a:lnSpc>
            </a:pPr>
            <a:r>
              <a:rPr sz="1412" spc="-4" dirty="0">
                <a:latin typeface="Arial"/>
                <a:cs typeface="Arial"/>
              </a:rPr>
              <a:t>•Not as good for transaction </a:t>
            </a:r>
            <a:r>
              <a:rPr sz="1412" dirty="0">
                <a:latin typeface="Arial"/>
                <a:cs typeface="Arial"/>
              </a:rPr>
              <a:t>process </a:t>
            </a:r>
            <a:r>
              <a:rPr sz="1412" spc="-4" dirty="0">
                <a:latin typeface="Arial"/>
                <a:cs typeface="Arial"/>
              </a:rPr>
              <a:t>modeling as </a:t>
            </a:r>
            <a:r>
              <a:rPr sz="1412" dirty="0">
                <a:latin typeface="Arial"/>
                <a:cs typeface="Arial"/>
              </a:rPr>
              <a:t>hierarchical </a:t>
            </a:r>
            <a:r>
              <a:rPr sz="1412" spc="-4" dirty="0">
                <a:latin typeface="Arial"/>
                <a:cs typeface="Arial"/>
              </a:rPr>
              <a:t>&amp; network models  May have slower </a:t>
            </a:r>
            <a:r>
              <a:rPr sz="1412" dirty="0">
                <a:latin typeface="Arial"/>
                <a:cs typeface="Arial"/>
              </a:rPr>
              <a:t>processing </a:t>
            </a:r>
            <a:r>
              <a:rPr sz="1412" spc="-4" dirty="0">
                <a:latin typeface="Arial"/>
                <a:cs typeface="Arial"/>
              </a:rPr>
              <a:t>times than </a:t>
            </a:r>
            <a:r>
              <a:rPr sz="1412" dirty="0">
                <a:latin typeface="Arial"/>
                <a:cs typeface="Arial"/>
              </a:rPr>
              <a:t>hierarchical </a:t>
            </a:r>
            <a:r>
              <a:rPr sz="1412" spc="-4" dirty="0">
                <a:latin typeface="Arial"/>
                <a:cs typeface="Arial"/>
              </a:rPr>
              <a:t>&amp; network</a:t>
            </a:r>
            <a:r>
              <a:rPr sz="1412" spc="-9" dirty="0">
                <a:latin typeface="Arial"/>
                <a:cs typeface="Arial"/>
              </a:rPr>
              <a:t> </a:t>
            </a:r>
            <a:r>
              <a:rPr sz="1412" spc="4" dirty="0">
                <a:latin typeface="Arial"/>
                <a:cs typeface="Arial"/>
              </a:rPr>
              <a:t>model</a:t>
            </a:r>
            <a:endParaRPr sz="1412">
              <a:latin typeface="Arial"/>
              <a:cs typeface="Arial"/>
            </a:endParaRPr>
          </a:p>
        </p:txBody>
      </p:sp>
      <p:sp>
        <p:nvSpPr>
          <p:cNvPr id="3" name="object 3"/>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8836452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5569" y="766503"/>
            <a:ext cx="2089337" cy="282928"/>
          </a:xfrm>
          <a:prstGeom prst="rect">
            <a:avLst/>
          </a:prstGeom>
        </p:spPr>
        <p:txBody>
          <a:bodyPr vert="horz" wrap="square" lIns="0" tIns="11206" rIns="0" bIns="0" rtlCol="0" anchor="ctr">
            <a:spAutoFit/>
          </a:bodyPr>
          <a:lstStyle/>
          <a:p>
            <a:pPr marL="11206">
              <a:lnSpc>
                <a:spcPct val="100000"/>
              </a:lnSpc>
              <a:spcBef>
                <a:spcPts val="88"/>
              </a:spcBef>
            </a:pPr>
            <a:r>
              <a:rPr sz="1765" b="1" dirty="0">
                <a:solidFill>
                  <a:srgbClr val="FF0000"/>
                </a:solidFill>
                <a:latin typeface="Arial"/>
                <a:cs typeface="Arial"/>
              </a:rPr>
              <a:t>Hierarchical</a:t>
            </a:r>
            <a:r>
              <a:rPr sz="1765" b="1" spc="-40" dirty="0">
                <a:solidFill>
                  <a:srgbClr val="FF0000"/>
                </a:solidFill>
                <a:latin typeface="Arial"/>
                <a:cs typeface="Arial"/>
              </a:rPr>
              <a:t> </a:t>
            </a:r>
            <a:r>
              <a:rPr sz="1765" b="1" spc="-9" dirty="0">
                <a:solidFill>
                  <a:srgbClr val="FF0000"/>
                </a:solidFill>
                <a:latin typeface="Arial"/>
                <a:cs typeface="Arial"/>
              </a:rPr>
              <a:t>Model-</a:t>
            </a:r>
            <a:endParaRPr sz="1765">
              <a:latin typeface="Arial"/>
              <a:cs typeface="Arial"/>
            </a:endParaRPr>
          </a:p>
        </p:txBody>
      </p:sp>
      <p:sp>
        <p:nvSpPr>
          <p:cNvPr id="3" name="object 3"/>
          <p:cNvSpPr txBox="1"/>
          <p:nvPr/>
        </p:nvSpPr>
        <p:spPr>
          <a:xfrm>
            <a:off x="2803711" y="1154654"/>
            <a:ext cx="6062382" cy="872641"/>
          </a:xfrm>
          <a:prstGeom prst="rect">
            <a:avLst/>
          </a:prstGeom>
        </p:spPr>
        <p:txBody>
          <a:bodyPr vert="horz" wrap="square" lIns="0" tIns="11206" rIns="0" bIns="0" rtlCol="0">
            <a:spAutoFit/>
          </a:bodyPr>
          <a:lstStyle/>
          <a:p>
            <a:pPr marL="11206" marR="4483">
              <a:spcBef>
                <a:spcPts val="88"/>
              </a:spcBef>
            </a:pPr>
            <a:r>
              <a:rPr sz="1588" dirty="0">
                <a:latin typeface="Arial"/>
                <a:cs typeface="Arial"/>
              </a:rPr>
              <a:t>It </a:t>
            </a:r>
            <a:r>
              <a:rPr sz="1588" spc="-4" dirty="0">
                <a:latin typeface="Arial"/>
                <a:cs typeface="Arial"/>
              </a:rPr>
              <a:t>is a kind </a:t>
            </a:r>
            <a:r>
              <a:rPr sz="1588" dirty="0">
                <a:latin typeface="Arial"/>
                <a:cs typeface="Arial"/>
              </a:rPr>
              <a:t>of </a:t>
            </a:r>
            <a:r>
              <a:rPr sz="1588" spc="-4" dirty="0">
                <a:latin typeface="Arial"/>
                <a:cs typeface="Arial"/>
              </a:rPr>
              <a:t>data management </a:t>
            </a:r>
            <a:r>
              <a:rPr sz="1588" dirty="0">
                <a:latin typeface="Arial"/>
                <a:cs typeface="Arial"/>
              </a:rPr>
              <a:t>system that </a:t>
            </a:r>
            <a:r>
              <a:rPr sz="1588" spc="-4" dirty="0">
                <a:latin typeface="Arial"/>
                <a:cs typeface="Arial"/>
              </a:rPr>
              <a:t>links </a:t>
            </a:r>
            <a:r>
              <a:rPr sz="1588" dirty="0">
                <a:latin typeface="Arial"/>
                <a:cs typeface="Arial"/>
              </a:rPr>
              <a:t>the </a:t>
            </a:r>
            <a:r>
              <a:rPr sz="1588" spc="-4" dirty="0">
                <a:latin typeface="Arial"/>
                <a:cs typeface="Arial"/>
              </a:rPr>
              <a:t>records in </a:t>
            </a:r>
            <a:r>
              <a:rPr sz="1588" dirty="0">
                <a:latin typeface="Arial"/>
                <a:cs typeface="Arial"/>
              </a:rPr>
              <a:t>tree  </a:t>
            </a:r>
            <a:r>
              <a:rPr sz="1588" spc="-4" dirty="0">
                <a:latin typeface="Arial"/>
                <a:cs typeface="Arial"/>
              </a:rPr>
              <a:t>data </a:t>
            </a:r>
            <a:r>
              <a:rPr sz="1588" dirty="0">
                <a:latin typeface="Arial"/>
                <a:cs typeface="Arial"/>
              </a:rPr>
              <a:t>structure </a:t>
            </a:r>
            <a:r>
              <a:rPr sz="1588" spc="-4" dirty="0">
                <a:latin typeface="Arial"/>
                <a:cs typeface="Arial"/>
              </a:rPr>
              <a:t>such </a:t>
            </a:r>
            <a:r>
              <a:rPr sz="1588" dirty="0">
                <a:latin typeface="Arial"/>
                <a:cs typeface="Arial"/>
              </a:rPr>
              <a:t>that </a:t>
            </a:r>
            <a:r>
              <a:rPr sz="1588" spc="-4" dirty="0">
                <a:latin typeface="Arial"/>
                <a:cs typeface="Arial"/>
              </a:rPr>
              <a:t>each record </a:t>
            </a:r>
            <a:r>
              <a:rPr sz="1588" dirty="0">
                <a:latin typeface="Arial"/>
                <a:cs typeface="Arial"/>
              </a:rPr>
              <a:t>type </a:t>
            </a:r>
            <a:r>
              <a:rPr sz="1588" spc="-4" dirty="0">
                <a:latin typeface="Arial"/>
                <a:cs typeface="Arial"/>
              </a:rPr>
              <a:t>has only one</a:t>
            </a:r>
            <a:r>
              <a:rPr sz="1588" spc="9" dirty="0">
                <a:latin typeface="Arial"/>
                <a:cs typeface="Arial"/>
              </a:rPr>
              <a:t> </a:t>
            </a:r>
            <a:r>
              <a:rPr sz="1588" spc="-4" dirty="0">
                <a:latin typeface="Arial"/>
                <a:cs typeface="Arial"/>
              </a:rPr>
              <a:t>owner</a:t>
            </a:r>
            <a:endParaRPr sz="1588">
              <a:latin typeface="Arial"/>
              <a:cs typeface="Arial"/>
            </a:endParaRPr>
          </a:p>
          <a:p>
            <a:pPr marL="11206">
              <a:spcBef>
                <a:spcPts val="962"/>
              </a:spcBef>
            </a:pPr>
            <a:r>
              <a:rPr sz="1588" dirty="0">
                <a:latin typeface="Arial"/>
                <a:cs typeface="Arial"/>
              </a:rPr>
              <a:t>.</a:t>
            </a:r>
            <a:endParaRPr sz="1588">
              <a:latin typeface="Arial"/>
              <a:cs typeface="Arial"/>
            </a:endParaRPr>
          </a:p>
        </p:txBody>
      </p:sp>
      <p:sp>
        <p:nvSpPr>
          <p:cNvPr id="4" name="object 4"/>
          <p:cNvSpPr txBox="1"/>
          <p:nvPr/>
        </p:nvSpPr>
        <p:spPr>
          <a:xfrm>
            <a:off x="3739628" y="5858445"/>
            <a:ext cx="3075454" cy="282928"/>
          </a:xfrm>
          <a:prstGeom prst="rect">
            <a:avLst/>
          </a:prstGeom>
        </p:spPr>
        <p:txBody>
          <a:bodyPr vert="horz" wrap="square" lIns="0" tIns="11206" rIns="0" bIns="0" rtlCol="0">
            <a:spAutoFit/>
          </a:bodyPr>
          <a:lstStyle/>
          <a:p>
            <a:pPr marL="11206">
              <a:spcBef>
                <a:spcPts val="88"/>
              </a:spcBef>
            </a:pPr>
            <a:r>
              <a:rPr sz="1765" b="1" dirty="0">
                <a:latin typeface="Arial"/>
                <a:cs typeface="Arial"/>
              </a:rPr>
              <a:t>A sample </a:t>
            </a:r>
            <a:r>
              <a:rPr sz="1765" b="1" spc="-4" dirty="0">
                <a:latin typeface="Arial"/>
                <a:cs typeface="Arial"/>
              </a:rPr>
              <a:t>Hierarchical</a:t>
            </a:r>
            <a:r>
              <a:rPr sz="1765" b="1" spc="-31" dirty="0">
                <a:latin typeface="Arial"/>
                <a:cs typeface="Arial"/>
              </a:rPr>
              <a:t> </a:t>
            </a:r>
            <a:r>
              <a:rPr sz="1765" b="1" dirty="0">
                <a:latin typeface="Arial"/>
                <a:cs typeface="Arial"/>
              </a:rPr>
              <a:t>Model</a:t>
            </a:r>
            <a:endParaRPr sz="1765">
              <a:latin typeface="Arial"/>
              <a:cs typeface="Arial"/>
            </a:endParaRPr>
          </a:p>
        </p:txBody>
      </p:sp>
      <p:sp>
        <p:nvSpPr>
          <p:cNvPr id="5" name="object 5"/>
          <p:cNvSpPr/>
          <p:nvPr/>
        </p:nvSpPr>
        <p:spPr>
          <a:xfrm>
            <a:off x="5285143" y="3074893"/>
            <a:ext cx="2294404" cy="8965"/>
          </a:xfrm>
          <a:custGeom>
            <a:avLst/>
            <a:gdLst/>
            <a:ahLst/>
            <a:cxnLst/>
            <a:rect l="l" t="t" r="r" b="b"/>
            <a:pathLst>
              <a:path w="2600325" h="10160">
                <a:moveTo>
                  <a:pt x="2599944" y="0"/>
                </a:moveTo>
                <a:lnTo>
                  <a:pt x="0" y="0"/>
                </a:lnTo>
                <a:lnTo>
                  <a:pt x="0" y="5080"/>
                </a:lnTo>
                <a:lnTo>
                  <a:pt x="9144" y="5080"/>
                </a:lnTo>
                <a:lnTo>
                  <a:pt x="9144" y="9652"/>
                </a:lnTo>
                <a:lnTo>
                  <a:pt x="2590800" y="9652"/>
                </a:lnTo>
                <a:lnTo>
                  <a:pt x="2590800" y="5080"/>
                </a:lnTo>
                <a:lnTo>
                  <a:pt x="2599944" y="5080"/>
                </a:lnTo>
                <a:lnTo>
                  <a:pt x="2599944" y="0"/>
                </a:lnTo>
                <a:close/>
              </a:path>
            </a:pathLst>
          </a:custGeom>
          <a:solidFill>
            <a:srgbClr val="000000"/>
          </a:solidFill>
        </p:spPr>
        <p:txBody>
          <a:bodyPr wrap="square" lIns="0" tIns="0" rIns="0" bIns="0" rtlCol="0"/>
          <a:lstStyle/>
          <a:p>
            <a:endParaRPr sz="1588"/>
          </a:p>
        </p:txBody>
      </p:sp>
      <p:sp>
        <p:nvSpPr>
          <p:cNvPr id="6" name="object 6"/>
          <p:cNvSpPr/>
          <p:nvPr/>
        </p:nvSpPr>
        <p:spPr>
          <a:xfrm>
            <a:off x="5755790" y="4688989"/>
            <a:ext cx="1554816" cy="8965"/>
          </a:xfrm>
          <a:custGeom>
            <a:avLst/>
            <a:gdLst/>
            <a:ahLst/>
            <a:cxnLst/>
            <a:rect l="l" t="t" r="r" b="b"/>
            <a:pathLst>
              <a:path w="1762125" h="10160">
                <a:moveTo>
                  <a:pt x="1761744" y="4572"/>
                </a:moveTo>
                <a:lnTo>
                  <a:pt x="1752600" y="4572"/>
                </a:lnTo>
                <a:lnTo>
                  <a:pt x="1752600" y="0"/>
                </a:lnTo>
                <a:lnTo>
                  <a:pt x="9144" y="0"/>
                </a:lnTo>
                <a:lnTo>
                  <a:pt x="9144" y="4572"/>
                </a:lnTo>
                <a:lnTo>
                  <a:pt x="0" y="4572"/>
                </a:lnTo>
                <a:lnTo>
                  <a:pt x="0" y="9652"/>
                </a:lnTo>
                <a:lnTo>
                  <a:pt x="1761744" y="9652"/>
                </a:lnTo>
                <a:lnTo>
                  <a:pt x="1761744" y="4572"/>
                </a:lnTo>
                <a:close/>
              </a:path>
            </a:pathLst>
          </a:custGeom>
          <a:solidFill>
            <a:srgbClr val="000000"/>
          </a:solidFill>
        </p:spPr>
        <p:txBody>
          <a:bodyPr wrap="square" lIns="0" tIns="0" rIns="0" bIns="0" rtlCol="0"/>
          <a:lstStyle/>
          <a:p>
            <a:endParaRPr sz="1588"/>
          </a:p>
        </p:txBody>
      </p:sp>
      <p:sp>
        <p:nvSpPr>
          <p:cNvPr id="7" name="object 7"/>
          <p:cNvSpPr/>
          <p:nvPr/>
        </p:nvSpPr>
        <p:spPr>
          <a:xfrm>
            <a:off x="4814496" y="3411518"/>
            <a:ext cx="2765051" cy="949699"/>
          </a:xfrm>
          <a:custGeom>
            <a:avLst/>
            <a:gdLst/>
            <a:ahLst/>
            <a:cxnLst/>
            <a:rect l="l" t="t" r="r" b="b"/>
            <a:pathLst>
              <a:path w="3133725" h="1076325">
                <a:moveTo>
                  <a:pt x="3133344" y="4572"/>
                </a:moveTo>
                <a:lnTo>
                  <a:pt x="3124200" y="4572"/>
                </a:lnTo>
                <a:lnTo>
                  <a:pt x="3124200" y="0"/>
                </a:lnTo>
                <a:lnTo>
                  <a:pt x="1911096" y="0"/>
                </a:lnTo>
                <a:lnTo>
                  <a:pt x="1906524" y="0"/>
                </a:lnTo>
                <a:lnTo>
                  <a:pt x="691896" y="0"/>
                </a:lnTo>
                <a:lnTo>
                  <a:pt x="687324" y="0"/>
                </a:lnTo>
                <a:lnTo>
                  <a:pt x="542544" y="0"/>
                </a:lnTo>
                <a:lnTo>
                  <a:pt x="542544" y="4572"/>
                </a:lnTo>
                <a:lnTo>
                  <a:pt x="533400" y="4572"/>
                </a:lnTo>
                <a:lnTo>
                  <a:pt x="533400" y="9652"/>
                </a:lnTo>
                <a:lnTo>
                  <a:pt x="676465" y="9652"/>
                </a:lnTo>
                <a:lnTo>
                  <a:pt x="0" y="611124"/>
                </a:lnTo>
                <a:lnTo>
                  <a:pt x="0" y="615708"/>
                </a:lnTo>
                <a:lnTo>
                  <a:pt x="1524" y="617232"/>
                </a:lnTo>
                <a:lnTo>
                  <a:pt x="6096" y="617232"/>
                </a:lnTo>
                <a:lnTo>
                  <a:pt x="689419" y="9652"/>
                </a:lnTo>
                <a:lnTo>
                  <a:pt x="1905000" y="9652"/>
                </a:lnTo>
                <a:lnTo>
                  <a:pt x="1905000" y="1066292"/>
                </a:lnTo>
                <a:lnTo>
                  <a:pt x="1066800" y="1066292"/>
                </a:lnTo>
                <a:lnTo>
                  <a:pt x="1066800" y="1071372"/>
                </a:lnTo>
                <a:lnTo>
                  <a:pt x="1075944" y="1071372"/>
                </a:lnTo>
                <a:lnTo>
                  <a:pt x="1075944" y="1075944"/>
                </a:lnTo>
                <a:lnTo>
                  <a:pt x="2819400" y="1075944"/>
                </a:lnTo>
                <a:lnTo>
                  <a:pt x="2819400" y="1071372"/>
                </a:lnTo>
                <a:lnTo>
                  <a:pt x="2828544" y="1071372"/>
                </a:lnTo>
                <a:lnTo>
                  <a:pt x="2828544" y="1066292"/>
                </a:lnTo>
                <a:lnTo>
                  <a:pt x="1914144" y="1066292"/>
                </a:lnTo>
                <a:lnTo>
                  <a:pt x="1914144" y="9652"/>
                </a:lnTo>
                <a:lnTo>
                  <a:pt x="3133344" y="9652"/>
                </a:lnTo>
                <a:lnTo>
                  <a:pt x="3133344" y="4572"/>
                </a:lnTo>
                <a:close/>
              </a:path>
            </a:pathLst>
          </a:custGeom>
          <a:solidFill>
            <a:srgbClr val="000000"/>
          </a:solidFill>
        </p:spPr>
        <p:txBody>
          <a:bodyPr wrap="square" lIns="0" tIns="0" rIns="0" bIns="0" rtlCol="0"/>
          <a:lstStyle/>
          <a:p>
            <a:endParaRPr sz="1588"/>
          </a:p>
        </p:txBody>
      </p:sp>
      <p:sp>
        <p:nvSpPr>
          <p:cNvPr id="8" name="object 8"/>
          <p:cNvSpPr txBox="1"/>
          <p:nvPr/>
        </p:nvSpPr>
        <p:spPr>
          <a:xfrm>
            <a:off x="5224183" y="2713167"/>
            <a:ext cx="628090"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course</a:t>
            </a:r>
            <a:endParaRPr sz="1588">
              <a:latin typeface="Arial"/>
              <a:cs typeface="Arial"/>
            </a:endParaRPr>
          </a:p>
        </p:txBody>
      </p:sp>
      <p:sp>
        <p:nvSpPr>
          <p:cNvPr id="9" name="object 9"/>
          <p:cNvSpPr txBox="1"/>
          <p:nvPr/>
        </p:nvSpPr>
        <p:spPr>
          <a:xfrm>
            <a:off x="6402592" y="3079151"/>
            <a:ext cx="1172696" cy="293018"/>
          </a:xfrm>
          <a:prstGeom prst="rect">
            <a:avLst/>
          </a:prstGeom>
          <a:ln w="9144">
            <a:solidFill>
              <a:srgbClr val="000000"/>
            </a:solidFill>
          </a:ln>
        </p:spPr>
        <p:txBody>
          <a:bodyPr vert="horz" wrap="square" lIns="0" tIns="48185" rIns="0" bIns="0" rtlCol="0">
            <a:spAutoFit/>
          </a:bodyPr>
          <a:lstStyle/>
          <a:p>
            <a:pPr marL="311540">
              <a:spcBef>
                <a:spcPts val="379"/>
              </a:spcBef>
            </a:pPr>
            <a:r>
              <a:rPr sz="1588" spc="-4" dirty="0">
                <a:latin typeface="Arial"/>
                <a:cs typeface="Arial"/>
              </a:rPr>
              <a:t>title</a:t>
            </a:r>
            <a:endParaRPr sz="1588">
              <a:latin typeface="Arial"/>
              <a:cs typeface="Arial"/>
            </a:endParaRPr>
          </a:p>
        </p:txBody>
      </p:sp>
      <p:sp>
        <p:nvSpPr>
          <p:cNvPr id="10" name="object 10"/>
          <p:cNvSpPr txBox="1"/>
          <p:nvPr/>
        </p:nvSpPr>
        <p:spPr>
          <a:xfrm>
            <a:off x="5289176" y="3079152"/>
            <a:ext cx="1113865" cy="334557"/>
          </a:xfrm>
          <a:prstGeom prst="rect">
            <a:avLst/>
          </a:prstGeom>
          <a:ln w="9144">
            <a:solidFill>
              <a:srgbClr val="000000"/>
            </a:solidFill>
          </a:ln>
        </p:spPr>
        <p:txBody>
          <a:bodyPr vert="horz" wrap="square" lIns="0" tIns="115421" rIns="0" bIns="0" rtlCol="0">
            <a:spAutoFit/>
          </a:bodyPr>
          <a:lstStyle/>
          <a:p>
            <a:pPr marL="349642">
              <a:lnSpc>
                <a:spcPts val="1738"/>
              </a:lnSpc>
              <a:spcBef>
                <a:spcPts val="909"/>
              </a:spcBef>
            </a:pPr>
            <a:r>
              <a:rPr sz="1588" spc="-4" dirty="0">
                <a:latin typeface="Arial"/>
                <a:cs typeface="Arial"/>
              </a:rPr>
              <a:t>id</a:t>
            </a:r>
            <a:endParaRPr sz="1588">
              <a:latin typeface="Arial"/>
              <a:cs typeface="Arial"/>
            </a:endParaRPr>
          </a:p>
        </p:txBody>
      </p:sp>
      <p:sp>
        <p:nvSpPr>
          <p:cNvPr id="11" name="object 11"/>
          <p:cNvSpPr txBox="1"/>
          <p:nvPr/>
        </p:nvSpPr>
        <p:spPr>
          <a:xfrm>
            <a:off x="3543300" y="3587226"/>
            <a:ext cx="661707"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subject</a:t>
            </a:r>
            <a:endParaRPr sz="1588">
              <a:latin typeface="Arial"/>
              <a:cs typeface="Arial"/>
            </a:endParaRPr>
          </a:p>
        </p:txBody>
      </p:sp>
      <p:sp>
        <p:nvSpPr>
          <p:cNvPr id="12" name="object 12"/>
          <p:cNvSpPr txBox="1"/>
          <p:nvPr/>
        </p:nvSpPr>
        <p:spPr>
          <a:xfrm>
            <a:off x="3541059" y="3953210"/>
            <a:ext cx="806824" cy="293018"/>
          </a:xfrm>
          <a:prstGeom prst="rect">
            <a:avLst/>
          </a:prstGeom>
          <a:ln w="9144">
            <a:solidFill>
              <a:srgbClr val="000000"/>
            </a:solidFill>
          </a:ln>
        </p:spPr>
        <p:txBody>
          <a:bodyPr vert="horz" wrap="square" lIns="0" tIns="48185" rIns="0" bIns="0" rtlCol="0">
            <a:spAutoFit/>
          </a:bodyPr>
          <a:lstStyle/>
          <a:p>
            <a:pPr marR="77885" algn="ctr">
              <a:spcBef>
                <a:spcPts val="379"/>
              </a:spcBef>
            </a:pPr>
            <a:r>
              <a:rPr sz="1588" spc="-4" dirty="0">
                <a:latin typeface="Arial"/>
                <a:cs typeface="Arial"/>
              </a:rPr>
              <a:t>id</a:t>
            </a:r>
            <a:endParaRPr sz="1588">
              <a:latin typeface="Arial"/>
              <a:cs typeface="Arial"/>
            </a:endParaRPr>
          </a:p>
        </p:txBody>
      </p:sp>
      <p:sp>
        <p:nvSpPr>
          <p:cNvPr id="13" name="object 13"/>
          <p:cNvSpPr txBox="1"/>
          <p:nvPr/>
        </p:nvSpPr>
        <p:spPr>
          <a:xfrm>
            <a:off x="4347882" y="3953210"/>
            <a:ext cx="806824" cy="293018"/>
          </a:xfrm>
          <a:prstGeom prst="rect">
            <a:avLst/>
          </a:prstGeom>
          <a:ln w="9144">
            <a:solidFill>
              <a:srgbClr val="000000"/>
            </a:solidFill>
          </a:ln>
        </p:spPr>
        <p:txBody>
          <a:bodyPr vert="horz" wrap="square" lIns="0" tIns="48185" rIns="0" bIns="0" rtlCol="0">
            <a:spAutoFit/>
          </a:bodyPr>
          <a:lstStyle/>
          <a:p>
            <a:pPr marL="281843">
              <a:spcBef>
                <a:spcPts val="379"/>
              </a:spcBef>
            </a:pPr>
            <a:r>
              <a:rPr sz="1588" spc="-4" dirty="0">
                <a:latin typeface="Arial"/>
                <a:cs typeface="Arial"/>
              </a:rPr>
              <a:t>title</a:t>
            </a:r>
            <a:endParaRPr sz="1588">
              <a:latin typeface="Arial"/>
              <a:cs typeface="Arial"/>
            </a:endParaRPr>
          </a:p>
        </p:txBody>
      </p:sp>
      <p:sp>
        <p:nvSpPr>
          <p:cNvPr id="14" name="object 14"/>
          <p:cNvSpPr txBox="1"/>
          <p:nvPr/>
        </p:nvSpPr>
        <p:spPr>
          <a:xfrm>
            <a:off x="5546912" y="3888441"/>
            <a:ext cx="695325"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teacher</a:t>
            </a:r>
            <a:endParaRPr sz="1588">
              <a:latin typeface="Arial"/>
              <a:cs typeface="Arial"/>
            </a:endParaRPr>
          </a:p>
        </p:txBody>
      </p:sp>
      <p:sp>
        <p:nvSpPr>
          <p:cNvPr id="15" name="object 15"/>
          <p:cNvSpPr txBox="1"/>
          <p:nvPr/>
        </p:nvSpPr>
        <p:spPr>
          <a:xfrm>
            <a:off x="5759823" y="4356623"/>
            <a:ext cx="806824" cy="257941"/>
          </a:xfrm>
          <a:prstGeom prst="rect">
            <a:avLst/>
          </a:prstGeom>
          <a:ln w="9144">
            <a:solidFill>
              <a:srgbClr val="000000"/>
            </a:solidFill>
          </a:ln>
        </p:spPr>
        <p:txBody>
          <a:bodyPr vert="horz" wrap="square" lIns="0" tIns="13447" rIns="0" bIns="0" rtlCol="0">
            <a:spAutoFit/>
          </a:bodyPr>
          <a:lstStyle/>
          <a:p>
            <a:pPr marL="268395">
              <a:spcBef>
                <a:spcPts val="106"/>
              </a:spcBef>
            </a:pPr>
            <a:r>
              <a:rPr sz="1588" spc="-4" dirty="0">
                <a:latin typeface="Arial"/>
                <a:cs typeface="Arial"/>
              </a:rPr>
              <a:t>id</a:t>
            </a:r>
            <a:endParaRPr sz="1588">
              <a:latin typeface="Arial"/>
              <a:cs typeface="Arial"/>
            </a:endParaRPr>
          </a:p>
        </p:txBody>
      </p:sp>
      <p:sp>
        <p:nvSpPr>
          <p:cNvPr id="16" name="object 16"/>
          <p:cNvSpPr txBox="1"/>
          <p:nvPr/>
        </p:nvSpPr>
        <p:spPr>
          <a:xfrm>
            <a:off x="6566647" y="4356622"/>
            <a:ext cx="739588" cy="293018"/>
          </a:xfrm>
          <a:prstGeom prst="rect">
            <a:avLst/>
          </a:prstGeom>
          <a:ln w="9144">
            <a:solidFill>
              <a:srgbClr val="000000"/>
            </a:solidFill>
          </a:ln>
        </p:spPr>
        <p:txBody>
          <a:bodyPr vert="horz" wrap="square" lIns="0" tIns="48185" rIns="0" bIns="0" rtlCol="0">
            <a:spAutoFit/>
          </a:bodyPr>
          <a:lstStyle/>
          <a:p>
            <a:pPr marL="147365">
              <a:spcBef>
                <a:spcPts val="379"/>
              </a:spcBef>
            </a:pPr>
            <a:r>
              <a:rPr sz="1588" spc="-4" dirty="0">
                <a:latin typeface="Arial"/>
                <a:cs typeface="Arial"/>
              </a:rPr>
              <a:t>name</a:t>
            </a:r>
            <a:endParaRPr sz="1588">
              <a:latin typeface="Arial"/>
              <a:cs typeface="Arial"/>
            </a:endParaRPr>
          </a:p>
        </p:txBody>
      </p:sp>
      <p:sp>
        <p:nvSpPr>
          <p:cNvPr id="17" name="object 17"/>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3158719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70946" y="696109"/>
            <a:ext cx="5910543" cy="4866362"/>
          </a:xfrm>
          <a:prstGeom prst="rect">
            <a:avLst/>
          </a:prstGeom>
        </p:spPr>
        <p:txBody>
          <a:bodyPr vert="horz" wrap="square" lIns="0" tIns="11206" rIns="0" bIns="0" rtlCol="0">
            <a:spAutoFit/>
          </a:bodyPr>
          <a:lstStyle/>
          <a:p>
            <a:pPr marL="11206">
              <a:spcBef>
                <a:spcPts val="88"/>
              </a:spcBef>
            </a:pPr>
            <a:r>
              <a:rPr sz="1588" spc="-4" dirty="0">
                <a:solidFill>
                  <a:srgbClr val="FF33CC"/>
                </a:solidFill>
                <a:latin typeface="Arial"/>
                <a:cs typeface="Arial"/>
              </a:rPr>
              <a:t>Advantages:</a:t>
            </a:r>
            <a:endParaRPr sz="1588">
              <a:latin typeface="Arial"/>
              <a:cs typeface="Arial"/>
            </a:endParaRPr>
          </a:p>
          <a:p>
            <a:pPr>
              <a:spcBef>
                <a:spcPts val="44"/>
              </a:spcBef>
            </a:pPr>
            <a:endParaRPr sz="1632">
              <a:latin typeface="Arial"/>
              <a:cs typeface="Arial"/>
            </a:endParaRPr>
          </a:p>
          <a:p>
            <a:pPr marL="11206"/>
            <a:r>
              <a:rPr sz="1412" spc="-4" dirty="0">
                <a:latin typeface="Arial"/>
                <a:cs typeface="Arial"/>
              </a:rPr>
              <a:t>•High speed of </a:t>
            </a:r>
            <a:r>
              <a:rPr sz="1412" dirty="0">
                <a:latin typeface="Arial"/>
                <a:cs typeface="Arial"/>
              </a:rPr>
              <a:t>access </a:t>
            </a:r>
            <a:r>
              <a:rPr sz="1412" spc="-4" dirty="0">
                <a:latin typeface="Arial"/>
                <a:cs typeface="Arial"/>
              </a:rPr>
              <a:t>to large</a:t>
            </a:r>
            <a:r>
              <a:rPr sz="1412" spc="-9" dirty="0">
                <a:latin typeface="Arial"/>
                <a:cs typeface="Arial"/>
              </a:rPr>
              <a:t> </a:t>
            </a:r>
            <a:r>
              <a:rPr sz="1412" dirty="0">
                <a:latin typeface="Arial"/>
                <a:cs typeface="Arial"/>
              </a:rPr>
              <a:t>datasets</a:t>
            </a:r>
            <a:endParaRPr sz="1412">
              <a:latin typeface="Arial"/>
              <a:cs typeface="Arial"/>
            </a:endParaRPr>
          </a:p>
          <a:p>
            <a:pPr marL="11206"/>
            <a:r>
              <a:rPr sz="1412" spc="-4" dirty="0">
                <a:latin typeface="Arial"/>
                <a:cs typeface="Arial"/>
              </a:rPr>
              <a:t>•Ease of</a:t>
            </a:r>
            <a:r>
              <a:rPr sz="1412" spc="-9" dirty="0">
                <a:latin typeface="Arial"/>
                <a:cs typeface="Arial"/>
              </a:rPr>
              <a:t> </a:t>
            </a:r>
            <a:r>
              <a:rPr sz="1412" spc="-4" dirty="0">
                <a:latin typeface="Arial"/>
                <a:cs typeface="Arial"/>
              </a:rPr>
              <a:t>updates</a:t>
            </a:r>
            <a:endParaRPr sz="1412">
              <a:latin typeface="Arial"/>
              <a:cs typeface="Arial"/>
            </a:endParaRPr>
          </a:p>
          <a:p>
            <a:pPr marL="11206">
              <a:spcBef>
                <a:spcPts val="13"/>
              </a:spcBef>
            </a:pPr>
            <a:r>
              <a:rPr sz="1412" spc="-4" dirty="0">
                <a:latin typeface="Arial"/>
                <a:cs typeface="Arial"/>
              </a:rPr>
              <a:t>•Simplicity: design is</a:t>
            </a:r>
            <a:r>
              <a:rPr sz="1412" spc="-9" dirty="0">
                <a:latin typeface="Arial"/>
                <a:cs typeface="Arial"/>
              </a:rPr>
              <a:t> </a:t>
            </a:r>
            <a:r>
              <a:rPr sz="1412" dirty="0">
                <a:latin typeface="Arial"/>
                <a:cs typeface="Arial"/>
              </a:rPr>
              <a:t>simple</a:t>
            </a:r>
            <a:endParaRPr sz="1412">
              <a:latin typeface="Arial"/>
              <a:cs typeface="Arial"/>
            </a:endParaRPr>
          </a:p>
          <a:p>
            <a:pPr marL="11206"/>
            <a:r>
              <a:rPr sz="1412" spc="-4" dirty="0">
                <a:latin typeface="Arial"/>
                <a:cs typeface="Arial"/>
              </a:rPr>
              <a:t>•Data </a:t>
            </a:r>
            <a:r>
              <a:rPr sz="1412" dirty="0">
                <a:latin typeface="Arial"/>
                <a:cs typeface="Arial"/>
              </a:rPr>
              <a:t>security: </a:t>
            </a:r>
            <a:r>
              <a:rPr sz="1412" spc="-4" dirty="0">
                <a:latin typeface="Arial"/>
                <a:cs typeface="Arial"/>
              </a:rPr>
              <a:t>It is the first model which </a:t>
            </a:r>
            <a:r>
              <a:rPr sz="1412" dirty="0">
                <a:latin typeface="Arial"/>
                <a:cs typeface="Arial"/>
              </a:rPr>
              <a:t>provide </a:t>
            </a:r>
            <a:r>
              <a:rPr sz="1412" spc="-4" dirty="0">
                <a:latin typeface="Arial"/>
                <a:cs typeface="Arial"/>
              </a:rPr>
              <a:t>data</a:t>
            </a:r>
            <a:r>
              <a:rPr sz="1412" spc="40" dirty="0">
                <a:latin typeface="Arial"/>
                <a:cs typeface="Arial"/>
              </a:rPr>
              <a:t> </a:t>
            </a:r>
            <a:r>
              <a:rPr sz="1412" dirty="0">
                <a:latin typeface="Arial"/>
                <a:cs typeface="Arial"/>
              </a:rPr>
              <a:t>security</a:t>
            </a:r>
            <a:endParaRPr sz="1412">
              <a:latin typeface="Arial"/>
              <a:cs typeface="Arial"/>
            </a:endParaRPr>
          </a:p>
          <a:p>
            <a:pPr marL="11206" marR="68920" algn="just">
              <a:lnSpc>
                <a:spcPct val="100299"/>
              </a:lnSpc>
              <a:spcBef>
                <a:spcPts val="4"/>
              </a:spcBef>
            </a:pPr>
            <a:r>
              <a:rPr sz="1412" spc="-4" dirty="0">
                <a:latin typeface="Arial"/>
                <a:cs typeface="Arial"/>
              </a:rPr>
              <a:t>•Efficiency:- It is </a:t>
            </a:r>
            <a:r>
              <a:rPr sz="1412" spc="4" dirty="0">
                <a:latin typeface="Arial"/>
                <a:cs typeface="Arial"/>
              </a:rPr>
              <a:t>very </a:t>
            </a:r>
            <a:r>
              <a:rPr sz="1412" spc="-4" dirty="0">
                <a:latin typeface="Arial"/>
                <a:cs typeface="Arial"/>
              </a:rPr>
              <a:t>efficient when </a:t>
            </a:r>
            <a:r>
              <a:rPr sz="1412" dirty="0">
                <a:latin typeface="Arial"/>
                <a:cs typeface="Arial"/>
              </a:rPr>
              <a:t>database </a:t>
            </a:r>
            <a:r>
              <a:rPr sz="1412" spc="-4" dirty="0">
                <a:latin typeface="Arial"/>
                <a:cs typeface="Arial"/>
              </a:rPr>
              <a:t>contain </a:t>
            </a:r>
            <a:r>
              <a:rPr sz="1412" dirty="0">
                <a:latin typeface="Arial"/>
                <a:cs typeface="Arial"/>
              </a:rPr>
              <a:t>large </a:t>
            </a:r>
            <a:r>
              <a:rPr sz="1412" spc="-4" dirty="0">
                <a:latin typeface="Arial"/>
                <a:cs typeface="Arial"/>
              </a:rPr>
              <a:t>number of 1:n  relationships &amp; when user require large number of </a:t>
            </a:r>
            <a:r>
              <a:rPr sz="1412" dirty="0">
                <a:latin typeface="Arial"/>
                <a:cs typeface="Arial"/>
              </a:rPr>
              <a:t>transaction, </a:t>
            </a:r>
            <a:r>
              <a:rPr sz="1412" spc="-4" dirty="0">
                <a:latin typeface="Arial"/>
                <a:cs typeface="Arial"/>
              </a:rPr>
              <a:t>using data  whose relationships are</a:t>
            </a:r>
            <a:r>
              <a:rPr sz="1412" spc="-9" dirty="0">
                <a:latin typeface="Arial"/>
                <a:cs typeface="Arial"/>
              </a:rPr>
              <a:t> </a:t>
            </a:r>
            <a:r>
              <a:rPr sz="1412" spc="-4" dirty="0">
                <a:latin typeface="Arial"/>
                <a:cs typeface="Arial"/>
              </a:rPr>
              <a:t>fixed</a:t>
            </a:r>
            <a:endParaRPr sz="1412">
              <a:latin typeface="Arial"/>
              <a:cs typeface="Arial"/>
            </a:endParaRPr>
          </a:p>
          <a:p>
            <a:pPr>
              <a:spcBef>
                <a:spcPts val="18"/>
              </a:spcBef>
            </a:pPr>
            <a:endParaRPr sz="1456">
              <a:latin typeface="Arial"/>
              <a:cs typeface="Arial"/>
            </a:endParaRPr>
          </a:p>
          <a:p>
            <a:pPr marL="11206"/>
            <a:r>
              <a:rPr sz="1412" b="1" spc="-4" dirty="0">
                <a:solidFill>
                  <a:srgbClr val="FF33CC"/>
                </a:solidFill>
                <a:latin typeface="Arial"/>
                <a:cs typeface="Arial"/>
              </a:rPr>
              <a:t>Disadvantages:-</a:t>
            </a:r>
            <a:endParaRPr sz="1412">
              <a:latin typeface="Arial"/>
              <a:cs typeface="Arial"/>
            </a:endParaRPr>
          </a:p>
          <a:p>
            <a:pPr>
              <a:spcBef>
                <a:spcPts val="26"/>
              </a:spcBef>
            </a:pPr>
            <a:endParaRPr sz="1456">
              <a:latin typeface="Arial"/>
              <a:cs typeface="Arial"/>
            </a:endParaRPr>
          </a:p>
          <a:p>
            <a:pPr marL="11206" marR="4483">
              <a:lnSpc>
                <a:spcPct val="100299"/>
              </a:lnSpc>
            </a:pPr>
            <a:r>
              <a:rPr sz="1412" b="1" spc="-4" dirty="0">
                <a:latin typeface="Arial"/>
                <a:cs typeface="Arial"/>
              </a:rPr>
              <a:t>Implementation </a:t>
            </a:r>
            <a:r>
              <a:rPr sz="1412" b="1" dirty="0">
                <a:latin typeface="Arial"/>
                <a:cs typeface="Arial"/>
              </a:rPr>
              <a:t>complexity:- </a:t>
            </a:r>
            <a:r>
              <a:rPr sz="1412" spc="-4" dirty="0">
                <a:latin typeface="Arial"/>
                <a:cs typeface="Arial"/>
              </a:rPr>
              <a:t>although the </a:t>
            </a:r>
            <a:r>
              <a:rPr sz="1412" dirty="0">
                <a:latin typeface="Arial"/>
                <a:cs typeface="Arial"/>
              </a:rPr>
              <a:t>hierarchical </a:t>
            </a:r>
            <a:r>
              <a:rPr sz="1412" spc="-4" dirty="0">
                <a:latin typeface="Arial"/>
                <a:cs typeface="Arial"/>
              </a:rPr>
              <a:t>model is  conceptually simple &amp; easy to </a:t>
            </a:r>
            <a:r>
              <a:rPr sz="1412" dirty="0">
                <a:latin typeface="Arial"/>
                <a:cs typeface="Arial"/>
              </a:rPr>
              <a:t>design </a:t>
            </a:r>
            <a:r>
              <a:rPr sz="1412" spc="-4" dirty="0">
                <a:latin typeface="Arial"/>
                <a:cs typeface="Arial"/>
              </a:rPr>
              <a:t>it is quite </a:t>
            </a:r>
            <a:r>
              <a:rPr sz="1412" dirty="0">
                <a:latin typeface="Arial"/>
                <a:cs typeface="Arial"/>
              </a:rPr>
              <a:t>complex </a:t>
            </a:r>
            <a:r>
              <a:rPr sz="1412" spc="-4" dirty="0">
                <a:latin typeface="Arial"/>
                <a:cs typeface="Arial"/>
              </a:rPr>
              <a:t>to implement;  </a:t>
            </a:r>
            <a:r>
              <a:rPr sz="1412" b="1" spc="-4" dirty="0">
                <a:latin typeface="Arial"/>
                <a:cs typeface="Arial"/>
              </a:rPr>
              <a:t>Database management </a:t>
            </a:r>
            <a:r>
              <a:rPr sz="1412" b="1" dirty="0">
                <a:latin typeface="Arial"/>
                <a:cs typeface="Arial"/>
              </a:rPr>
              <a:t>problems: </a:t>
            </a:r>
            <a:r>
              <a:rPr sz="1412" spc="-4" dirty="0">
                <a:latin typeface="Arial"/>
                <a:cs typeface="Arial"/>
              </a:rPr>
              <a:t>If you </a:t>
            </a:r>
            <a:r>
              <a:rPr sz="1412" spc="4" dirty="0">
                <a:latin typeface="Arial"/>
                <a:cs typeface="Arial"/>
              </a:rPr>
              <a:t>make </a:t>
            </a:r>
            <a:r>
              <a:rPr sz="1412" spc="-4" dirty="0">
                <a:latin typeface="Arial"/>
                <a:cs typeface="Arial"/>
              </a:rPr>
              <a:t>any changes </a:t>
            </a:r>
            <a:r>
              <a:rPr sz="1412" spc="13" dirty="0">
                <a:latin typeface="Arial"/>
                <a:cs typeface="Arial"/>
              </a:rPr>
              <a:t>in </a:t>
            </a:r>
            <a:r>
              <a:rPr sz="1412" spc="-4" dirty="0">
                <a:latin typeface="Arial"/>
                <a:cs typeface="Arial"/>
              </a:rPr>
              <a:t>the  database structure </a:t>
            </a:r>
            <a:r>
              <a:rPr sz="1412" spc="13" dirty="0">
                <a:latin typeface="Arial"/>
                <a:cs typeface="Arial"/>
              </a:rPr>
              <a:t>of </a:t>
            </a:r>
            <a:r>
              <a:rPr sz="1412" spc="-4" dirty="0">
                <a:latin typeface="Arial"/>
                <a:cs typeface="Arial"/>
              </a:rPr>
              <a:t>hierarchical </a:t>
            </a:r>
            <a:r>
              <a:rPr sz="1412" dirty="0">
                <a:latin typeface="Arial"/>
                <a:cs typeface="Arial"/>
              </a:rPr>
              <a:t>database </a:t>
            </a:r>
            <a:r>
              <a:rPr sz="1412" spc="-4" dirty="0">
                <a:latin typeface="Arial"/>
                <a:cs typeface="Arial"/>
              </a:rPr>
              <a:t>,then you need to </a:t>
            </a:r>
            <a:r>
              <a:rPr sz="1412" spc="4" dirty="0">
                <a:latin typeface="Arial"/>
                <a:cs typeface="Arial"/>
              </a:rPr>
              <a:t>make </a:t>
            </a:r>
            <a:r>
              <a:rPr sz="1412" spc="-4" dirty="0">
                <a:latin typeface="Arial"/>
                <a:cs typeface="Arial"/>
              </a:rPr>
              <a:t>the  necessary changes in all </a:t>
            </a:r>
            <a:r>
              <a:rPr sz="1412" dirty="0">
                <a:latin typeface="Arial"/>
                <a:cs typeface="Arial"/>
              </a:rPr>
              <a:t>application </a:t>
            </a:r>
            <a:r>
              <a:rPr sz="1412" spc="-4" dirty="0">
                <a:latin typeface="Arial"/>
                <a:cs typeface="Arial"/>
              </a:rPr>
              <a:t>programs that </a:t>
            </a:r>
            <a:r>
              <a:rPr sz="1412" dirty="0">
                <a:latin typeface="Arial"/>
                <a:cs typeface="Arial"/>
              </a:rPr>
              <a:t>access </a:t>
            </a:r>
            <a:r>
              <a:rPr sz="1412" spc="-4" dirty="0">
                <a:latin typeface="Arial"/>
                <a:cs typeface="Arial"/>
              </a:rPr>
              <a:t>the </a:t>
            </a:r>
            <a:r>
              <a:rPr sz="1412" dirty="0">
                <a:latin typeface="Arial"/>
                <a:cs typeface="Arial"/>
              </a:rPr>
              <a:t>database  </a:t>
            </a:r>
            <a:r>
              <a:rPr sz="1412" b="1" spc="-4" dirty="0">
                <a:latin typeface="Arial"/>
                <a:cs typeface="Arial"/>
              </a:rPr>
              <a:t>Lack of </a:t>
            </a:r>
            <a:r>
              <a:rPr sz="1412" b="1" dirty="0">
                <a:latin typeface="Arial"/>
                <a:cs typeface="Arial"/>
              </a:rPr>
              <a:t>structural </a:t>
            </a:r>
            <a:r>
              <a:rPr sz="1412" b="1" spc="-4" dirty="0">
                <a:latin typeface="Arial"/>
                <a:cs typeface="Arial"/>
              </a:rPr>
              <a:t>independence</a:t>
            </a:r>
            <a:r>
              <a:rPr sz="1412" spc="-4" dirty="0">
                <a:latin typeface="Arial"/>
                <a:cs typeface="Arial"/>
              </a:rPr>
              <a:t>:-Hierarchical database </a:t>
            </a:r>
            <a:r>
              <a:rPr sz="1412" spc="4" dirty="0">
                <a:latin typeface="Arial"/>
                <a:cs typeface="Arial"/>
              </a:rPr>
              <a:t>system </a:t>
            </a:r>
            <a:r>
              <a:rPr sz="1412" spc="-4" dirty="0">
                <a:latin typeface="Arial"/>
                <a:cs typeface="Arial"/>
              </a:rPr>
              <a:t>use  physical storage path to navigate to </a:t>
            </a:r>
            <a:r>
              <a:rPr sz="1412" dirty="0">
                <a:latin typeface="Arial"/>
                <a:cs typeface="Arial"/>
              </a:rPr>
              <a:t>different </a:t>
            </a:r>
            <a:r>
              <a:rPr sz="1412" spc="-4" dirty="0">
                <a:latin typeface="Arial"/>
                <a:cs typeface="Arial"/>
              </a:rPr>
              <a:t>data segments. so if physical  structure is </a:t>
            </a:r>
            <a:r>
              <a:rPr sz="1412" dirty="0">
                <a:latin typeface="Arial"/>
                <a:cs typeface="Arial"/>
              </a:rPr>
              <a:t>changed </a:t>
            </a:r>
            <a:r>
              <a:rPr sz="1412" spc="-4" dirty="0">
                <a:latin typeface="Arial"/>
                <a:cs typeface="Arial"/>
              </a:rPr>
              <a:t>the application will also have to be modified. </a:t>
            </a:r>
            <a:r>
              <a:rPr sz="1412" spc="4" dirty="0">
                <a:latin typeface="Arial"/>
                <a:cs typeface="Arial"/>
              </a:rPr>
              <a:t>thus </a:t>
            </a:r>
            <a:r>
              <a:rPr sz="1412" spc="-4" dirty="0">
                <a:latin typeface="Arial"/>
                <a:cs typeface="Arial"/>
              </a:rPr>
              <a:t>in a  hierarchical database the benefits of independence is </a:t>
            </a:r>
            <a:r>
              <a:rPr sz="1412" dirty="0">
                <a:latin typeface="Arial"/>
                <a:cs typeface="Arial"/>
              </a:rPr>
              <a:t>limited </a:t>
            </a:r>
            <a:r>
              <a:rPr sz="1412" spc="-4" dirty="0">
                <a:latin typeface="Arial"/>
                <a:cs typeface="Arial"/>
              </a:rPr>
              <a:t>by </a:t>
            </a:r>
            <a:r>
              <a:rPr sz="1412" dirty="0">
                <a:latin typeface="Arial"/>
                <a:cs typeface="Arial"/>
              </a:rPr>
              <a:t>structural  </a:t>
            </a:r>
            <a:r>
              <a:rPr sz="1412" spc="-4" dirty="0">
                <a:latin typeface="Arial"/>
                <a:cs typeface="Arial"/>
              </a:rPr>
              <a:t>dependence</a:t>
            </a:r>
            <a:endParaRPr sz="1412">
              <a:latin typeface="Arial"/>
              <a:cs typeface="Arial"/>
            </a:endParaRPr>
          </a:p>
        </p:txBody>
      </p:sp>
      <p:sp>
        <p:nvSpPr>
          <p:cNvPr id="3" name="object 3"/>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7689425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34769" y="1166756"/>
            <a:ext cx="6575611" cy="3396922"/>
          </a:xfrm>
          <a:prstGeom prst="rect">
            <a:avLst/>
          </a:prstGeom>
        </p:spPr>
        <p:txBody>
          <a:bodyPr vert="horz" wrap="square" lIns="0" tIns="11206" rIns="0" bIns="0" rtlCol="0">
            <a:spAutoFit/>
          </a:bodyPr>
          <a:lstStyle/>
          <a:p>
            <a:pPr marL="11206">
              <a:spcBef>
                <a:spcPts val="88"/>
              </a:spcBef>
            </a:pPr>
            <a:r>
              <a:rPr sz="1588" spc="-4" dirty="0">
                <a:solidFill>
                  <a:srgbClr val="FF33CC"/>
                </a:solidFill>
                <a:latin typeface="Arial"/>
                <a:cs typeface="Arial"/>
              </a:rPr>
              <a:t>Advantages:</a:t>
            </a:r>
            <a:endParaRPr sz="1588">
              <a:latin typeface="Arial"/>
              <a:cs typeface="Arial"/>
            </a:endParaRPr>
          </a:p>
          <a:p>
            <a:pPr>
              <a:spcBef>
                <a:spcPts val="35"/>
              </a:spcBef>
            </a:pPr>
            <a:endParaRPr sz="1632">
              <a:latin typeface="Arial"/>
              <a:cs typeface="Arial"/>
            </a:endParaRPr>
          </a:p>
          <a:p>
            <a:pPr marL="11206" marR="27456">
              <a:spcBef>
                <a:spcPts val="4"/>
              </a:spcBef>
            </a:pPr>
            <a:r>
              <a:rPr sz="1588" spc="-4" dirty="0">
                <a:latin typeface="Arial"/>
                <a:cs typeface="Arial"/>
              </a:rPr>
              <a:t>Conceptual simplicity: </a:t>
            </a:r>
            <a:r>
              <a:rPr sz="1412" spc="-4" dirty="0">
                <a:latin typeface="Arial"/>
                <a:cs typeface="Arial"/>
              </a:rPr>
              <a:t>just like the </a:t>
            </a:r>
            <a:r>
              <a:rPr sz="1412" dirty="0">
                <a:latin typeface="Arial"/>
                <a:cs typeface="Arial"/>
              </a:rPr>
              <a:t>hierarchical </a:t>
            </a:r>
            <a:r>
              <a:rPr sz="1412" spc="-4" dirty="0">
                <a:latin typeface="Arial"/>
                <a:cs typeface="Arial"/>
              </a:rPr>
              <a:t>model, the network model is </a:t>
            </a:r>
            <a:r>
              <a:rPr sz="1412" spc="4" dirty="0">
                <a:latin typeface="Arial"/>
                <a:cs typeface="Arial"/>
              </a:rPr>
              <a:t>also  </a:t>
            </a:r>
            <a:r>
              <a:rPr sz="1412" spc="-4" dirty="0">
                <a:latin typeface="Arial"/>
                <a:cs typeface="Arial"/>
              </a:rPr>
              <a:t>conceptually simple &amp; easy o</a:t>
            </a:r>
            <a:r>
              <a:rPr sz="1412" spc="-9" dirty="0">
                <a:latin typeface="Arial"/>
                <a:cs typeface="Arial"/>
              </a:rPr>
              <a:t> </a:t>
            </a:r>
            <a:r>
              <a:rPr sz="1412" dirty="0">
                <a:latin typeface="Arial"/>
                <a:cs typeface="Arial"/>
              </a:rPr>
              <a:t>design.</a:t>
            </a:r>
            <a:endParaRPr sz="1412">
              <a:latin typeface="Arial"/>
              <a:cs typeface="Arial"/>
            </a:endParaRPr>
          </a:p>
          <a:p>
            <a:pPr>
              <a:spcBef>
                <a:spcPts val="26"/>
              </a:spcBef>
            </a:pPr>
            <a:endParaRPr sz="1456">
              <a:latin typeface="Arial"/>
              <a:cs typeface="Arial"/>
            </a:endParaRPr>
          </a:p>
          <a:p>
            <a:pPr marL="11206" marR="225810">
              <a:lnSpc>
                <a:spcPct val="100600"/>
              </a:lnSpc>
            </a:pPr>
            <a:r>
              <a:rPr sz="1412" b="1" spc="-4" dirty="0">
                <a:latin typeface="Arial"/>
                <a:cs typeface="Arial"/>
              </a:rPr>
              <a:t>Capability to handle more </a:t>
            </a:r>
            <a:r>
              <a:rPr sz="1412" b="1" dirty="0">
                <a:latin typeface="Arial"/>
                <a:cs typeface="Arial"/>
              </a:rPr>
              <a:t>relationship </a:t>
            </a:r>
            <a:r>
              <a:rPr sz="1412" b="1" spc="-4" dirty="0">
                <a:latin typeface="Arial"/>
                <a:cs typeface="Arial"/>
              </a:rPr>
              <a:t>types</a:t>
            </a:r>
            <a:r>
              <a:rPr sz="1412" spc="-4" dirty="0">
                <a:latin typeface="Arial"/>
                <a:cs typeface="Arial"/>
              </a:rPr>
              <a:t>: The </a:t>
            </a:r>
            <a:r>
              <a:rPr sz="1412" dirty="0">
                <a:latin typeface="Arial"/>
                <a:cs typeface="Arial"/>
              </a:rPr>
              <a:t>network </a:t>
            </a:r>
            <a:r>
              <a:rPr sz="1412" spc="-4" dirty="0">
                <a:latin typeface="Arial"/>
                <a:cs typeface="Arial"/>
              </a:rPr>
              <a:t>model can </a:t>
            </a:r>
            <a:r>
              <a:rPr sz="1412" dirty="0">
                <a:latin typeface="Arial"/>
                <a:cs typeface="Arial"/>
              </a:rPr>
              <a:t>handle  </a:t>
            </a:r>
            <a:r>
              <a:rPr sz="1412" spc="-4" dirty="0">
                <a:latin typeface="Arial"/>
                <a:cs typeface="Arial"/>
              </a:rPr>
              <a:t>the one to </a:t>
            </a:r>
            <a:r>
              <a:rPr sz="1412" spc="4" dirty="0">
                <a:latin typeface="Arial"/>
                <a:cs typeface="Arial"/>
              </a:rPr>
              <a:t>many </a:t>
            </a:r>
            <a:r>
              <a:rPr sz="1412" spc="-4" dirty="0">
                <a:latin typeface="Arial"/>
                <a:cs typeface="Arial"/>
              </a:rPr>
              <a:t>(1:n) &amp; </a:t>
            </a:r>
            <a:r>
              <a:rPr sz="1412" spc="4" dirty="0">
                <a:latin typeface="Arial"/>
                <a:cs typeface="Arial"/>
              </a:rPr>
              <a:t>many </a:t>
            </a:r>
            <a:r>
              <a:rPr sz="1412" spc="-4" dirty="0">
                <a:latin typeface="Arial"/>
                <a:cs typeface="Arial"/>
              </a:rPr>
              <a:t>to </a:t>
            </a:r>
            <a:r>
              <a:rPr sz="1412" spc="4" dirty="0">
                <a:latin typeface="Arial"/>
                <a:cs typeface="Arial"/>
              </a:rPr>
              <a:t>many </a:t>
            </a:r>
            <a:r>
              <a:rPr sz="1412" spc="-4" dirty="0">
                <a:latin typeface="Arial"/>
                <a:cs typeface="Arial"/>
              </a:rPr>
              <a:t>(m:n)</a:t>
            </a:r>
            <a:r>
              <a:rPr sz="1412" spc="-35" dirty="0">
                <a:latin typeface="Arial"/>
                <a:cs typeface="Arial"/>
              </a:rPr>
              <a:t> </a:t>
            </a:r>
            <a:r>
              <a:rPr sz="1412" dirty="0">
                <a:latin typeface="Arial"/>
                <a:cs typeface="Arial"/>
              </a:rPr>
              <a:t>relationships.</a:t>
            </a:r>
            <a:endParaRPr sz="1412">
              <a:latin typeface="Arial"/>
              <a:cs typeface="Arial"/>
            </a:endParaRPr>
          </a:p>
          <a:p>
            <a:pPr marL="11206" marR="4483"/>
            <a:r>
              <a:rPr sz="1412" spc="-4" dirty="0">
                <a:latin typeface="Arial"/>
                <a:cs typeface="Arial"/>
              </a:rPr>
              <a:t>Data independence:- the changes in data </a:t>
            </a:r>
            <a:r>
              <a:rPr sz="1412" dirty="0">
                <a:latin typeface="Arial"/>
                <a:cs typeface="Arial"/>
              </a:rPr>
              <a:t>characteristics </a:t>
            </a:r>
            <a:r>
              <a:rPr sz="1412" spc="-4" dirty="0">
                <a:latin typeface="Arial"/>
                <a:cs typeface="Arial"/>
              </a:rPr>
              <a:t>do not require changes to  application</a:t>
            </a:r>
            <a:r>
              <a:rPr sz="1412" spc="-9" dirty="0">
                <a:latin typeface="Arial"/>
                <a:cs typeface="Arial"/>
              </a:rPr>
              <a:t> </a:t>
            </a:r>
            <a:r>
              <a:rPr sz="1412" spc="-4" dirty="0">
                <a:latin typeface="Arial"/>
                <a:cs typeface="Arial"/>
              </a:rPr>
              <a:t>programs.</a:t>
            </a:r>
            <a:endParaRPr sz="1412">
              <a:latin typeface="Arial"/>
              <a:cs typeface="Arial"/>
            </a:endParaRPr>
          </a:p>
          <a:p>
            <a:pPr>
              <a:lnSpc>
                <a:spcPct val="100000"/>
              </a:lnSpc>
            </a:pPr>
            <a:endParaRPr sz="1588">
              <a:latin typeface="Arial"/>
              <a:cs typeface="Arial"/>
            </a:endParaRPr>
          </a:p>
          <a:p>
            <a:pPr>
              <a:spcBef>
                <a:spcPts val="9"/>
              </a:spcBef>
            </a:pPr>
            <a:endParaRPr sz="1368">
              <a:latin typeface="Arial"/>
              <a:cs typeface="Arial"/>
            </a:endParaRPr>
          </a:p>
          <a:p>
            <a:pPr marL="11206"/>
            <a:r>
              <a:rPr sz="1412" b="1" spc="-4" dirty="0">
                <a:solidFill>
                  <a:srgbClr val="FF33CC"/>
                </a:solidFill>
                <a:latin typeface="Arial"/>
                <a:cs typeface="Arial"/>
              </a:rPr>
              <a:t>Disadvantages:</a:t>
            </a:r>
            <a:endParaRPr sz="1412">
              <a:latin typeface="Arial"/>
              <a:cs typeface="Arial"/>
            </a:endParaRPr>
          </a:p>
          <a:p>
            <a:pPr marL="11206"/>
            <a:r>
              <a:rPr sz="1412" spc="-4" dirty="0">
                <a:latin typeface="Arial"/>
                <a:cs typeface="Arial"/>
              </a:rPr>
              <a:t>•Detailed </a:t>
            </a:r>
            <a:r>
              <a:rPr sz="1412" dirty="0">
                <a:latin typeface="Arial"/>
                <a:cs typeface="Arial"/>
              </a:rPr>
              <a:t>structural </a:t>
            </a:r>
            <a:r>
              <a:rPr sz="1412" spc="-4" dirty="0">
                <a:latin typeface="Arial"/>
                <a:cs typeface="Arial"/>
              </a:rPr>
              <a:t>knowledge is required</a:t>
            </a:r>
            <a:r>
              <a:rPr sz="1412" spc="-9" dirty="0">
                <a:latin typeface="Arial"/>
                <a:cs typeface="Arial"/>
              </a:rPr>
              <a:t> </a:t>
            </a:r>
            <a:r>
              <a:rPr sz="1412" spc="-4" dirty="0">
                <a:latin typeface="Arial"/>
                <a:cs typeface="Arial"/>
              </a:rPr>
              <a:t>.</a:t>
            </a:r>
            <a:endParaRPr sz="1412">
              <a:latin typeface="Arial"/>
              <a:cs typeface="Arial"/>
            </a:endParaRPr>
          </a:p>
          <a:p>
            <a:pPr>
              <a:spcBef>
                <a:spcPts val="31"/>
              </a:spcBef>
            </a:pPr>
            <a:endParaRPr sz="1456">
              <a:latin typeface="Arial"/>
              <a:cs typeface="Arial"/>
            </a:endParaRPr>
          </a:p>
          <a:p>
            <a:pPr marL="11206"/>
            <a:r>
              <a:rPr sz="1412" spc="-4" dirty="0">
                <a:latin typeface="Arial"/>
                <a:cs typeface="Arial"/>
              </a:rPr>
              <a:t>•Lack of </a:t>
            </a:r>
            <a:r>
              <a:rPr sz="1412" dirty="0">
                <a:latin typeface="Arial"/>
                <a:cs typeface="Arial"/>
              </a:rPr>
              <a:t>structural</a:t>
            </a:r>
            <a:r>
              <a:rPr sz="1412" spc="-9" dirty="0">
                <a:latin typeface="Arial"/>
                <a:cs typeface="Arial"/>
              </a:rPr>
              <a:t> </a:t>
            </a:r>
            <a:r>
              <a:rPr sz="1412" dirty="0">
                <a:latin typeface="Arial"/>
                <a:cs typeface="Arial"/>
              </a:rPr>
              <a:t>independence.</a:t>
            </a:r>
            <a:endParaRPr sz="1412">
              <a:latin typeface="Arial"/>
              <a:cs typeface="Arial"/>
            </a:endParaRPr>
          </a:p>
        </p:txBody>
      </p:sp>
      <p:sp>
        <p:nvSpPr>
          <p:cNvPr id="3" name="object 3"/>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3634846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9240" y="699267"/>
            <a:ext cx="2948827" cy="282928"/>
          </a:xfrm>
          <a:prstGeom prst="rect">
            <a:avLst/>
          </a:prstGeom>
        </p:spPr>
        <p:txBody>
          <a:bodyPr vert="horz" wrap="square" lIns="0" tIns="11206" rIns="0" bIns="0" rtlCol="0" anchor="ctr">
            <a:spAutoFit/>
          </a:bodyPr>
          <a:lstStyle/>
          <a:p>
            <a:pPr marL="11206">
              <a:lnSpc>
                <a:spcPct val="100000"/>
              </a:lnSpc>
              <a:spcBef>
                <a:spcPts val="88"/>
              </a:spcBef>
            </a:pPr>
            <a:r>
              <a:rPr sz="1765" b="1" dirty="0">
                <a:solidFill>
                  <a:srgbClr val="FF0000"/>
                </a:solidFill>
                <a:latin typeface="Arial"/>
                <a:cs typeface="Arial"/>
              </a:rPr>
              <a:t>The Object </a:t>
            </a:r>
            <a:r>
              <a:rPr sz="1765" b="1" spc="-9" dirty="0">
                <a:solidFill>
                  <a:srgbClr val="FF0000"/>
                </a:solidFill>
                <a:latin typeface="Arial"/>
                <a:cs typeface="Arial"/>
              </a:rPr>
              <a:t>Oriented</a:t>
            </a:r>
            <a:r>
              <a:rPr sz="1765" b="1" spc="-26" dirty="0">
                <a:solidFill>
                  <a:srgbClr val="FF0000"/>
                </a:solidFill>
                <a:latin typeface="Arial"/>
                <a:cs typeface="Arial"/>
              </a:rPr>
              <a:t> </a:t>
            </a:r>
            <a:r>
              <a:rPr sz="1765" b="1" dirty="0">
                <a:solidFill>
                  <a:srgbClr val="FF0000"/>
                </a:solidFill>
                <a:latin typeface="Arial"/>
                <a:cs typeface="Arial"/>
              </a:rPr>
              <a:t>Model-</a:t>
            </a:r>
            <a:endParaRPr sz="1765">
              <a:latin typeface="Arial"/>
              <a:cs typeface="Arial"/>
            </a:endParaRPr>
          </a:p>
        </p:txBody>
      </p:sp>
      <p:sp>
        <p:nvSpPr>
          <p:cNvPr id="3" name="object 3"/>
          <p:cNvSpPr txBox="1"/>
          <p:nvPr/>
        </p:nvSpPr>
        <p:spPr>
          <a:xfrm>
            <a:off x="2669240" y="1208442"/>
            <a:ext cx="5930153" cy="3721755"/>
          </a:xfrm>
          <a:prstGeom prst="rect">
            <a:avLst/>
          </a:prstGeom>
        </p:spPr>
        <p:txBody>
          <a:bodyPr vert="horz" wrap="square" lIns="0" tIns="11206" rIns="0" bIns="0" rtlCol="0">
            <a:spAutoFit/>
          </a:bodyPr>
          <a:lstStyle/>
          <a:p>
            <a:pPr marL="368693" indent="-358047">
              <a:spcBef>
                <a:spcPts val="88"/>
              </a:spcBef>
              <a:buClr>
                <a:srgbClr val="FF33CC"/>
              </a:buClr>
              <a:buChar char="•"/>
              <a:tabLst>
                <a:tab pos="368693" algn="l"/>
                <a:tab pos="369254" algn="l"/>
              </a:tabLst>
            </a:pPr>
            <a:r>
              <a:rPr sz="1588" dirty="0">
                <a:latin typeface="Arial"/>
                <a:cs typeface="Arial"/>
              </a:rPr>
              <a:t>The Object </a:t>
            </a:r>
            <a:r>
              <a:rPr sz="1588" spc="-4" dirty="0">
                <a:latin typeface="Arial"/>
                <a:cs typeface="Arial"/>
              </a:rPr>
              <a:t>Oriented model is based on a collection </a:t>
            </a:r>
            <a:r>
              <a:rPr sz="1588" dirty="0">
                <a:latin typeface="Arial"/>
                <a:cs typeface="Arial"/>
              </a:rPr>
              <a:t>of</a:t>
            </a:r>
            <a:r>
              <a:rPr sz="1588" spc="79" dirty="0">
                <a:latin typeface="Arial"/>
                <a:cs typeface="Arial"/>
              </a:rPr>
              <a:t> </a:t>
            </a:r>
            <a:r>
              <a:rPr sz="1588" dirty="0">
                <a:latin typeface="Arial"/>
                <a:cs typeface="Arial"/>
              </a:rPr>
              <a:t>objects.</a:t>
            </a:r>
            <a:endParaRPr sz="1588">
              <a:latin typeface="Arial"/>
              <a:cs typeface="Arial"/>
            </a:endParaRPr>
          </a:p>
          <a:p>
            <a:pPr>
              <a:spcBef>
                <a:spcPts val="26"/>
              </a:spcBef>
              <a:buClr>
                <a:srgbClr val="FF33CC"/>
              </a:buClr>
              <a:buFont typeface="Arial"/>
              <a:buChar char="•"/>
            </a:pPr>
            <a:endParaRPr sz="1632">
              <a:latin typeface="Arial"/>
              <a:cs typeface="Arial"/>
            </a:endParaRPr>
          </a:p>
          <a:p>
            <a:pPr marL="313781" marR="444897" indent="-302575">
              <a:buClr>
                <a:srgbClr val="FF33CC"/>
              </a:buClr>
              <a:buChar char="•"/>
              <a:tabLst>
                <a:tab pos="313221" algn="l"/>
                <a:tab pos="313781" algn="l"/>
              </a:tabLst>
            </a:pPr>
            <a:r>
              <a:rPr sz="1588" spc="-4" dirty="0">
                <a:latin typeface="Arial"/>
                <a:cs typeface="Arial"/>
              </a:rPr>
              <a:t>An </a:t>
            </a:r>
            <a:r>
              <a:rPr sz="1588" dirty="0">
                <a:latin typeface="Arial"/>
                <a:cs typeface="Arial"/>
              </a:rPr>
              <a:t>Object </a:t>
            </a:r>
            <a:r>
              <a:rPr sz="1588" spc="-4" dirty="0">
                <a:latin typeface="Arial"/>
                <a:cs typeface="Arial"/>
              </a:rPr>
              <a:t>contains values stored in </a:t>
            </a:r>
            <a:r>
              <a:rPr sz="1588" dirty="0">
                <a:latin typeface="Arial"/>
                <a:cs typeface="Arial"/>
              </a:rPr>
              <a:t>the </a:t>
            </a:r>
            <a:r>
              <a:rPr sz="1588" spc="-4" dirty="0">
                <a:latin typeface="Arial"/>
                <a:cs typeface="Arial"/>
              </a:rPr>
              <a:t>instance variables  within </a:t>
            </a:r>
            <a:r>
              <a:rPr sz="1588" dirty="0">
                <a:latin typeface="Arial"/>
                <a:cs typeface="Arial"/>
              </a:rPr>
              <a:t>the object.</a:t>
            </a:r>
            <a:endParaRPr sz="1588">
              <a:latin typeface="Arial"/>
              <a:cs typeface="Arial"/>
            </a:endParaRPr>
          </a:p>
          <a:p>
            <a:pPr>
              <a:spcBef>
                <a:spcPts val="40"/>
              </a:spcBef>
              <a:buClr>
                <a:srgbClr val="FF33CC"/>
              </a:buClr>
              <a:buFont typeface="Arial"/>
              <a:buChar char="•"/>
            </a:pPr>
            <a:endParaRPr sz="1632">
              <a:latin typeface="Arial"/>
              <a:cs typeface="Arial"/>
            </a:endParaRPr>
          </a:p>
          <a:p>
            <a:pPr marL="313781" marR="208441" indent="-302575">
              <a:buClr>
                <a:srgbClr val="FF33CC"/>
              </a:buClr>
              <a:buChar char="•"/>
              <a:tabLst>
                <a:tab pos="313221" algn="l"/>
                <a:tab pos="313781" algn="l"/>
              </a:tabLst>
            </a:pPr>
            <a:r>
              <a:rPr sz="1588" spc="-4" dirty="0">
                <a:latin typeface="Arial"/>
                <a:cs typeface="Arial"/>
              </a:rPr>
              <a:t>An </a:t>
            </a:r>
            <a:r>
              <a:rPr sz="1588" dirty="0">
                <a:latin typeface="Arial"/>
                <a:cs typeface="Arial"/>
              </a:rPr>
              <a:t>Object </a:t>
            </a:r>
            <a:r>
              <a:rPr sz="1588" spc="-4" dirty="0">
                <a:latin typeface="Arial"/>
                <a:cs typeface="Arial"/>
              </a:rPr>
              <a:t>contains bodies </a:t>
            </a:r>
            <a:r>
              <a:rPr sz="1588" dirty="0">
                <a:latin typeface="Arial"/>
                <a:cs typeface="Arial"/>
              </a:rPr>
              <a:t>of </a:t>
            </a:r>
            <a:r>
              <a:rPr sz="1588" spc="-4" dirty="0">
                <a:latin typeface="Arial"/>
                <a:cs typeface="Arial"/>
              </a:rPr>
              <a:t>code </a:t>
            </a:r>
            <a:r>
              <a:rPr sz="1588" dirty="0">
                <a:latin typeface="Arial"/>
                <a:cs typeface="Arial"/>
              </a:rPr>
              <a:t>that </a:t>
            </a:r>
            <a:r>
              <a:rPr sz="1588" spc="-4" dirty="0">
                <a:latin typeface="Arial"/>
                <a:cs typeface="Arial"/>
              </a:rPr>
              <a:t>operate on </a:t>
            </a:r>
            <a:r>
              <a:rPr sz="1588" dirty="0">
                <a:latin typeface="Arial"/>
                <a:cs typeface="Arial"/>
              </a:rPr>
              <a:t>the </a:t>
            </a:r>
            <a:r>
              <a:rPr sz="1588" spc="-4" dirty="0">
                <a:latin typeface="Arial"/>
                <a:cs typeface="Arial"/>
              </a:rPr>
              <a:t>object  These objects are called</a:t>
            </a:r>
            <a:r>
              <a:rPr sz="1588" spc="13" dirty="0">
                <a:latin typeface="Arial"/>
                <a:cs typeface="Arial"/>
              </a:rPr>
              <a:t> </a:t>
            </a:r>
            <a:r>
              <a:rPr sz="1588" dirty="0">
                <a:latin typeface="Arial"/>
                <a:cs typeface="Arial"/>
              </a:rPr>
              <a:t>methods.</a:t>
            </a:r>
            <a:endParaRPr sz="1588">
              <a:latin typeface="Arial"/>
              <a:cs typeface="Arial"/>
            </a:endParaRPr>
          </a:p>
          <a:p>
            <a:pPr marL="313781" marR="104220" indent="-302575">
              <a:spcBef>
                <a:spcPts val="966"/>
              </a:spcBef>
              <a:buClr>
                <a:srgbClr val="FF33CC"/>
              </a:buClr>
              <a:buChar char="•"/>
              <a:tabLst>
                <a:tab pos="313221" algn="l"/>
                <a:tab pos="313781" algn="l"/>
              </a:tabLst>
            </a:pPr>
            <a:r>
              <a:rPr sz="1588" dirty="0">
                <a:latin typeface="Arial"/>
                <a:cs typeface="Arial"/>
              </a:rPr>
              <a:t>Objects that </a:t>
            </a:r>
            <a:r>
              <a:rPr sz="1588" spc="-4" dirty="0">
                <a:latin typeface="Arial"/>
                <a:cs typeface="Arial"/>
              </a:rPr>
              <a:t>contains same </a:t>
            </a:r>
            <a:r>
              <a:rPr sz="1588" dirty="0">
                <a:latin typeface="Arial"/>
                <a:cs typeface="Arial"/>
              </a:rPr>
              <a:t>type of </a:t>
            </a:r>
            <a:r>
              <a:rPr sz="1588" spc="-4" dirty="0">
                <a:latin typeface="Arial"/>
                <a:cs typeface="Arial"/>
              </a:rPr>
              <a:t>values and same methods  grouped into</a:t>
            </a:r>
            <a:r>
              <a:rPr sz="1588" dirty="0">
                <a:latin typeface="Arial"/>
                <a:cs typeface="Arial"/>
              </a:rPr>
              <a:t> classes.</a:t>
            </a:r>
            <a:endParaRPr sz="1588">
              <a:latin typeface="Arial"/>
              <a:cs typeface="Arial"/>
            </a:endParaRPr>
          </a:p>
          <a:p>
            <a:pPr>
              <a:spcBef>
                <a:spcPts val="26"/>
              </a:spcBef>
              <a:buClr>
                <a:srgbClr val="FF33CC"/>
              </a:buClr>
              <a:buFont typeface="Arial"/>
              <a:buChar char="•"/>
            </a:pPr>
            <a:endParaRPr sz="2471">
              <a:latin typeface="Arial"/>
              <a:cs typeface="Arial"/>
            </a:endParaRPr>
          </a:p>
          <a:p>
            <a:pPr marL="313781" indent="-302575">
              <a:buClr>
                <a:srgbClr val="FF33CC"/>
              </a:buClr>
              <a:buChar char="•"/>
              <a:tabLst>
                <a:tab pos="313221" algn="l"/>
                <a:tab pos="313781" algn="l"/>
              </a:tabLst>
            </a:pPr>
            <a:r>
              <a:rPr sz="1588" dirty="0">
                <a:latin typeface="Arial"/>
                <a:cs typeface="Arial"/>
              </a:rPr>
              <a:t>A </a:t>
            </a:r>
            <a:r>
              <a:rPr sz="1588" spc="-4" dirty="0">
                <a:latin typeface="Arial"/>
                <a:cs typeface="Arial"/>
              </a:rPr>
              <a:t>class </a:t>
            </a:r>
            <a:r>
              <a:rPr sz="1588" dirty="0">
                <a:latin typeface="Arial"/>
                <a:cs typeface="Arial"/>
              </a:rPr>
              <a:t>may </a:t>
            </a:r>
            <a:r>
              <a:rPr sz="1588" spc="-4" dirty="0">
                <a:latin typeface="Arial"/>
                <a:cs typeface="Arial"/>
              </a:rPr>
              <a:t>be viewed as a </a:t>
            </a:r>
            <a:r>
              <a:rPr sz="1588" dirty="0">
                <a:latin typeface="Arial"/>
                <a:cs typeface="Arial"/>
              </a:rPr>
              <a:t>type </a:t>
            </a:r>
            <a:r>
              <a:rPr sz="1588" spc="-4" dirty="0">
                <a:latin typeface="Arial"/>
                <a:cs typeface="Arial"/>
              </a:rPr>
              <a:t>definition </a:t>
            </a:r>
            <a:r>
              <a:rPr sz="1588" dirty="0">
                <a:latin typeface="Arial"/>
                <a:cs typeface="Arial"/>
              </a:rPr>
              <a:t>for</a:t>
            </a:r>
            <a:r>
              <a:rPr sz="1588" spc="35" dirty="0">
                <a:latin typeface="Arial"/>
                <a:cs typeface="Arial"/>
              </a:rPr>
              <a:t> </a:t>
            </a:r>
            <a:r>
              <a:rPr sz="1588" dirty="0">
                <a:latin typeface="Arial"/>
                <a:cs typeface="Arial"/>
              </a:rPr>
              <a:t>objects.</a:t>
            </a:r>
            <a:endParaRPr sz="1588">
              <a:latin typeface="Arial"/>
              <a:cs typeface="Arial"/>
            </a:endParaRPr>
          </a:p>
          <a:p>
            <a:pPr>
              <a:spcBef>
                <a:spcPts val="18"/>
              </a:spcBef>
              <a:buClr>
                <a:srgbClr val="FF33CC"/>
              </a:buClr>
              <a:buFont typeface="Arial"/>
              <a:buChar char="•"/>
            </a:pPr>
            <a:endParaRPr sz="1632">
              <a:latin typeface="Arial"/>
              <a:cs typeface="Arial"/>
            </a:endParaRPr>
          </a:p>
          <a:p>
            <a:pPr marL="313781" marR="462828" indent="-302575">
              <a:lnSpc>
                <a:spcPct val="100600"/>
              </a:lnSpc>
              <a:buClr>
                <a:srgbClr val="FF33CC"/>
              </a:buClr>
              <a:buChar char="•"/>
              <a:tabLst>
                <a:tab pos="313221" algn="l"/>
                <a:tab pos="313781" algn="l"/>
                <a:tab pos="3385478" algn="l"/>
                <a:tab pos="5291700" algn="l"/>
              </a:tabLst>
            </a:pPr>
            <a:r>
              <a:rPr sz="1588" dirty="0">
                <a:latin typeface="Arial"/>
                <a:cs typeface="Arial"/>
              </a:rPr>
              <a:t>The </a:t>
            </a:r>
            <a:r>
              <a:rPr sz="1588" spc="-4" dirty="0">
                <a:latin typeface="Arial"/>
                <a:cs typeface="Arial"/>
              </a:rPr>
              <a:t>only way in which one object	can access the data	of  another object is invoking method </a:t>
            </a:r>
            <a:r>
              <a:rPr sz="1588" dirty="0">
                <a:latin typeface="Arial"/>
                <a:cs typeface="Arial"/>
              </a:rPr>
              <a:t>of that</a:t>
            </a:r>
            <a:r>
              <a:rPr sz="1588" spc="40" dirty="0">
                <a:latin typeface="Arial"/>
                <a:cs typeface="Arial"/>
              </a:rPr>
              <a:t> </a:t>
            </a:r>
            <a:r>
              <a:rPr sz="1588" spc="-4" dirty="0">
                <a:latin typeface="Arial"/>
                <a:cs typeface="Arial"/>
              </a:rPr>
              <a:t>object</a:t>
            </a:r>
            <a:endParaRPr sz="1588">
              <a:latin typeface="Arial"/>
              <a:cs typeface="Arial"/>
            </a:endParaRPr>
          </a:p>
        </p:txBody>
      </p:sp>
      <p:sp>
        <p:nvSpPr>
          <p:cNvPr id="4" name="object 4"/>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7378205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59206" y="795618"/>
            <a:ext cx="3643032" cy="2489494"/>
          </a:xfrm>
          <a:prstGeom prst="rect">
            <a:avLst/>
          </a:prstGeom>
        </p:spPr>
        <p:txBody>
          <a:bodyPr vert="horz" wrap="square" lIns="0" tIns="11206" rIns="0" bIns="0" rtlCol="0">
            <a:spAutoFit/>
          </a:bodyPr>
          <a:lstStyle/>
          <a:p>
            <a:pPr marL="11206">
              <a:spcBef>
                <a:spcPts val="88"/>
              </a:spcBef>
            </a:pPr>
            <a:r>
              <a:rPr sz="1588" spc="-4" dirty="0">
                <a:solidFill>
                  <a:srgbClr val="FF33CC"/>
                </a:solidFill>
                <a:latin typeface="Arial"/>
                <a:cs typeface="Arial"/>
              </a:rPr>
              <a:t>Advantages:</a:t>
            </a:r>
            <a:endParaRPr sz="1588">
              <a:latin typeface="Arial"/>
              <a:cs typeface="Arial"/>
            </a:endParaRPr>
          </a:p>
          <a:p>
            <a:pPr>
              <a:spcBef>
                <a:spcPts val="44"/>
              </a:spcBef>
            </a:pPr>
            <a:endParaRPr sz="1632">
              <a:latin typeface="Arial"/>
              <a:cs typeface="Arial"/>
            </a:endParaRPr>
          </a:p>
          <a:p>
            <a:pPr marL="11206"/>
            <a:r>
              <a:rPr sz="1412" spc="-4" dirty="0">
                <a:latin typeface="Arial"/>
                <a:cs typeface="Arial"/>
              </a:rPr>
              <a:t>•Application require less</a:t>
            </a:r>
            <a:r>
              <a:rPr sz="1412" spc="-9" dirty="0">
                <a:latin typeface="Arial"/>
                <a:cs typeface="Arial"/>
              </a:rPr>
              <a:t> </a:t>
            </a:r>
            <a:r>
              <a:rPr sz="1412" spc="-4" dirty="0">
                <a:latin typeface="Arial"/>
                <a:cs typeface="Arial"/>
              </a:rPr>
              <a:t>code</a:t>
            </a:r>
            <a:endParaRPr sz="1412">
              <a:latin typeface="Arial"/>
              <a:cs typeface="Arial"/>
            </a:endParaRPr>
          </a:p>
          <a:p>
            <a:pPr>
              <a:spcBef>
                <a:spcPts val="31"/>
              </a:spcBef>
            </a:pPr>
            <a:endParaRPr sz="1456">
              <a:latin typeface="Arial"/>
              <a:cs typeface="Arial"/>
            </a:endParaRPr>
          </a:p>
          <a:p>
            <a:pPr marL="11206"/>
            <a:r>
              <a:rPr sz="1412" spc="-4" dirty="0">
                <a:latin typeface="Arial"/>
                <a:cs typeface="Arial"/>
              </a:rPr>
              <a:t>•Application use more </a:t>
            </a:r>
            <a:r>
              <a:rPr sz="1412" dirty="0">
                <a:latin typeface="Arial"/>
                <a:cs typeface="Arial"/>
              </a:rPr>
              <a:t>natural </a:t>
            </a:r>
            <a:r>
              <a:rPr sz="1412" spc="-4" dirty="0">
                <a:latin typeface="Arial"/>
                <a:cs typeface="Arial"/>
              </a:rPr>
              <a:t>data</a:t>
            </a:r>
            <a:r>
              <a:rPr sz="1412" spc="-9" dirty="0">
                <a:latin typeface="Arial"/>
                <a:cs typeface="Arial"/>
              </a:rPr>
              <a:t> </a:t>
            </a:r>
            <a:r>
              <a:rPr sz="1412" spc="-4" dirty="0">
                <a:latin typeface="Arial"/>
                <a:cs typeface="Arial"/>
              </a:rPr>
              <a:t>model</a:t>
            </a:r>
            <a:endParaRPr sz="1412">
              <a:latin typeface="Arial"/>
              <a:cs typeface="Arial"/>
            </a:endParaRPr>
          </a:p>
          <a:p>
            <a:pPr>
              <a:spcBef>
                <a:spcPts val="31"/>
              </a:spcBef>
            </a:pPr>
            <a:endParaRPr sz="1456">
              <a:latin typeface="Arial"/>
              <a:cs typeface="Arial"/>
            </a:endParaRPr>
          </a:p>
          <a:p>
            <a:pPr marL="11206"/>
            <a:r>
              <a:rPr sz="1412" spc="-4" dirty="0">
                <a:latin typeface="Arial"/>
                <a:cs typeface="Arial"/>
              </a:rPr>
              <a:t>•Code is easier to</a:t>
            </a:r>
            <a:r>
              <a:rPr sz="1412" spc="-9" dirty="0">
                <a:latin typeface="Arial"/>
                <a:cs typeface="Arial"/>
              </a:rPr>
              <a:t> </a:t>
            </a:r>
            <a:r>
              <a:rPr sz="1412" dirty="0">
                <a:latin typeface="Arial"/>
                <a:cs typeface="Arial"/>
              </a:rPr>
              <a:t>maintain</a:t>
            </a:r>
            <a:endParaRPr sz="1412">
              <a:latin typeface="Arial"/>
              <a:cs typeface="Arial"/>
            </a:endParaRPr>
          </a:p>
          <a:p>
            <a:pPr>
              <a:spcBef>
                <a:spcPts val="31"/>
              </a:spcBef>
            </a:pPr>
            <a:endParaRPr sz="1456">
              <a:latin typeface="Arial"/>
              <a:cs typeface="Arial"/>
            </a:endParaRPr>
          </a:p>
          <a:p>
            <a:pPr marL="11206"/>
            <a:r>
              <a:rPr sz="1412" spc="-4" dirty="0">
                <a:latin typeface="Arial"/>
                <a:cs typeface="Arial"/>
              </a:rPr>
              <a:t>•Data access </a:t>
            </a:r>
            <a:r>
              <a:rPr sz="1412" spc="13" dirty="0">
                <a:latin typeface="Arial"/>
                <a:cs typeface="Arial"/>
              </a:rPr>
              <a:t>is</a:t>
            </a:r>
            <a:r>
              <a:rPr sz="1412" spc="-9" dirty="0">
                <a:latin typeface="Arial"/>
                <a:cs typeface="Arial"/>
              </a:rPr>
              <a:t> </a:t>
            </a:r>
            <a:r>
              <a:rPr sz="1412" spc="-4" dirty="0">
                <a:latin typeface="Arial"/>
                <a:cs typeface="Arial"/>
              </a:rPr>
              <a:t>easy</a:t>
            </a:r>
            <a:endParaRPr sz="1412">
              <a:latin typeface="Arial"/>
              <a:cs typeface="Arial"/>
            </a:endParaRPr>
          </a:p>
          <a:p>
            <a:pPr>
              <a:spcBef>
                <a:spcPts val="18"/>
              </a:spcBef>
            </a:pPr>
            <a:endParaRPr sz="1456">
              <a:latin typeface="Arial"/>
              <a:cs typeface="Arial"/>
            </a:endParaRPr>
          </a:p>
          <a:p>
            <a:pPr marL="11206">
              <a:spcBef>
                <a:spcPts val="4"/>
              </a:spcBef>
            </a:pPr>
            <a:r>
              <a:rPr sz="1412" spc="-4" dirty="0">
                <a:latin typeface="Arial"/>
                <a:cs typeface="Arial"/>
              </a:rPr>
              <a:t>•Object oriented </a:t>
            </a:r>
            <a:r>
              <a:rPr sz="1412" dirty="0">
                <a:latin typeface="Arial"/>
                <a:cs typeface="Arial"/>
              </a:rPr>
              <a:t>features </a:t>
            </a:r>
            <a:r>
              <a:rPr sz="1412" spc="-4" dirty="0">
                <a:latin typeface="Arial"/>
                <a:cs typeface="Arial"/>
              </a:rPr>
              <a:t>improve</a:t>
            </a:r>
            <a:r>
              <a:rPr sz="1412" spc="53" dirty="0">
                <a:latin typeface="Arial"/>
                <a:cs typeface="Arial"/>
              </a:rPr>
              <a:t> </a:t>
            </a:r>
            <a:r>
              <a:rPr sz="1412" spc="-4" dirty="0">
                <a:latin typeface="Arial"/>
                <a:cs typeface="Arial"/>
              </a:rPr>
              <a:t>productivity</a:t>
            </a:r>
            <a:endParaRPr sz="1412">
              <a:latin typeface="Arial"/>
              <a:cs typeface="Arial"/>
            </a:endParaRPr>
          </a:p>
        </p:txBody>
      </p:sp>
      <p:sp>
        <p:nvSpPr>
          <p:cNvPr id="3" name="object 3"/>
          <p:cNvSpPr/>
          <p:nvPr/>
        </p:nvSpPr>
        <p:spPr>
          <a:xfrm>
            <a:off x="2061883" y="403411"/>
            <a:ext cx="8068235" cy="6051176"/>
          </a:xfrm>
          <a:custGeom>
            <a:avLst/>
            <a:gdLst/>
            <a:ahLst/>
            <a:cxnLst/>
            <a:rect l="l" t="t" r="r" b="b"/>
            <a:pathLst>
              <a:path w="9144000" h="6858000">
                <a:moveTo>
                  <a:pt x="9144000" y="0"/>
                </a:moveTo>
                <a:lnTo>
                  <a:pt x="9131808" y="0"/>
                </a:lnTo>
                <a:lnTo>
                  <a:pt x="9131808" y="12192"/>
                </a:lnTo>
                <a:lnTo>
                  <a:pt x="9131808" y="12700"/>
                </a:lnTo>
                <a:lnTo>
                  <a:pt x="9131808" y="6845300"/>
                </a:lnTo>
                <a:lnTo>
                  <a:pt x="9131808" y="6845808"/>
                </a:lnTo>
                <a:lnTo>
                  <a:pt x="12192" y="6845808"/>
                </a:lnTo>
                <a:lnTo>
                  <a:pt x="6096" y="6845808"/>
                </a:lnTo>
                <a:lnTo>
                  <a:pt x="6096" y="6845300"/>
                </a:lnTo>
                <a:lnTo>
                  <a:pt x="12192" y="6845300"/>
                </a:lnTo>
                <a:lnTo>
                  <a:pt x="12192" y="12700"/>
                </a:lnTo>
                <a:lnTo>
                  <a:pt x="6096" y="12700"/>
                </a:lnTo>
                <a:lnTo>
                  <a:pt x="6096" y="12192"/>
                </a:lnTo>
                <a:lnTo>
                  <a:pt x="12192" y="12192"/>
                </a:lnTo>
                <a:lnTo>
                  <a:pt x="9131808" y="12192"/>
                </a:lnTo>
                <a:lnTo>
                  <a:pt x="9131808" y="0"/>
                </a:lnTo>
                <a:lnTo>
                  <a:pt x="0" y="0"/>
                </a:lnTo>
                <a:lnTo>
                  <a:pt x="0" y="6350"/>
                </a:lnTo>
                <a:lnTo>
                  <a:pt x="0" y="12700"/>
                </a:lnTo>
                <a:lnTo>
                  <a:pt x="0" y="6845300"/>
                </a:lnTo>
                <a:lnTo>
                  <a:pt x="0" y="6851650"/>
                </a:lnTo>
                <a:lnTo>
                  <a:pt x="0" y="6858000"/>
                </a:lnTo>
                <a:lnTo>
                  <a:pt x="9144000" y="6858000"/>
                </a:lnTo>
                <a:lnTo>
                  <a:pt x="9144000" y="6851904"/>
                </a:lnTo>
                <a:lnTo>
                  <a:pt x="9144000" y="6851650"/>
                </a:lnTo>
                <a:lnTo>
                  <a:pt x="9144000" y="6845808"/>
                </a:lnTo>
                <a:lnTo>
                  <a:pt x="9137904" y="6845808"/>
                </a:lnTo>
                <a:lnTo>
                  <a:pt x="9137904" y="6845300"/>
                </a:lnTo>
                <a:lnTo>
                  <a:pt x="9144000" y="6845300"/>
                </a:lnTo>
                <a:lnTo>
                  <a:pt x="9144000" y="12700"/>
                </a:lnTo>
                <a:lnTo>
                  <a:pt x="9137904" y="12700"/>
                </a:lnTo>
                <a:lnTo>
                  <a:pt x="9137904" y="12192"/>
                </a:lnTo>
                <a:lnTo>
                  <a:pt x="9144000" y="12192"/>
                </a:lnTo>
                <a:lnTo>
                  <a:pt x="9144000" y="6350"/>
                </a:lnTo>
                <a:lnTo>
                  <a:pt x="9144000" y="6108"/>
                </a:lnTo>
                <a:lnTo>
                  <a:pt x="9144000" y="0"/>
                </a:lnTo>
                <a:close/>
              </a:path>
            </a:pathLst>
          </a:custGeom>
          <a:solidFill>
            <a:srgbClr val="000000"/>
          </a:solidFill>
        </p:spPr>
        <p:txBody>
          <a:bodyPr wrap="square" lIns="0" tIns="0" rIns="0" bIns="0" rtlCol="0"/>
          <a:lstStyle/>
          <a:p>
            <a:endParaRPr sz="1588"/>
          </a:p>
        </p:txBody>
      </p:sp>
    </p:spTree>
    <p:extLst>
      <p:ext uri="{BB962C8B-B14F-4D97-AF65-F5344CB8AC3E}">
        <p14:creationId xmlns:p14="http://schemas.microsoft.com/office/powerpoint/2010/main" val="1591355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4464</Words>
  <Application>Microsoft Office PowerPoint</Application>
  <PresentationFormat>Widescreen</PresentationFormat>
  <Paragraphs>398</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Calibri Light</vt:lpstr>
      <vt:lpstr>Times New Roman</vt:lpstr>
      <vt:lpstr>Webdings</vt:lpstr>
      <vt:lpstr>Wingdings</vt:lpstr>
      <vt:lpstr>Office Theme</vt:lpstr>
      <vt:lpstr>DBMS</vt:lpstr>
      <vt:lpstr>What is Database </vt:lpstr>
      <vt:lpstr>Database Management System </vt:lpstr>
      <vt:lpstr>DBMS allows users the following tasks:</vt:lpstr>
      <vt:lpstr>Characteristics of DBMS </vt:lpstr>
      <vt:lpstr>Advantages of DBMS </vt:lpstr>
      <vt:lpstr>Disadvantages of DBMS </vt:lpstr>
      <vt:lpstr>PowerPoint Presentation</vt:lpstr>
      <vt:lpstr>Drawbacks of File processing system:</vt:lpstr>
      <vt:lpstr>PowerPoint Presentation</vt:lpstr>
      <vt:lpstr>DBMS vs. File System </vt:lpstr>
      <vt:lpstr>DBMS Architecture </vt:lpstr>
      <vt:lpstr>Types of DBMS Architecture </vt:lpstr>
      <vt:lpstr>1-Tier Architecture </vt:lpstr>
      <vt:lpstr>2-Tier Architecture </vt:lpstr>
      <vt:lpstr>3-Tier Architecture </vt:lpstr>
      <vt:lpstr>Data Abstraction</vt:lpstr>
      <vt:lpstr>PowerPoint Presentation</vt:lpstr>
      <vt:lpstr>Three schema Architecture </vt:lpstr>
      <vt:lpstr>The three-schema architecture is as follows:</vt:lpstr>
      <vt:lpstr>In the above diagram:</vt:lpstr>
      <vt:lpstr>1. Internal Level </vt:lpstr>
      <vt:lpstr>2. Conceptual Level </vt:lpstr>
      <vt:lpstr>3. External Level </vt:lpstr>
      <vt:lpstr>Data Independence</vt:lpstr>
      <vt:lpstr>Instances and Schemas</vt:lpstr>
      <vt:lpstr>PowerPoint Presentation</vt:lpstr>
      <vt:lpstr>PowerPoint Presentation</vt:lpstr>
      <vt:lpstr>Database Users </vt:lpstr>
      <vt:lpstr>PowerPoint Presentation</vt:lpstr>
      <vt:lpstr>Data model Schema and Instance </vt:lpstr>
      <vt:lpstr>PowerPoint Presentation</vt:lpstr>
      <vt:lpstr>PowerPoint Presentation</vt:lpstr>
      <vt:lpstr>Data Independence </vt:lpstr>
      <vt:lpstr>1. Logical Data Independence </vt:lpstr>
      <vt:lpstr>2. Physical Data Independence</vt:lpstr>
      <vt:lpstr>Database Language </vt:lpstr>
      <vt:lpstr>1. Data Definition Language </vt:lpstr>
      <vt:lpstr>PowerPoint Presentation</vt:lpstr>
      <vt:lpstr>2. Data Manipulation Language </vt:lpstr>
      <vt:lpstr>3. Data Control Language </vt:lpstr>
      <vt:lpstr>4. Transaction Control Language </vt:lpstr>
      <vt:lpstr>Database Applications  </vt:lpstr>
      <vt:lpstr>Data Models  </vt:lpstr>
      <vt:lpstr>Entity-Relationship model  </vt:lpstr>
      <vt:lpstr>Data Models</vt:lpstr>
      <vt:lpstr>PowerPoint Presentation</vt:lpstr>
      <vt:lpstr>PowerPoint Presentation</vt:lpstr>
      <vt:lpstr>Relational Model-</vt:lpstr>
      <vt:lpstr>PowerPoint Presentation</vt:lpstr>
      <vt:lpstr>PowerPoint Presentation</vt:lpstr>
      <vt:lpstr>PowerPoint Presentation</vt:lpstr>
      <vt:lpstr>Hierarchical Model-</vt:lpstr>
      <vt:lpstr>PowerPoint Presentation</vt:lpstr>
      <vt:lpstr>PowerPoint Presentation</vt:lpstr>
      <vt:lpstr>The Object Oriented Model-</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dc:title>
  <dc:creator>Sachin Bhandari</dc:creator>
  <cp:lastModifiedBy>learn</cp:lastModifiedBy>
  <cp:revision>11</cp:revision>
  <dcterms:created xsi:type="dcterms:W3CDTF">2019-11-26T08:01:30Z</dcterms:created>
  <dcterms:modified xsi:type="dcterms:W3CDTF">2023-12-14T06:32:50Z</dcterms:modified>
</cp:coreProperties>
</file>